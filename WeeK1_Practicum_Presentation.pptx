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av" ContentType="audio/x-wav"/>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56" r:id="rId2"/>
    <p:sldId id="276" r:id="rId3"/>
    <p:sldId id="275" r:id="rId4"/>
    <p:sldId id="277" r:id="rId5"/>
    <p:sldId id="278" r:id="rId6"/>
    <p:sldId id="279" r:id="rId7"/>
    <p:sldId id="271" r:id="rId8"/>
    <p:sldId id="273" r:id="rId9"/>
    <p:sldId id="274" r:id="rId10"/>
    <p:sldId id="281" r:id="rId11"/>
    <p:sldId id="280" r:id="rId12"/>
    <p:sldId id="282" r:id="rId13"/>
    <p:sldId id="283" r:id="rId14"/>
    <p:sldId id="284" r:id="rId15"/>
    <p:sldId id="2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999"/>
    <p:restoredTop sz="81317"/>
  </p:normalViewPr>
  <p:slideViewPr>
    <p:cSldViewPr snapToGrid="0">
      <p:cViewPr varScale="1">
        <p:scale>
          <a:sx n="97" d="100"/>
          <a:sy n="97" d="100"/>
        </p:scale>
        <p:origin x="4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Missing Values by Column</a:t>
            </a:r>
          </a:p>
        </c:rich>
      </c:tx>
      <c:overlay val="0"/>
    </c:title>
    <c:autoTitleDeleted val="0"/>
    <c:plotArea>
      <c:layout/>
      <c:barChart>
        <c:barDir val="col"/>
        <c:grouping val="clustered"/>
        <c:varyColors val="0"/>
        <c:ser>
          <c:idx val="0"/>
          <c:order val="0"/>
          <c:tx>
            <c:strRef>
              <c:f>Sheet1!$B$1</c:f>
              <c:strCache>
                <c:ptCount val="1"/>
                <c:pt idx="0">
                  <c:v>Missing Count</c:v>
                </c:pt>
              </c:strCache>
            </c:strRef>
          </c:tx>
          <c:spPr>
            <a:solidFill>
              <a:srgbClr val="2557A7"/>
            </a:solidFill>
            <a:effectLst/>
          </c:spPr>
          <c:invertIfNegative val="0"/>
          <c:dLbls>
            <c:numFmt formatCode="#,##0" sourceLinked="0"/>
            <c:spPr>
              <a:noFill/>
              <a:ln>
                <a:noFill/>
              </a:ln>
              <a:effectLst/>
            </c:spPr>
            <c:txPr>
              <a:bodyPr/>
              <a:lstStyle/>
              <a:p>
                <a:pPr>
                  <a:defRPr sz="1200" b="0" i="0" u="none" strike="noStrike">
                    <a:solidFill>
                      <a:srgbClr val="12274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Gender</c:v>
                </c:pt>
                <c:pt idx="1">
                  <c:v>Married</c:v>
                </c:pt>
                <c:pt idx="2">
                  <c:v>Dependents</c:v>
                </c:pt>
                <c:pt idx="3">
                  <c:v>Education</c:v>
                </c:pt>
                <c:pt idx="4">
                  <c:v>Self_Employed</c:v>
                </c:pt>
                <c:pt idx="5">
                  <c:v>ApplicantIncome</c:v>
                </c:pt>
                <c:pt idx="6">
                  <c:v>CoapplicantIncome</c:v>
                </c:pt>
                <c:pt idx="7">
                  <c:v>LoanAmount</c:v>
                </c:pt>
                <c:pt idx="8">
                  <c:v>Loan_Amount_Term</c:v>
                </c:pt>
                <c:pt idx="9">
                  <c:v>Credit_History</c:v>
                </c:pt>
                <c:pt idx="10">
                  <c:v>Property_Area</c:v>
                </c:pt>
                <c:pt idx="11">
                  <c:v>Loan_Status</c:v>
                </c:pt>
              </c:strCache>
            </c:strRef>
          </c:cat>
          <c:val>
            <c:numRef>
              <c:f>Sheet1!$B$2:$B$13</c:f>
              <c:numCache>
                <c:formatCode>General</c:formatCode>
                <c:ptCount val="12"/>
                <c:pt idx="0">
                  <c:v>13</c:v>
                </c:pt>
                <c:pt idx="1">
                  <c:v>3</c:v>
                </c:pt>
                <c:pt idx="2">
                  <c:v>15</c:v>
                </c:pt>
                <c:pt idx="3">
                  <c:v>0</c:v>
                </c:pt>
                <c:pt idx="4">
                  <c:v>32</c:v>
                </c:pt>
                <c:pt idx="5">
                  <c:v>0</c:v>
                </c:pt>
                <c:pt idx="6">
                  <c:v>0</c:v>
                </c:pt>
                <c:pt idx="7">
                  <c:v>22</c:v>
                </c:pt>
                <c:pt idx="8">
                  <c:v>14</c:v>
                </c:pt>
                <c:pt idx="9">
                  <c:v>50</c:v>
                </c:pt>
                <c:pt idx="10">
                  <c:v>0</c:v>
                </c:pt>
                <c:pt idx="11">
                  <c:v>0</c:v>
                </c:pt>
              </c:numCache>
            </c:numRef>
          </c:val>
          <c:extLst>
            <c:ext xmlns:c16="http://schemas.microsoft.com/office/drawing/2014/chart" uri="{C3380CC4-5D6E-409C-BE32-E72D297353CC}">
              <c16:uniqueId val="{00000000-B767-E647-84BF-D4B7F1F1439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F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6E4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F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2F6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Loan Status</c:v>
                </c:pt>
              </c:strCache>
            </c:strRef>
          </c:tx>
          <c:spPr>
            <a:solidFill>
              <a:schemeClr val="accent1"/>
            </a:solidFill>
            <a:ln w="9525" cap="flat">
              <a:solidFill>
                <a:srgbClr val="F9F9F9"/>
              </a:solidFill>
              <a:prstDash val="solid"/>
              <a:round/>
            </a:ln>
            <a:effectLst/>
          </c:spPr>
          <c:dPt>
            <c:idx val="0"/>
            <c:bubble3D val="0"/>
            <c:spPr>
              <a:solidFill>
                <a:srgbClr val="0F7B8C"/>
              </a:solidFill>
              <a:effectLst/>
            </c:spPr>
            <c:extLst>
              <c:ext xmlns:c16="http://schemas.microsoft.com/office/drawing/2014/chart" uri="{C3380CC4-5D6E-409C-BE32-E72D297353CC}">
                <c16:uniqueId val="{00000001-B4C3-3E48-99F8-738A22699FC4}"/>
              </c:ext>
            </c:extLst>
          </c:dPt>
          <c:dPt>
            <c:idx val="1"/>
            <c:bubble3D val="0"/>
            <c:spPr>
              <a:solidFill>
                <a:srgbClr val="F5A623"/>
              </a:solidFill>
              <a:effectLst/>
            </c:spPr>
            <c:extLst>
              <c:ext xmlns:c16="http://schemas.microsoft.com/office/drawing/2014/chart" uri="{C3380CC4-5D6E-409C-BE32-E72D297353CC}">
                <c16:uniqueId val="{00000003-B4C3-3E48-99F8-738A22699FC4}"/>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B4C3-3E48-99F8-738A22699FC4}"/>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B4C3-3E48-99F8-738A22699FC4}"/>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Approved (Y)</c:v>
                </c:pt>
                <c:pt idx="1">
                  <c:v>Rejected (N)</c:v>
                </c:pt>
              </c:strCache>
            </c:strRef>
          </c:cat>
          <c:val>
            <c:numRef>
              <c:f>Sheet1!$B$2:$B$3</c:f>
              <c:numCache>
                <c:formatCode>General</c:formatCode>
                <c:ptCount val="2"/>
                <c:pt idx="0">
                  <c:v>422</c:v>
                </c:pt>
                <c:pt idx="1">
                  <c:v>176</c:v>
                </c:pt>
              </c:numCache>
            </c:numRef>
          </c:val>
          <c:extLst>
            <c:ext xmlns:c16="http://schemas.microsoft.com/office/drawing/2014/chart" uri="{C3380CC4-5D6E-409C-BE32-E72D297353CC}">
              <c16:uniqueId val="{00000004-B4C3-3E48-99F8-738A22699FC4}"/>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legend>
    <c:plotVisOnly val="1"/>
    <c:dispBlanksAs val="span"/>
    <c:showDLblsOverMax val="1"/>
  </c:chart>
  <c:spPr>
    <a:solidFill>
      <a:srgbClr val="1B3A6B"/>
    </a:solidFill>
    <a:ln>
      <a:noFill/>
    </a:ln>
    <a:effectLst/>
  </c:spPr>
  <c:externalData r:id="rId1">
    <c:autoUpdate val="0"/>
  </c:externalData>
</c:chartSpace>
</file>

<file path=ppt/diagrams/_rels/data1.xml.rels><?xml version="1.0" encoding="UTF-8" standalone="yes"?>
<Relationships xmlns="http://schemas.openxmlformats.org/package/2006/relationships"><Relationship Id="rId3" Type="http://schemas.openxmlformats.org/officeDocument/2006/relationships/hyperlink" Target="https://finreglab.org/" TargetMode="External"/><Relationship Id="rId2" Type="http://schemas.openxmlformats.org/officeDocument/2006/relationships/hyperlink" Target="https://doi.org/10.1016/j.dsm.2023.04.003" TargetMode="External"/><Relationship Id="rId1" Type="http://schemas.openxmlformats.org/officeDocument/2006/relationships/hyperlink" Target="https://doi.org/10.1016/j.ejor.2021.06.053" TargetMode="External"/><Relationship Id="rId5" Type="http://schemas.openxmlformats.org/officeDocument/2006/relationships/hyperlink" Target="https://proceedings.neurips.cc/paper/2017/hash/8a20a8621978632d76c43dfd28b67767-Abstract.html" TargetMode="External"/><Relationship Id="rId4" Type="http://schemas.openxmlformats.org/officeDocument/2006/relationships/hyperlink" Target="https://consumer.ftc.gov/articles/understanding-your-credit" TargetMode="External"/></Relationships>
</file>

<file path=ppt/diagrams/_rels/drawing1.xml.rels><?xml version="1.0" encoding="UTF-8" standalone="yes"?>
<Relationships xmlns="http://schemas.openxmlformats.org/package/2006/relationships"><Relationship Id="rId3" Type="http://schemas.openxmlformats.org/officeDocument/2006/relationships/hyperlink" Target="https://finreglab.org/" TargetMode="External"/><Relationship Id="rId2" Type="http://schemas.openxmlformats.org/officeDocument/2006/relationships/hyperlink" Target="https://doi.org/10.1016/j.dsm.2023.04.003" TargetMode="External"/><Relationship Id="rId1" Type="http://schemas.openxmlformats.org/officeDocument/2006/relationships/hyperlink" Target="https://doi.org/10.1016/j.ejor.2021.06.053" TargetMode="External"/><Relationship Id="rId5" Type="http://schemas.openxmlformats.org/officeDocument/2006/relationships/hyperlink" Target="https://proceedings.neurips.cc/paper/2017/hash/8a20a8621978632d76c43dfd28b67767-Abstract.html" TargetMode="External"/><Relationship Id="rId4" Type="http://schemas.openxmlformats.org/officeDocument/2006/relationships/hyperlink" Target="https://consumer.ftc.gov/articles/understanding-your-credit"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8D5C14-1C2C-4EF0-9471-7F58DAE44DF7}"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721193FD-3254-4E18-861C-81FDC026185A}">
      <dgm:prSet/>
      <dgm:spPr/>
      <dgm:t>
        <a:bodyPr/>
        <a:lstStyle/>
        <a:p>
          <a:r>
            <a:rPr lang="en-US"/>
            <a:t>Dumitrescu, E., Hué, S., Hurlin, C., &amp; Tokpavi, S. (2022). Machine learning for credit scoring: Improving logistic regression with non-linear decision-tree effects.</a:t>
          </a:r>
          <a:r>
            <a:rPr lang="en-US" i="1"/>
            <a:t> European Journal of Operational Research, 297(3), 1178–1192.  |  </a:t>
          </a:r>
          <a:r>
            <a:rPr lang="en-US" i="1">
              <a:hlinkClick xmlns:r="http://schemas.openxmlformats.org/officeDocument/2006/relationships" r:id="rId1"/>
            </a:rPr>
            <a:t>https://doi.org/10.1016/j.ejor.2021.06.053</a:t>
          </a:r>
          <a:endParaRPr lang="en-US"/>
        </a:p>
      </dgm:t>
    </dgm:pt>
    <dgm:pt modelId="{141872C8-1AAC-4DDE-82E5-59AFAF93CE2B}" type="parTrans" cxnId="{432626F6-C94E-49D7-A4D4-86613FDD61C0}">
      <dgm:prSet/>
      <dgm:spPr/>
      <dgm:t>
        <a:bodyPr/>
        <a:lstStyle/>
        <a:p>
          <a:endParaRPr lang="en-US"/>
        </a:p>
      </dgm:t>
    </dgm:pt>
    <dgm:pt modelId="{0F48A3AE-5D91-4226-95AC-5BBA9553F340}" type="sibTrans" cxnId="{432626F6-C94E-49D7-A4D4-86613FDD61C0}">
      <dgm:prSet/>
      <dgm:spPr/>
      <dgm:t>
        <a:bodyPr/>
        <a:lstStyle/>
        <a:p>
          <a:endParaRPr lang="en-US"/>
        </a:p>
      </dgm:t>
    </dgm:pt>
    <dgm:pt modelId="{9C3A6313-6451-4E60-BD14-CE7A48480CEC}">
      <dgm:prSet/>
      <dgm:spPr/>
      <dgm:t>
        <a:bodyPr/>
        <a:lstStyle/>
        <a:p>
          <a:r>
            <a:rPr lang="en-US"/>
            <a:t>Zhu, X., Chu, Q., Song, X., Hu, P., &amp; Peng, L. (2023). Explainable prediction of loan default based on machine learning models. </a:t>
          </a:r>
          <a:r>
            <a:rPr lang="en-US" i="1"/>
            <a:t>Data Science and Management, 6(3), 123–133.  |  </a:t>
          </a:r>
          <a:r>
            <a:rPr lang="en-US" i="1">
              <a:hlinkClick xmlns:r="http://schemas.openxmlformats.org/officeDocument/2006/relationships" r:id="rId2"/>
            </a:rPr>
            <a:t>https://doi.org/10.1016/j.dsm.2023.04.003</a:t>
          </a:r>
          <a:endParaRPr lang="en-US"/>
        </a:p>
      </dgm:t>
    </dgm:pt>
    <dgm:pt modelId="{1022CF01-E08A-4B5B-9AD4-6AF2A644A6A8}" type="parTrans" cxnId="{E4D484D6-5F4A-4514-AC5A-CCA7E36B522A}">
      <dgm:prSet/>
      <dgm:spPr/>
      <dgm:t>
        <a:bodyPr/>
        <a:lstStyle/>
        <a:p>
          <a:endParaRPr lang="en-US"/>
        </a:p>
      </dgm:t>
    </dgm:pt>
    <dgm:pt modelId="{906B9D99-82AE-4D06-A83D-CDBC691B68E3}" type="sibTrans" cxnId="{E4D484D6-5F4A-4514-AC5A-CCA7E36B522A}">
      <dgm:prSet/>
      <dgm:spPr/>
      <dgm:t>
        <a:bodyPr/>
        <a:lstStyle/>
        <a:p>
          <a:endParaRPr lang="en-US"/>
        </a:p>
      </dgm:t>
    </dgm:pt>
    <dgm:pt modelId="{09B65229-2AF6-4BC2-9E4C-34649AC15AC5}">
      <dgm:prSet/>
      <dgm:spPr/>
      <dgm:t>
        <a:bodyPr/>
        <a:lstStyle/>
        <a:p>
          <a:r>
            <a:rPr lang="en-US"/>
            <a:t>FinRegLab. (2023). Machine learning explainability and fairness: Insights from consumer lending. </a:t>
          </a:r>
          <a:r>
            <a:rPr lang="en-US" i="1"/>
            <a:t>FinRegLab Whitepaper.  |  </a:t>
          </a:r>
          <a:r>
            <a:rPr lang="en-US" i="1">
              <a:hlinkClick xmlns:r="http://schemas.openxmlformats.org/officeDocument/2006/relationships" r:id="rId3"/>
            </a:rPr>
            <a:t>https://finreglab.org</a:t>
          </a:r>
          <a:endParaRPr lang="en-US"/>
        </a:p>
      </dgm:t>
    </dgm:pt>
    <dgm:pt modelId="{2AECE2A0-52F3-4B2E-AB2E-BCB0433C8BBB}" type="parTrans" cxnId="{87B0C2C4-25F2-4AFF-98A2-BEEFEC45D381}">
      <dgm:prSet/>
      <dgm:spPr/>
      <dgm:t>
        <a:bodyPr/>
        <a:lstStyle/>
        <a:p>
          <a:endParaRPr lang="en-US"/>
        </a:p>
      </dgm:t>
    </dgm:pt>
    <dgm:pt modelId="{78AD112A-E4BF-459C-8A9A-24C4F3859367}" type="sibTrans" cxnId="{87B0C2C4-25F2-4AFF-98A2-BEEFEC45D381}">
      <dgm:prSet/>
      <dgm:spPr/>
      <dgm:t>
        <a:bodyPr/>
        <a:lstStyle/>
        <a:p>
          <a:endParaRPr lang="en-US"/>
        </a:p>
      </dgm:t>
    </dgm:pt>
    <dgm:pt modelId="{4243F134-4356-464A-8BBE-B4A60AECBC6B}">
      <dgm:prSet/>
      <dgm:spPr/>
      <dgm:t>
        <a:bodyPr/>
        <a:lstStyle/>
        <a:p>
          <a:r>
            <a:rPr lang="en-US"/>
            <a:t>Federal Trade Commission. (2025). Understanding your credit.</a:t>
          </a:r>
          <a:r>
            <a:rPr lang="en-US" i="1"/>
            <a:t> FTC Consumer Information.  |  </a:t>
          </a:r>
          <a:r>
            <a:rPr lang="en-US" i="1">
              <a:hlinkClick xmlns:r="http://schemas.openxmlformats.org/officeDocument/2006/relationships" r:id="rId4"/>
            </a:rPr>
            <a:t>https://consumer.ftc.gov/articles/understanding-your-credit</a:t>
          </a:r>
          <a:endParaRPr lang="en-US"/>
        </a:p>
      </dgm:t>
    </dgm:pt>
    <dgm:pt modelId="{A547F7BE-3A7C-4AB6-A598-766F8F9CCF59}" type="parTrans" cxnId="{E04A9968-ABA1-4671-B536-BFCA8AD01B66}">
      <dgm:prSet/>
      <dgm:spPr/>
      <dgm:t>
        <a:bodyPr/>
        <a:lstStyle/>
        <a:p>
          <a:endParaRPr lang="en-US"/>
        </a:p>
      </dgm:t>
    </dgm:pt>
    <dgm:pt modelId="{EE21E21D-8B92-4F1E-8CFD-B900AC25EBFA}" type="sibTrans" cxnId="{E04A9968-ABA1-4671-B536-BFCA8AD01B66}">
      <dgm:prSet/>
      <dgm:spPr/>
      <dgm:t>
        <a:bodyPr/>
        <a:lstStyle/>
        <a:p>
          <a:endParaRPr lang="en-US"/>
        </a:p>
      </dgm:t>
    </dgm:pt>
    <dgm:pt modelId="{C2334FEE-0532-4B8A-B9E2-C4154F6B4708}">
      <dgm:prSet/>
      <dgm:spPr/>
      <dgm:t>
        <a:bodyPr/>
        <a:lstStyle/>
        <a:p>
          <a:r>
            <a:rPr lang="en-US"/>
            <a:t>Lundberg, S. M., &amp; Lee, S. I. (2017). A unified approach to interpreting model predictions. </a:t>
          </a:r>
          <a:r>
            <a:rPr lang="en-US" i="1"/>
            <a:t>Advances in Neural Information Processing Systems, 30 (NIPS 2017).  |  </a:t>
          </a:r>
          <a:r>
            <a:rPr lang="en-US" i="1">
              <a:hlinkClick xmlns:r="http://schemas.openxmlformats.org/officeDocument/2006/relationships" r:id="rId5"/>
            </a:rPr>
            <a:t>https://proceedings.neurips.cc/paper/2017/hash/8a20a8621978632d76c43dfd28b67767-Abstract.html</a:t>
          </a:r>
          <a:endParaRPr lang="en-US"/>
        </a:p>
      </dgm:t>
    </dgm:pt>
    <dgm:pt modelId="{39F5C351-D0A1-444E-97DB-BFB6F1829804}" type="parTrans" cxnId="{3AB9E5C7-CC04-4C49-B1EB-2DCFB82EE2F2}">
      <dgm:prSet/>
      <dgm:spPr/>
      <dgm:t>
        <a:bodyPr/>
        <a:lstStyle/>
        <a:p>
          <a:endParaRPr lang="en-US"/>
        </a:p>
      </dgm:t>
    </dgm:pt>
    <dgm:pt modelId="{DF3AC6BE-087B-4352-A851-AEEF423EB074}" type="sibTrans" cxnId="{3AB9E5C7-CC04-4C49-B1EB-2DCFB82EE2F2}">
      <dgm:prSet/>
      <dgm:spPr/>
      <dgm:t>
        <a:bodyPr/>
        <a:lstStyle/>
        <a:p>
          <a:endParaRPr lang="en-US"/>
        </a:p>
      </dgm:t>
    </dgm:pt>
    <dgm:pt modelId="{FDC3EFAE-87FD-3248-A4CB-7670405BA569}" type="pres">
      <dgm:prSet presAssocID="{D48D5C14-1C2C-4EF0-9471-7F58DAE44DF7}" presName="vert0" presStyleCnt="0">
        <dgm:presLayoutVars>
          <dgm:dir/>
          <dgm:animOne val="branch"/>
          <dgm:animLvl val="lvl"/>
        </dgm:presLayoutVars>
      </dgm:prSet>
      <dgm:spPr/>
    </dgm:pt>
    <dgm:pt modelId="{D15E8392-FB1D-B742-81B8-EA4C3F3C88EC}" type="pres">
      <dgm:prSet presAssocID="{721193FD-3254-4E18-861C-81FDC026185A}" presName="thickLine" presStyleLbl="alignNode1" presStyleIdx="0" presStyleCnt="5"/>
      <dgm:spPr/>
    </dgm:pt>
    <dgm:pt modelId="{440CB650-CDA6-A04F-8305-F53818DB4F76}" type="pres">
      <dgm:prSet presAssocID="{721193FD-3254-4E18-861C-81FDC026185A}" presName="horz1" presStyleCnt="0"/>
      <dgm:spPr/>
    </dgm:pt>
    <dgm:pt modelId="{4C003166-9573-BC4D-9F58-041109C47082}" type="pres">
      <dgm:prSet presAssocID="{721193FD-3254-4E18-861C-81FDC026185A}" presName="tx1" presStyleLbl="revTx" presStyleIdx="0" presStyleCnt="5"/>
      <dgm:spPr/>
    </dgm:pt>
    <dgm:pt modelId="{D848AF80-C1BF-6F48-AE09-716589B04826}" type="pres">
      <dgm:prSet presAssocID="{721193FD-3254-4E18-861C-81FDC026185A}" presName="vert1" presStyleCnt="0"/>
      <dgm:spPr/>
    </dgm:pt>
    <dgm:pt modelId="{F609FC78-7FB4-274D-96D3-760BDF0F82ED}" type="pres">
      <dgm:prSet presAssocID="{9C3A6313-6451-4E60-BD14-CE7A48480CEC}" presName="thickLine" presStyleLbl="alignNode1" presStyleIdx="1" presStyleCnt="5"/>
      <dgm:spPr/>
    </dgm:pt>
    <dgm:pt modelId="{95ACADB0-6C21-3847-A88A-CB71B08E2C03}" type="pres">
      <dgm:prSet presAssocID="{9C3A6313-6451-4E60-BD14-CE7A48480CEC}" presName="horz1" presStyleCnt="0"/>
      <dgm:spPr/>
    </dgm:pt>
    <dgm:pt modelId="{B59F48F1-237C-844A-A8A9-280EE2AC9351}" type="pres">
      <dgm:prSet presAssocID="{9C3A6313-6451-4E60-BD14-CE7A48480CEC}" presName="tx1" presStyleLbl="revTx" presStyleIdx="1" presStyleCnt="5"/>
      <dgm:spPr/>
    </dgm:pt>
    <dgm:pt modelId="{173275F1-242E-8B40-B361-0875A4D0F243}" type="pres">
      <dgm:prSet presAssocID="{9C3A6313-6451-4E60-BD14-CE7A48480CEC}" presName="vert1" presStyleCnt="0"/>
      <dgm:spPr/>
    </dgm:pt>
    <dgm:pt modelId="{D989FAD7-A2CB-0E4C-8847-368B6ED08CA3}" type="pres">
      <dgm:prSet presAssocID="{09B65229-2AF6-4BC2-9E4C-34649AC15AC5}" presName="thickLine" presStyleLbl="alignNode1" presStyleIdx="2" presStyleCnt="5"/>
      <dgm:spPr/>
    </dgm:pt>
    <dgm:pt modelId="{FEADFA45-8A7C-514E-8269-C04AE6F30845}" type="pres">
      <dgm:prSet presAssocID="{09B65229-2AF6-4BC2-9E4C-34649AC15AC5}" presName="horz1" presStyleCnt="0"/>
      <dgm:spPr/>
    </dgm:pt>
    <dgm:pt modelId="{A98E0529-0A33-5147-8E99-49478948E6C0}" type="pres">
      <dgm:prSet presAssocID="{09B65229-2AF6-4BC2-9E4C-34649AC15AC5}" presName="tx1" presStyleLbl="revTx" presStyleIdx="2" presStyleCnt="5"/>
      <dgm:spPr/>
    </dgm:pt>
    <dgm:pt modelId="{35870A48-66D1-5C43-B7EE-F8CED6A983C4}" type="pres">
      <dgm:prSet presAssocID="{09B65229-2AF6-4BC2-9E4C-34649AC15AC5}" presName="vert1" presStyleCnt="0"/>
      <dgm:spPr/>
    </dgm:pt>
    <dgm:pt modelId="{80CA53BB-EC84-9949-86AD-10C0DD2D1A09}" type="pres">
      <dgm:prSet presAssocID="{4243F134-4356-464A-8BBE-B4A60AECBC6B}" presName="thickLine" presStyleLbl="alignNode1" presStyleIdx="3" presStyleCnt="5"/>
      <dgm:spPr/>
    </dgm:pt>
    <dgm:pt modelId="{EC75E698-D9D6-F343-88BF-2C09CB5B653E}" type="pres">
      <dgm:prSet presAssocID="{4243F134-4356-464A-8BBE-B4A60AECBC6B}" presName="horz1" presStyleCnt="0"/>
      <dgm:spPr/>
    </dgm:pt>
    <dgm:pt modelId="{6D464575-C518-B54F-8A04-A2FCF1FB3A3F}" type="pres">
      <dgm:prSet presAssocID="{4243F134-4356-464A-8BBE-B4A60AECBC6B}" presName="tx1" presStyleLbl="revTx" presStyleIdx="3" presStyleCnt="5"/>
      <dgm:spPr/>
    </dgm:pt>
    <dgm:pt modelId="{D41A8F5C-3A0A-CF4B-97E4-8A56AAEB856F}" type="pres">
      <dgm:prSet presAssocID="{4243F134-4356-464A-8BBE-B4A60AECBC6B}" presName="vert1" presStyleCnt="0"/>
      <dgm:spPr/>
    </dgm:pt>
    <dgm:pt modelId="{D865FD8E-E7D3-944D-9448-9A1726439075}" type="pres">
      <dgm:prSet presAssocID="{C2334FEE-0532-4B8A-B9E2-C4154F6B4708}" presName="thickLine" presStyleLbl="alignNode1" presStyleIdx="4" presStyleCnt="5"/>
      <dgm:spPr/>
    </dgm:pt>
    <dgm:pt modelId="{D1BDD19B-E415-454C-9FB3-02197B8CA136}" type="pres">
      <dgm:prSet presAssocID="{C2334FEE-0532-4B8A-B9E2-C4154F6B4708}" presName="horz1" presStyleCnt="0"/>
      <dgm:spPr/>
    </dgm:pt>
    <dgm:pt modelId="{11E19F11-C446-5E48-9C13-E09ABF4E9F5A}" type="pres">
      <dgm:prSet presAssocID="{C2334FEE-0532-4B8A-B9E2-C4154F6B4708}" presName="tx1" presStyleLbl="revTx" presStyleIdx="4" presStyleCnt="5"/>
      <dgm:spPr/>
    </dgm:pt>
    <dgm:pt modelId="{2722D16A-270B-9F48-BA6F-F0A5C505CC76}" type="pres">
      <dgm:prSet presAssocID="{C2334FEE-0532-4B8A-B9E2-C4154F6B4708}" presName="vert1" presStyleCnt="0"/>
      <dgm:spPr/>
    </dgm:pt>
  </dgm:ptLst>
  <dgm:cxnLst>
    <dgm:cxn modelId="{3831C50B-7215-E745-9306-9D1A0EA81D02}" type="presOf" srcId="{09B65229-2AF6-4BC2-9E4C-34649AC15AC5}" destId="{A98E0529-0A33-5147-8E99-49478948E6C0}" srcOrd="0" destOrd="0" presId="urn:microsoft.com/office/officeart/2008/layout/LinedList"/>
    <dgm:cxn modelId="{5FB69E13-CEBF-0549-AC26-0EC6ACAF0D3E}" type="presOf" srcId="{9C3A6313-6451-4E60-BD14-CE7A48480CEC}" destId="{B59F48F1-237C-844A-A8A9-280EE2AC9351}" srcOrd="0" destOrd="0" presId="urn:microsoft.com/office/officeart/2008/layout/LinedList"/>
    <dgm:cxn modelId="{1D29684E-D8BC-0C47-94B9-D4C5C8D21FE3}" type="presOf" srcId="{C2334FEE-0532-4B8A-B9E2-C4154F6B4708}" destId="{11E19F11-C446-5E48-9C13-E09ABF4E9F5A}" srcOrd="0" destOrd="0" presId="urn:microsoft.com/office/officeart/2008/layout/LinedList"/>
    <dgm:cxn modelId="{E04A9968-ABA1-4671-B536-BFCA8AD01B66}" srcId="{D48D5C14-1C2C-4EF0-9471-7F58DAE44DF7}" destId="{4243F134-4356-464A-8BBE-B4A60AECBC6B}" srcOrd="3" destOrd="0" parTransId="{A547F7BE-3A7C-4AB6-A598-766F8F9CCF59}" sibTransId="{EE21E21D-8B92-4F1E-8CFD-B900AC25EBFA}"/>
    <dgm:cxn modelId="{D6BB6378-BD68-804A-A1A2-2E73229CA50D}" type="presOf" srcId="{D48D5C14-1C2C-4EF0-9471-7F58DAE44DF7}" destId="{FDC3EFAE-87FD-3248-A4CB-7670405BA569}" srcOrd="0" destOrd="0" presId="urn:microsoft.com/office/officeart/2008/layout/LinedList"/>
    <dgm:cxn modelId="{87B0C2C4-25F2-4AFF-98A2-BEEFEC45D381}" srcId="{D48D5C14-1C2C-4EF0-9471-7F58DAE44DF7}" destId="{09B65229-2AF6-4BC2-9E4C-34649AC15AC5}" srcOrd="2" destOrd="0" parTransId="{2AECE2A0-52F3-4B2E-AB2E-BCB0433C8BBB}" sibTransId="{78AD112A-E4BF-459C-8A9A-24C4F3859367}"/>
    <dgm:cxn modelId="{2FC8D8C5-F9DD-B344-B088-7AFD74125923}" type="presOf" srcId="{4243F134-4356-464A-8BBE-B4A60AECBC6B}" destId="{6D464575-C518-B54F-8A04-A2FCF1FB3A3F}" srcOrd="0" destOrd="0" presId="urn:microsoft.com/office/officeart/2008/layout/LinedList"/>
    <dgm:cxn modelId="{3AB9E5C7-CC04-4C49-B1EB-2DCFB82EE2F2}" srcId="{D48D5C14-1C2C-4EF0-9471-7F58DAE44DF7}" destId="{C2334FEE-0532-4B8A-B9E2-C4154F6B4708}" srcOrd="4" destOrd="0" parTransId="{39F5C351-D0A1-444E-97DB-BFB6F1829804}" sibTransId="{DF3AC6BE-087B-4352-A851-AEEF423EB074}"/>
    <dgm:cxn modelId="{12733AD5-1BF7-C147-A01B-A05D098C44B2}" type="presOf" srcId="{721193FD-3254-4E18-861C-81FDC026185A}" destId="{4C003166-9573-BC4D-9F58-041109C47082}" srcOrd="0" destOrd="0" presId="urn:microsoft.com/office/officeart/2008/layout/LinedList"/>
    <dgm:cxn modelId="{E4D484D6-5F4A-4514-AC5A-CCA7E36B522A}" srcId="{D48D5C14-1C2C-4EF0-9471-7F58DAE44DF7}" destId="{9C3A6313-6451-4E60-BD14-CE7A48480CEC}" srcOrd="1" destOrd="0" parTransId="{1022CF01-E08A-4B5B-9AD4-6AF2A644A6A8}" sibTransId="{906B9D99-82AE-4D06-A83D-CDBC691B68E3}"/>
    <dgm:cxn modelId="{432626F6-C94E-49D7-A4D4-86613FDD61C0}" srcId="{D48D5C14-1C2C-4EF0-9471-7F58DAE44DF7}" destId="{721193FD-3254-4E18-861C-81FDC026185A}" srcOrd="0" destOrd="0" parTransId="{141872C8-1AAC-4DDE-82E5-59AFAF93CE2B}" sibTransId="{0F48A3AE-5D91-4226-95AC-5BBA9553F340}"/>
    <dgm:cxn modelId="{8E00DC6C-7E3B-4949-9596-CE862B32F275}" type="presParOf" srcId="{FDC3EFAE-87FD-3248-A4CB-7670405BA569}" destId="{D15E8392-FB1D-B742-81B8-EA4C3F3C88EC}" srcOrd="0" destOrd="0" presId="urn:microsoft.com/office/officeart/2008/layout/LinedList"/>
    <dgm:cxn modelId="{D72FF6F7-6D87-A443-8101-F9F5A70C5066}" type="presParOf" srcId="{FDC3EFAE-87FD-3248-A4CB-7670405BA569}" destId="{440CB650-CDA6-A04F-8305-F53818DB4F76}" srcOrd="1" destOrd="0" presId="urn:microsoft.com/office/officeart/2008/layout/LinedList"/>
    <dgm:cxn modelId="{C7B99CCD-E022-0D4E-942A-5EBC30CF9AC1}" type="presParOf" srcId="{440CB650-CDA6-A04F-8305-F53818DB4F76}" destId="{4C003166-9573-BC4D-9F58-041109C47082}" srcOrd="0" destOrd="0" presId="urn:microsoft.com/office/officeart/2008/layout/LinedList"/>
    <dgm:cxn modelId="{7090F248-35EA-F64F-A582-BAAFFAD673AA}" type="presParOf" srcId="{440CB650-CDA6-A04F-8305-F53818DB4F76}" destId="{D848AF80-C1BF-6F48-AE09-716589B04826}" srcOrd="1" destOrd="0" presId="urn:microsoft.com/office/officeart/2008/layout/LinedList"/>
    <dgm:cxn modelId="{97DD05A9-AB53-944D-8A54-ACAF06536873}" type="presParOf" srcId="{FDC3EFAE-87FD-3248-A4CB-7670405BA569}" destId="{F609FC78-7FB4-274D-96D3-760BDF0F82ED}" srcOrd="2" destOrd="0" presId="urn:microsoft.com/office/officeart/2008/layout/LinedList"/>
    <dgm:cxn modelId="{AC3A7E9C-BEA1-F34C-B4B2-B4D1B36B780D}" type="presParOf" srcId="{FDC3EFAE-87FD-3248-A4CB-7670405BA569}" destId="{95ACADB0-6C21-3847-A88A-CB71B08E2C03}" srcOrd="3" destOrd="0" presId="urn:microsoft.com/office/officeart/2008/layout/LinedList"/>
    <dgm:cxn modelId="{782C3787-6BCE-5442-B021-A1F78B157A68}" type="presParOf" srcId="{95ACADB0-6C21-3847-A88A-CB71B08E2C03}" destId="{B59F48F1-237C-844A-A8A9-280EE2AC9351}" srcOrd="0" destOrd="0" presId="urn:microsoft.com/office/officeart/2008/layout/LinedList"/>
    <dgm:cxn modelId="{E7995B56-CD6C-1942-BD40-C46095F4C06A}" type="presParOf" srcId="{95ACADB0-6C21-3847-A88A-CB71B08E2C03}" destId="{173275F1-242E-8B40-B361-0875A4D0F243}" srcOrd="1" destOrd="0" presId="urn:microsoft.com/office/officeart/2008/layout/LinedList"/>
    <dgm:cxn modelId="{2A1FD92C-59CD-6E45-8685-46F05E3174D0}" type="presParOf" srcId="{FDC3EFAE-87FD-3248-A4CB-7670405BA569}" destId="{D989FAD7-A2CB-0E4C-8847-368B6ED08CA3}" srcOrd="4" destOrd="0" presId="urn:microsoft.com/office/officeart/2008/layout/LinedList"/>
    <dgm:cxn modelId="{D2E93A0C-318F-1D4A-9CE1-1710CBCD752A}" type="presParOf" srcId="{FDC3EFAE-87FD-3248-A4CB-7670405BA569}" destId="{FEADFA45-8A7C-514E-8269-C04AE6F30845}" srcOrd="5" destOrd="0" presId="urn:microsoft.com/office/officeart/2008/layout/LinedList"/>
    <dgm:cxn modelId="{F9A5639E-629A-CE49-9565-492965CE3143}" type="presParOf" srcId="{FEADFA45-8A7C-514E-8269-C04AE6F30845}" destId="{A98E0529-0A33-5147-8E99-49478948E6C0}" srcOrd="0" destOrd="0" presId="urn:microsoft.com/office/officeart/2008/layout/LinedList"/>
    <dgm:cxn modelId="{3AAC9564-D108-4341-9A17-80097D864D77}" type="presParOf" srcId="{FEADFA45-8A7C-514E-8269-C04AE6F30845}" destId="{35870A48-66D1-5C43-B7EE-F8CED6A983C4}" srcOrd="1" destOrd="0" presId="urn:microsoft.com/office/officeart/2008/layout/LinedList"/>
    <dgm:cxn modelId="{7E71DAD5-63C3-8A49-AAB7-12F7B8190218}" type="presParOf" srcId="{FDC3EFAE-87FD-3248-A4CB-7670405BA569}" destId="{80CA53BB-EC84-9949-86AD-10C0DD2D1A09}" srcOrd="6" destOrd="0" presId="urn:microsoft.com/office/officeart/2008/layout/LinedList"/>
    <dgm:cxn modelId="{0B3382E9-423F-0943-884F-66535D6CBBB0}" type="presParOf" srcId="{FDC3EFAE-87FD-3248-A4CB-7670405BA569}" destId="{EC75E698-D9D6-F343-88BF-2C09CB5B653E}" srcOrd="7" destOrd="0" presId="urn:microsoft.com/office/officeart/2008/layout/LinedList"/>
    <dgm:cxn modelId="{6003D119-4EB5-1F41-A8CF-A3640346B666}" type="presParOf" srcId="{EC75E698-D9D6-F343-88BF-2C09CB5B653E}" destId="{6D464575-C518-B54F-8A04-A2FCF1FB3A3F}" srcOrd="0" destOrd="0" presId="urn:microsoft.com/office/officeart/2008/layout/LinedList"/>
    <dgm:cxn modelId="{D455B26C-0F4B-3B44-BD87-AAC377D948EA}" type="presParOf" srcId="{EC75E698-D9D6-F343-88BF-2C09CB5B653E}" destId="{D41A8F5C-3A0A-CF4B-97E4-8A56AAEB856F}" srcOrd="1" destOrd="0" presId="urn:microsoft.com/office/officeart/2008/layout/LinedList"/>
    <dgm:cxn modelId="{B2B781FC-59C7-CC41-810C-636F41B11352}" type="presParOf" srcId="{FDC3EFAE-87FD-3248-A4CB-7670405BA569}" destId="{D865FD8E-E7D3-944D-9448-9A1726439075}" srcOrd="8" destOrd="0" presId="urn:microsoft.com/office/officeart/2008/layout/LinedList"/>
    <dgm:cxn modelId="{31CA1F06-A9CB-C74A-AA7D-6649B0458700}" type="presParOf" srcId="{FDC3EFAE-87FD-3248-A4CB-7670405BA569}" destId="{D1BDD19B-E415-454C-9FB3-02197B8CA136}" srcOrd="9" destOrd="0" presId="urn:microsoft.com/office/officeart/2008/layout/LinedList"/>
    <dgm:cxn modelId="{FFB5411A-A9B2-D44C-AA39-A50DE0BBFC89}" type="presParOf" srcId="{D1BDD19B-E415-454C-9FB3-02197B8CA136}" destId="{11E19F11-C446-5E48-9C13-E09ABF4E9F5A}" srcOrd="0" destOrd="0" presId="urn:microsoft.com/office/officeart/2008/layout/LinedList"/>
    <dgm:cxn modelId="{6D4EDA99-4CF6-C149-9EF9-1617D983313B}" type="presParOf" srcId="{D1BDD19B-E415-454C-9FB3-02197B8CA136}" destId="{2722D16A-270B-9F48-BA6F-F0A5C505CC76}"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5E8392-FB1D-B742-81B8-EA4C3F3C88EC}">
      <dsp:nvSpPr>
        <dsp:cNvPr id="0" name=""/>
        <dsp:cNvSpPr/>
      </dsp:nvSpPr>
      <dsp:spPr>
        <a:xfrm>
          <a:off x="0" y="594"/>
          <a:ext cx="10716126"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003166-9573-BC4D-9F58-041109C47082}">
      <dsp:nvSpPr>
        <dsp:cNvPr id="0" name=""/>
        <dsp:cNvSpPr/>
      </dsp:nvSpPr>
      <dsp:spPr>
        <a:xfrm>
          <a:off x="0" y="594"/>
          <a:ext cx="10716126" cy="973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Dumitrescu, E., Hué, S., Hurlin, C., &amp; Tokpavi, S. (2022). Machine learning for credit scoring: Improving logistic regression with non-linear decision-tree effects.</a:t>
          </a:r>
          <a:r>
            <a:rPr lang="en-US" sz="1600" i="1" kern="1200"/>
            <a:t> European Journal of Operational Research, 297(3), 1178–1192.  |  </a:t>
          </a:r>
          <a:r>
            <a:rPr lang="en-US" sz="1600" i="1" kern="1200">
              <a:hlinkClick xmlns:r="http://schemas.openxmlformats.org/officeDocument/2006/relationships" r:id="rId1"/>
            </a:rPr>
            <a:t>https://doi.org/10.1016/j.ejor.2021.06.053</a:t>
          </a:r>
          <a:endParaRPr lang="en-US" sz="1600" kern="1200"/>
        </a:p>
      </dsp:txBody>
      <dsp:txXfrm>
        <a:off x="0" y="594"/>
        <a:ext cx="10716126" cy="973824"/>
      </dsp:txXfrm>
    </dsp:sp>
    <dsp:sp modelId="{F609FC78-7FB4-274D-96D3-760BDF0F82ED}">
      <dsp:nvSpPr>
        <dsp:cNvPr id="0" name=""/>
        <dsp:cNvSpPr/>
      </dsp:nvSpPr>
      <dsp:spPr>
        <a:xfrm>
          <a:off x="0" y="974418"/>
          <a:ext cx="10716126"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9F48F1-237C-844A-A8A9-280EE2AC9351}">
      <dsp:nvSpPr>
        <dsp:cNvPr id="0" name=""/>
        <dsp:cNvSpPr/>
      </dsp:nvSpPr>
      <dsp:spPr>
        <a:xfrm>
          <a:off x="0" y="974418"/>
          <a:ext cx="10716126" cy="973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Zhu, X., Chu, Q., Song, X., Hu, P., &amp; Peng, L. (2023). Explainable prediction of loan default based on machine learning models. </a:t>
          </a:r>
          <a:r>
            <a:rPr lang="en-US" sz="1600" i="1" kern="1200"/>
            <a:t>Data Science and Management, 6(3), 123–133.  |  </a:t>
          </a:r>
          <a:r>
            <a:rPr lang="en-US" sz="1600" i="1" kern="1200">
              <a:hlinkClick xmlns:r="http://schemas.openxmlformats.org/officeDocument/2006/relationships" r:id="rId2"/>
            </a:rPr>
            <a:t>https://doi.org/10.1016/j.dsm.2023.04.003</a:t>
          </a:r>
          <a:endParaRPr lang="en-US" sz="1600" kern="1200"/>
        </a:p>
      </dsp:txBody>
      <dsp:txXfrm>
        <a:off x="0" y="974418"/>
        <a:ext cx="10716126" cy="973824"/>
      </dsp:txXfrm>
    </dsp:sp>
    <dsp:sp modelId="{D989FAD7-A2CB-0E4C-8847-368B6ED08CA3}">
      <dsp:nvSpPr>
        <dsp:cNvPr id="0" name=""/>
        <dsp:cNvSpPr/>
      </dsp:nvSpPr>
      <dsp:spPr>
        <a:xfrm>
          <a:off x="0" y="1948243"/>
          <a:ext cx="10716126"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8E0529-0A33-5147-8E99-49478948E6C0}">
      <dsp:nvSpPr>
        <dsp:cNvPr id="0" name=""/>
        <dsp:cNvSpPr/>
      </dsp:nvSpPr>
      <dsp:spPr>
        <a:xfrm>
          <a:off x="0" y="1948243"/>
          <a:ext cx="10716126" cy="973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FinRegLab. (2023). Machine learning explainability and fairness: Insights from consumer lending. </a:t>
          </a:r>
          <a:r>
            <a:rPr lang="en-US" sz="1600" i="1" kern="1200"/>
            <a:t>FinRegLab Whitepaper.  |  </a:t>
          </a:r>
          <a:r>
            <a:rPr lang="en-US" sz="1600" i="1" kern="1200">
              <a:hlinkClick xmlns:r="http://schemas.openxmlformats.org/officeDocument/2006/relationships" r:id="rId3"/>
            </a:rPr>
            <a:t>https://finreglab.org</a:t>
          </a:r>
          <a:endParaRPr lang="en-US" sz="1600" kern="1200"/>
        </a:p>
      </dsp:txBody>
      <dsp:txXfrm>
        <a:off x="0" y="1948243"/>
        <a:ext cx="10716126" cy="973824"/>
      </dsp:txXfrm>
    </dsp:sp>
    <dsp:sp modelId="{80CA53BB-EC84-9949-86AD-10C0DD2D1A09}">
      <dsp:nvSpPr>
        <dsp:cNvPr id="0" name=""/>
        <dsp:cNvSpPr/>
      </dsp:nvSpPr>
      <dsp:spPr>
        <a:xfrm>
          <a:off x="0" y="2922067"/>
          <a:ext cx="10716126"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464575-C518-B54F-8A04-A2FCF1FB3A3F}">
      <dsp:nvSpPr>
        <dsp:cNvPr id="0" name=""/>
        <dsp:cNvSpPr/>
      </dsp:nvSpPr>
      <dsp:spPr>
        <a:xfrm>
          <a:off x="0" y="2922067"/>
          <a:ext cx="10716126" cy="973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Federal Trade Commission. (2025). Understanding your credit.</a:t>
          </a:r>
          <a:r>
            <a:rPr lang="en-US" sz="1600" i="1" kern="1200"/>
            <a:t> FTC Consumer Information.  |  </a:t>
          </a:r>
          <a:r>
            <a:rPr lang="en-US" sz="1600" i="1" kern="1200">
              <a:hlinkClick xmlns:r="http://schemas.openxmlformats.org/officeDocument/2006/relationships" r:id="rId4"/>
            </a:rPr>
            <a:t>https://consumer.ftc.gov/articles/understanding-your-credit</a:t>
          </a:r>
          <a:endParaRPr lang="en-US" sz="1600" kern="1200"/>
        </a:p>
      </dsp:txBody>
      <dsp:txXfrm>
        <a:off x="0" y="2922067"/>
        <a:ext cx="10716126" cy="973824"/>
      </dsp:txXfrm>
    </dsp:sp>
    <dsp:sp modelId="{D865FD8E-E7D3-944D-9448-9A1726439075}">
      <dsp:nvSpPr>
        <dsp:cNvPr id="0" name=""/>
        <dsp:cNvSpPr/>
      </dsp:nvSpPr>
      <dsp:spPr>
        <a:xfrm>
          <a:off x="0" y="3895892"/>
          <a:ext cx="10716126"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E19F11-C446-5E48-9C13-E09ABF4E9F5A}">
      <dsp:nvSpPr>
        <dsp:cNvPr id="0" name=""/>
        <dsp:cNvSpPr/>
      </dsp:nvSpPr>
      <dsp:spPr>
        <a:xfrm>
          <a:off x="0" y="3895892"/>
          <a:ext cx="10716126" cy="973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Lundberg, S. M., &amp; Lee, S. I. (2017). A unified approach to interpreting model predictions. </a:t>
          </a:r>
          <a:r>
            <a:rPr lang="en-US" sz="1600" i="1" kern="1200"/>
            <a:t>Advances in Neural Information Processing Systems, 30 (NIPS 2017).  |  </a:t>
          </a:r>
          <a:r>
            <a:rPr lang="en-US" sz="1600" i="1" kern="1200">
              <a:hlinkClick xmlns:r="http://schemas.openxmlformats.org/officeDocument/2006/relationships" r:id="rId5"/>
            </a:rPr>
            <a:t>https://proceedings.neurips.cc/paper/2017/hash/8a20a8621978632d76c43dfd28b67767-Abstract.html</a:t>
          </a:r>
          <a:endParaRPr lang="en-US" sz="1600" kern="1200"/>
        </a:p>
      </dsp:txBody>
      <dsp:txXfrm>
        <a:off x="0" y="3895892"/>
        <a:ext cx="10716126" cy="97382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F0A905-C50B-7E4D-B483-856A4240BC80}" type="datetimeFigureOut">
              <a:rPr lang="en-US" smtClean="0"/>
              <a:t>5/14/26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EA5B61-80C3-B440-A8F3-891094A90805}" type="slidenum">
              <a:rPr lang="en-US" smtClean="0"/>
              <a:t>‹#›</a:t>
            </a:fld>
            <a:endParaRPr lang="en-US"/>
          </a:p>
        </p:txBody>
      </p:sp>
    </p:spTree>
    <p:extLst>
      <p:ext uri="{BB962C8B-B14F-4D97-AF65-F5344CB8AC3E}">
        <p14:creationId xmlns:p14="http://schemas.microsoft.com/office/powerpoint/2010/main" val="2319042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EA5B61-80C3-B440-A8F3-891094A90805}" type="slidenum">
              <a:rPr lang="en-US" smtClean="0"/>
              <a:t>1</a:t>
            </a:fld>
            <a:endParaRPr lang="en-US"/>
          </a:p>
        </p:txBody>
      </p:sp>
    </p:spTree>
    <p:extLst>
      <p:ext uri="{BB962C8B-B14F-4D97-AF65-F5344CB8AC3E}">
        <p14:creationId xmlns:p14="http://schemas.microsoft.com/office/powerpoint/2010/main" val="2726608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First, I will check the basic overview of the data. This includes the data size, data types, missing values, loan approval counts, and common categories like gender, education, and property area.</a:t>
            </a:r>
          </a:p>
          <a:p>
            <a:endParaRPr lang="en-US" dirty="0"/>
          </a:p>
          <a:p>
            <a:r>
              <a:rPr lang="en-US" dirty="0"/>
              <a:t>2. Next, I will compare loan approval rates by different categories, such as gender, married status, education, self-employment, property area, credit history, and dependents.</a:t>
            </a:r>
          </a:p>
          <a:p>
            <a:endParaRPr lang="en-US" dirty="0"/>
          </a:p>
          <a:p>
            <a:r>
              <a:rPr lang="en-US" sz="1200" b="0" i="0" kern="1200" dirty="0">
                <a:solidFill>
                  <a:schemeClr val="tx1"/>
                </a:solidFill>
                <a:effectLst/>
                <a:latin typeface="+mn-lt"/>
                <a:ea typeface="+mn-ea"/>
                <a:cs typeface="+mn-cs"/>
              </a:rPr>
              <a:t>3. After that I will look at income patterns, loan amounts and loan terms. This includes the applicants income, the co-applicants income, the total income, how much the loan is for and how long the loan is, for.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4. Finally, I will see which features are closely related to loan approval by checking their correlations.</a:t>
            </a:r>
          </a:p>
        </p:txBody>
      </p:sp>
      <p:sp>
        <p:nvSpPr>
          <p:cNvPr id="4" name="Slide Number Placeholder 3"/>
          <p:cNvSpPr>
            <a:spLocks noGrp="1"/>
          </p:cNvSpPr>
          <p:nvPr>
            <p:ph type="sldNum" sz="quarter" idx="5"/>
          </p:nvPr>
        </p:nvSpPr>
        <p:spPr/>
        <p:txBody>
          <a:bodyPr/>
          <a:lstStyle/>
          <a:p>
            <a:fld id="{BCEA5B61-80C3-B440-A8F3-891094A90805}" type="slidenum">
              <a:rPr lang="en-US" smtClean="0"/>
              <a:t>2</a:t>
            </a:fld>
            <a:endParaRPr lang="en-US"/>
          </a:p>
        </p:txBody>
      </p:sp>
    </p:spTree>
    <p:extLst>
      <p:ext uri="{BB962C8B-B14F-4D97-AF65-F5344CB8AC3E}">
        <p14:creationId xmlns:p14="http://schemas.microsoft.com/office/powerpoint/2010/main" val="923499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b="0" i="0" kern="1200" dirty="0">
                <a:solidFill>
                  <a:schemeClr val="tx1"/>
                </a:solidFill>
                <a:effectLst/>
                <a:latin typeface="+mn-lt"/>
                <a:ea typeface="+mn-ea"/>
                <a:cs typeface="+mn-cs"/>
              </a:rPr>
              <a:t>First, I will identify which applicant factors are the best indicators of loan approval. I will use feature importance charts and a correlation heatmap to understand which variables have the strongest impact.</a:t>
            </a:r>
          </a:p>
          <a:p>
            <a:pPr marL="228600" indent="-228600">
              <a:buAutoNum type="arabicPeriod"/>
            </a:pPr>
            <a:br>
              <a:rPr lang="en-US" dirty="0"/>
            </a:br>
            <a:r>
              <a:rPr lang="en-US" sz="1200" b="0" i="0" kern="1200" dirty="0">
                <a:solidFill>
                  <a:schemeClr val="tx1"/>
                </a:solidFill>
                <a:effectLst/>
                <a:latin typeface="+mn-lt"/>
                <a:ea typeface="+mn-ea"/>
                <a:cs typeface="+mn-cs"/>
              </a:rPr>
              <a:t>Second, I will examine whether credit history is the most important factor in loan approval prediction. The credit history approval rate chart will help show how approval changes based on credit records.</a:t>
            </a:r>
          </a:p>
          <a:p>
            <a:pPr marL="228600" indent="-228600">
              <a:buAutoNum type="arabicPeriod"/>
            </a:pPr>
            <a:r>
              <a:rPr lang="en-US" sz="1200" b="0" i="0" kern="1200" dirty="0">
                <a:solidFill>
                  <a:schemeClr val="tx1"/>
                </a:solidFill>
                <a:effectLst/>
                <a:latin typeface="+mn-lt"/>
                <a:ea typeface="+mn-ea"/>
                <a:cs typeface="+mn-cs"/>
              </a:rPr>
              <a:t>Third I will look at how the income and the loan amount impact the chances of getting a loan approved. I will use scatter plots and histograms to see how the income and the loan amount are connected to the approval decisions.</a:t>
            </a:r>
          </a:p>
          <a:p>
            <a:pPr marL="228600" indent="-228600">
              <a:buAutoNum type="arabicPeriod"/>
            </a:pPr>
            <a:r>
              <a:rPr lang="en-US" sz="1200" b="0" i="0" kern="1200" dirty="0">
                <a:solidFill>
                  <a:schemeClr val="tx1"/>
                </a:solidFill>
                <a:effectLst/>
                <a:latin typeface="+mn-lt"/>
                <a:ea typeface="+mn-ea"/>
                <a:cs typeface="+mn-cs"/>
              </a:rPr>
              <a:t>Finally I will see if the gender and the education of the applicant have an effect, on the loan approval decisions. Side-by-side approval rate charts will compare approval patterns across different demographic groups.</a:t>
            </a:r>
            <a:endParaRPr lang="en-US" dirty="0"/>
          </a:p>
        </p:txBody>
      </p:sp>
      <p:sp>
        <p:nvSpPr>
          <p:cNvPr id="4" name="Slide Number Placeholder 3"/>
          <p:cNvSpPr>
            <a:spLocks noGrp="1"/>
          </p:cNvSpPr>
          <p:nvPr>
            <p:ph type="sldNum" sz="quarter" idx="5"/>
          </p:nvPr>
        </p:nvSpPr>
        <p:spPr/>
        <p:txBody>
          <a:bodyPr/>
          <a:lstStyle/>
          <a:p>
            <a:fld id="{BCEA5B61-80C3-B440-A8F3-891094A90805}" type="slidenum">
              <a:rPr lang="en-US" smtClean="0"/>
              <a:t>3</a:t>
            </a:fld>
            <a:endParaRPr lang="en-US"/>
          </a:p>
        </p:txBody>
      </p:sp>
    </p:spTree>
    <p:extLst>
      <p:ext uri="{BB962C8B-B14F-4D97-AF65-F5344CB8AC3E}">
        <p14:creationId xmlns:p14="http://schemas.microsoft.com/office/powerpoint/2010/main" val="4259462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Banks receive thousands of loan applications every month. Manual review takes a lot of time, costs money, and may produce inconsistent decisions.</a:t>
            </a:r>
          </a:p>
          <a:p>
            <a:pPr marL="228600" indent="-228600">
              <a:buAutoNum type="arabicPeriod"/>
            </a:pPr>
            <a:r>
              <a:rPr lang="en-US" dirty="0"/>
              <a:t>Human decisions can also include bias, which may affect qualified applicants based on demographic factors such as gender or location.</a:t>
            </a:r>
          </a:p>
          <a:p>
            <a:pPr marL="228600" indent="-228600">
              <a:buAutoNum type="arabicPeriod"/>
            </a:pPr>
            <a:r>
              <a:rPr lang="en-US" dirty="0"/>
              <a:t>At the same time, rejecting good borrowers can reduce business revenue, while approving risky applicants can increase loan default losses.</a:t>
            </a:r>
          </a:p>
          <a:p>
            <a:pPr marL="228600" indent="-228600">
              <a:buAutoNum type="arabicPeriod"/>
            </a:pPr>
            <a:r>
              <a:rPr lang="en-US" dirty="0"/>
              <a:t>Financial institutions also face regulatory pressure to make fair, explainable, and auditable decisions.</a:t>
            </a:r>
          </a:p>
          <a:p>
            <a:pPr marL="228600" indent="-228600">
              <a:buAutoNum type="arabicPeriod"/>
            </a:pPr>
            <a:r>
              <a:rPr lang="en-US" dirty="0"/>
              <a:t>To solve these problems, this project uses a predictive machine learning model trained on historical loan data to predict loan approval probability.</a:t>
            </a:r>
          </a:p>
          <a:p>
            <a:pPr marL="228600" indent="-228600">
              <a:buAutoNum type="arabicPeriod"/>
            </a:pPr>
            <a:r>
              <a:rPr lang="en-US" dirty="0"/>
              <a:t>The project also focuses on feature discovery to identify which applicant factors most influence approval or rejection decisions.</a:t>
            </a:r>
          </a:p>
          <a:p>
            <a:pPr marL="228600" indent="-228600">
              <a:buAutoNum type="arabicPeriod"/>
            </a:pPr>
            <a:r>
              <a:rPr lang="en-US" dirty="0"/>
              <a:t>Another important goal is fairness auditing using explainable AI techniques like SHAP to detect possible demographic bias.</a:t>
            </a:r>
          </a:p>
        </p:txBody>
      </p:sp>
      <p:sp>
        <p:nvSpPr>
          <p:cNvPr id="4" name="Slide Number Placeholder 3"/>
          <p:cNvSpPr>
            <a:spLocks noGrp="1"/>
          </p:cNvSpPr>
          <p:nvPr>
            <p:ph type="sldNum" sz="quarter" idx="5"/>
          </p:nvPr>
        </p:nvSpPr>
        <p:spPr/>
        <p:txBody>
          <a:bodyPr/>
          <a:lstStyle/>
          <a:p>
            <a:fld id="{BCEA5B61-80C3-B440-A8F3-891094A90805}" type="slidenum">
              <a:rPr lang="en-US" smtClean="0"/>
              <a:t>4</a:t>
            </a:fld>
            <a:endParaRPr lang="en-US"/>
          </a:p>
        </p:txBody>
      </p:sp>
    </p:spTree>
    <p:extLst>
      <p:ext uri="{BB962C8B-B14F-4D97-AF65-F5344CB8AC3E}">
        <p14:creationId xmlns:p14="http://schemas.microsoft.com/office/powerpoint/2010/main" val="1206855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1. The dataset has 598 loan records with information about people and their money and credit history.</a:t>
            </a:r>
          </a:p>
          <a:p>
            <a:r>
              <a:rPr lang="en-US" sz="1200" b="0" i="0" kern="1200" dirty="0">
                <a:solidFill>
                  <a:schemeClr val="tx1"/>
                </a:solidFill>
                <a:effectLst/>
                <a:latin typeface="+mn-lt"/>
                <a:ea typeface="+mn-ea"/>
                <a:cs typeface="+mn-cs"/>
              </a:rPr>
              <a:t>2. First we fix the data by dealing with missing information putting categories into numbers and finding values that do not make sense.</a:t>
            </a:r>
          </a:p>
          <a:p>
            <a:r>
              <a:rPr lang="en-US" sz="1200" b="0" i="0" kern="1200" dirty="0">
                <a:solidFill>
                  <a:schemeClr val="tx1"/>
                </a:solidFill>
                <a:effectLst/>
                <a:latin typeface="+mn-lt"/>
                <a:ea typeface="+mn-ea"/>
                <a:cs typeface="+mn-cs"/>
              </a:rPr>
              <a:t>3. Next we look at the data to see what it tells us using pictures and heatmaps to understand what is going on in the data.</a:t>
            </a:r>
          </a:p>
          <a:p>
            <a:r>
              <a:rPr lang="en-US" sz="1200" b="0" i="0" kern="1200" dirty="0">
                <a:solidFill>
                  <a:schemeClr val="tx1"/>
                </a:solidFill>
                <a:effectLst/>
                <a:latin typeface="+mn-lt"/>
                <a:ea typeface="+mn-ea"/>
                <a:cs typeface="+mn-cs"/>
              </a:rPr>
              <a:t>4. We make new information like income and how much money people make compared to how much they want to borrow to make our predictions better.</a:t>
            </a:r>
          </a:p>
          <a:p>
            <a:r>
              <a:rPr lang="en-US" sz="1200" b="0" i="0" kern="1200" dirty="0">
                <a:solidFill>
                  <a:schemeClr val="tx1"/>
                </a:solidFill>
                <a:effectLst/>
                <a:latin typeface="+mn-lt"/>
                <a:ea typeface="+mn-ea"/>
                <a:cs typeface="+mn-cs"/>
              </a:rPr>
              <a:t>5. We try ways to make predictions, like Logistic Regression, Decision Tree, Random Forest and </a:t>
            </a:r>
            <a:r>
              <a:rPr lang="en-US" sz="1200" b="0" i="0" kern="1200" dirty="0" err="1">
                <a:solidFill>
                  <a:schemeClr val="tx1"/>
                </a:solidFill>
                <a:effectLst/>
                <a:latin typeface="+mn-lt"/>
                <a:ea typeface="+mn-ea"/>
                <a:cs typeface="+mn-cs"/>
              </a:rPr>
              <a:t>XGBoost</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6. Finally we see how good our predictions are by looking at how we are right how precise we are, how well we find all the right answers how good our predictions are overall and how well we can tell the difference between yes and no using things, like accuracy, precision, recall, F1-score and ROC-AUC to evaluate the loan records predictions.</a:t>
            </a:r>
          </a:p>
          <a:p>
            <a:endParaRPr lang="en-US" dirty="0"/>
          </a:p>
        </p:txBody>
      </p:sp>
      <p:sp>
        <p:nvSpPr>
          <p:cNvPr id="4" name="Slide Number Placeholder 3"/>
          <p:cNvSpPr>
            <a:spLocks noGrp="1"/>
          </p:cNvSpPr>
          <p:nvPr>
            <p:ph type="sldNum" sz="quarter" idx="5"/>
          </p:nvPr>
        </p:nvSpPr>
        <p:spPr/>
        <p:txBody>
          <a:bodyPr/>
          <a:lstStyle/>
          <a:p>
            <a:fld id="{BCEA5B61-80C3-B440-A8F3-891094A90805}" type="slidenum">
              <a:rPr lang="en-US" smtClean="0"/>
              <a:t>5</a:t>
            </a:fld>
            <a:endParaRPr lang="en-US"/>
          </a:p>
        </p:txBody>
      </p:sp>
    </p:spTree>
    <p:extLst>
      <p:ext uri="{BB962C8B-B14F-4D97-AF65-F5344CB8AC3E}">
        <p14:creationId xmlns:p14="http://schemas.microsoft.com/office/powerpoint/2010/main" val="3319268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is about the missing values in the dataset.</a:t>
            </a:r>
          </a:p>
          <a:p>
            <a:r>
              <a:rPr lang="en-US" sz="1200" b="0" i="0" kern="1200" dirty="0">
                <a:solidFill>
                  <a:schemeClr val="tx1"/>
                </a:solidFill>
                <a:effectLst/>
                <a:latin typeface="+mn-lt"/>
                <a:ea typeface="+mn-ea"/>
                <a:cs typeface="+mn-cs"/>
              </a:rPr>
              <a:t>1. The chart says that Credit History has the missing values, with 50 records missing. This really matters because Credit History is a part of predicting loan approval.</a:t>
            </a:r>
          </a:p>
          <a:p>
            <a:r>
              <a:rPr lang="en-US" sz="1200" b="0" i="0" kern="1200" dirty="0">
                <a:solidFill>
                  <a:schemeClr val="tx1"/>
                </a:solidFill>
                <a:effectLst/>
                <a:latin typeface="+mn-lt"/>
                <a:ea typeface="+mn-ea"/>
                <a:cs typeface="+mn-cs"/>
              </a:rPr>
              <a:t>2. Credit History is very important. It has a lot of missing values. </a:t>
            </a:r>
            <a:r>
              <a:rPr lang="en-US" sz="1200" b="0" i="0" kern="1200" dirty="0" err="1">
                <a:solidFill>
                  <a:schemeClr val="tx1"/>
                </a:solidFill>
                <a:effectLst/>
                <a:latin typeface="+mn-lt"/>
                <a:ea typeface="+mn-ea"/>
                <a:cs typeface="+mn-cs"/>
              </a:rPr>
              <a:t>Self_Employed</a:t>
            </a:r>
            <a:r>
              <a:rPr lang="en-US" sz="1200" b="0" i="0" kern="1200" dirty="0">
                <a:solidFill>
                  <a:schemeClr val="tx1"/>
                </a:solidFill>
                <a:effectLst/>
                <a:latin typeface="+mn-lt"/>
                <a:ea typeface="+mn-ea"/>
                <a:cs typeface="+mn-cs"/>
              </a:rPr>
              <a:t> also has a lot of missing values with 32 records missing.</a:t>
            </a:r>
          </a:p>
          <a:p>
            <a:r>
              <a:rPr lang="en-US" sz="1200" b="0" i="0" kern="1200" dirty="0">
                <a:solidFill>
                  <a:schemeClr val="tx1"/>
                </a:solidFill>
                <a:effectLst/>
                <a:latin typeface="+mn-lt"/>
                <a:ea typeface="+mn-ea"/>
                <a:cs typeface="+mn-cs"/>
              </a:rPr>
              <a:t>3. </a:t>
            </a:r>
            <a:r>
              <a:rPr lang="en-US" sz="1200" b="0" i="0" kern="1200" dirty="0" err="1">
                <a:solidFill>
                  <a:schemeClr val="tx1"/>
                </a:solidFill>
                <a:effectLst/>
                <a:latin typeface="+mn-lt"/>
                <a:ea typeface="+mn-ea"/>
                <a:cs typeface="+mn-cs"/>
              </a:rPr>
              <a:t>LoanAmount</a:t>
            </a:r>
            <a:r>
              <a:rPr lang="en-US" sz="1200" b="0" i="0" kern="1200" dirty="0">
                <a:solidFill>
                  <a:schemeClr val="tx1"/>
                </a:solidFill>
                <a:effectLst/>
                <a:latin typeface="+mn-lt"/>
                <a:ea typeface="+mn-ea"/>
                <a:cs typeface="+mn-cs"/>
              </a:rPr>
              <a:t> is missing 22 values and Dependents and Loan Amount Term and Gender are missing a values.</a:t>
            </a:r>
          </a:p>
          <a:p>
            <a:r>
              <a:rPr lang="en-US" sz="1200" b="0" i="0" kern="1200" dirty="0">
                <a:solidFill>
                  <a:schemeClr val="tx1"/>
                </a:solidFill>
                <a:effectLst/>
                <a:latin typeface="+mn-lt"/>
                <a:ea typeface="+mn-ea"/>
                <a:cs typeface="+mn-cs"/>
              </a:rPr>
              <a:t>4. Some parts of the dataset like Education and </a:t>
            </a:r>
            <a:r>
              <a:rPr lang="en-US" sz="1200" b="0" i="0" kern="1200" dirty="0" err="1">
                <a:solidFill>
                  <a:schemeClr val="tx1"/>
                </a:solidFill>
                <a:effectLst/>
                <a:latin typeface="+mn-lt"/>
                <a:ea typeface="+mn-ea"/>
                <a:cs typeface="+mn-cs"/>
              </a:rPr>
              <a:t>ApplicantIncome</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CoapplicantIncome</a:t>
            </a:r>
            <a:r>
              <a:rPr lang="en-US" sz="1200" b="0" i="0" kern="1200" dirty="0">
                <a:solidFill>
                  <a:schemeClr val="tx1"/>
                </a:solidFill>
                <a:effectLst/>
                <a:latin typeface="+mn-lt"/>
                <a:ea typeface="+mn-ea"/>
                <a:cs typeface="+mn-cs"/>
              </a:rPr>
              <a:t> and Property Area and Loan Status do not have any values.</a:t>
            </a:r>
          </a:p>
          <a:p>
            <a:r>
              <a:rPr lang="en-US" sz="1200" b="0" i="0" kern="1200" dirty="0">
                <a:solidFill>
                  <a:schemeClr val="tx1"/>
                </a:solidFill>
                <a:effectLst/>
                <a:latin typeface="+mn-lt"/>
                <a:ea typeface="+mn-ea"/>
                <a:cs typeface="+mn-cs"/>
              </a:rPr>
              <a:t>5. To get the data ready for modeling we fill in the missing values using methods like mode or median or special imputation techniques, for the Credit History and other parts of the dataset.</a:t>
            </a:r>
          </a:p>
          <a:p>
            <a:endParaRPr lang="en-US" dirty="0"/>
          </a:p>
        </p:txBody>
      </p:sp>
      <p:sp>
        <p:nvSpPr>
          <p:cNvPr id="4" name="Slide Number Placeholder 3"/>
          <p:cNvSpPr>
            <a:spLocks noGrp="1"/>
          </p:cNvSpPr>
          <p:nvPr>
            <p:ph type="sldNum" sz="quarter" idx="5"/>
          </p:nvPr>
        </p:nvSpPr>
        <p:spPr/>
        <p:txBody>
          <a:bodyPr/>
          <a:lstStyle/>
          <a:p>
            <a:fld id="{BCEA5B61-80C3-B440-A8F3-891094A90805}" type="slidenum">
              <a:rPr lang="en-US" smtClean="0"/>
              <a:t>6</a:t>
            </a:fld>
            <a:endParaRPr lang="en-US"/>
          </a:p>
        </p:txBody>
      </p:sp>
    </p:spTree>
    <p:extLst>
      <p:ext uri="{BB962C8B-B14F-4D97-AF65-F5344CB8AC3E}">
        <p14:creationId xmlns:p14="http://schemas.microsoft.com/office/powerpoint/2010/main" val="4224437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Century Gothic" panose="020B0502020202020204" pitchFamily="34" charset="0"/>
              </a:rPr>
              <a:t>This slide is about the loan approval distribution.</a:t>
            </a:r>
          </a:p>
          <a:p>
            <a:endParaRPr lang="en-US" b="0" i="0" dirty="0">
              <a:latin typeface="Century Gothic" panose="020B0502020202020204" pitchFamily="34" charset="0"/>
            </a:endParaRPr>
          </a:p>
          <a:p>
            <a:r>
              <a:rPr lang="en-US" b="0" i="0" dirty="0">
                <a:latin typeface="Century Gothic" panose="020B0502020202020204" pitchFamily="34" charset="0"/>
              </a:rPr>
              <a:t>It tells us how many loans were approved and how many were rejected.</a:t>
            </a:r>
          </a:p>
          <a:p>
            <a:endParaRPr lang="en-US" b="0" i="0" dirty="0">
              <a:latin typeface="Century Gothic" panose="020B0502020202020204" pitchFamily="34" charset="0"/>
            </a:endParaRPr>
          </a:p>
          <a:p>
            <a:r>
              <a:rPr lang="en-US" b="0" i="0" dirty="0">
                <a:latin typeface="Century Gothic" panose="020B0502020202020204" pitchFamily="34" charset="0"/>
              </a:rPr>
              <a:t>There are 422 loans that were approved this is 71 percent of all the loans we have.</a:t>
            </a:r>
          </a:p>
          <a:p>
            <a:endParaRPr lang="en-US" b="0" i="0" dirty="0">
              <a:latin typeface="Century Gothic" panose="020B0502020202020204" pitchFamily="34" charset="0"/>
            </a:endParaRPr>
          </a:p>
          <a:p>
            <a:r>
              <a:rPr lang="en-US" b="0" i="0" dirty="0">
                <a:latin typeface="Century Gothic" panose="020B0502020202020204" pitchFamily="34" charset="0"/>
              </a:rPr>
              <a:t>On the hand there are 176 loans that were rejected this is 29 percent of all the loans we have.</a:t>
            </a:r>
          </a:p>
          <a:p>
            <a:endParaRPr lang="en-US" b="0" i="0" dirty="0">
              <a:latin typeface="Century Gothic" panose="020B0502020202020204" pitchFamily="34" charset="0"/>
            </a:endParaRPr>
          </a:p>
          <a:p>
            <a:r>
              <a:rPr lang="en-US" b="0" i="0" dirty="0">
                <a:latin typeface="Century Gothic" panose="020B0502020202020204" pitchFamily="34" charset="0"/>
              </a:rPr>
              <a:t>Loan approvals are more common than loan rejections.</a:t>
            </a:r>
          </a:p>
          <a:p>
            <a:endParaRPr lang="en-US" b="0" i="0" dirty="0">
              <a:latin typeface="Century Gothic" panose="020B0502020202020204" pitchFamily="34" charset="0"/>
            </a:endParaRPr>
          </a:p>
          <a:p>
            <a:r>
              <a:rPr lang="en-US" b="0" i="0" dirty="0">
                <a:latin typeface="Century Gothic" panose="020B0502020202020204" pitchFamily="34" charset="0"/>
              </a:rPr>
              <a:t>When we know this information about loan approvals and loan rejections it helps us understand the loan data before we build the prediction model, for loan approvals and loan rejections.</a:t>
            </a:r>
          </a:p>
        </p:txBody>
      </p:sp>
      <p:sp>
        <p:nvSpPr>
          <p:cNvPr id="4" name="Slide Number Placeholder 3"/>
          <p:cNvSpPr>
            <a:spLocks noGrp="1"/>
          </p:cNvSpPr>
          <p:nvPr>
            <p:ph type="sldNum" sz="quarter" idx="5"/>
          </p:nvPr>
        </p:nvSpPr>
        <p:spPr/>
        <p:txBody>
          <a:bodyPr/>
          <a:lstStyle/>
          <a:p>
            <a:fld id="{BCEA5B61-80C3-B440-A8F3-891094A90805}" type="slidenum">
              <a:rPr lang="en-US" smtClean="0"/>
              <a:t>7</a:t>
            </a:fld>
            <a:endParaRPr lang="en-US"/>
          </a:p>
        </p:txBody>
      </p:sp>
    </p:spTree>
    <p:extLst>
      <p:ext uri="{BB962C8B-B14F-4D97-AF65-F5344CB8AC3E}">
        <p14:creationId xmlns:p14="http://schemas.microsoft.com/office/powerpoint/2010/main" val="2050774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Century Gothic" panose="020B0502020202020204" pitchFamily="34" charset="0"/>
              </a:rPr>
              <a:t>This slide shows us how many loans get approved for kinds of people.</a:t>
            </a:r>
          </a:p>
          <a:p>
            <a:endParaRPr lang="en-US" b="0" i="0" dirty="0">
              <a:latin typeface="Century Gothic" panose="020B0502020202020204" pitchFamily="34" charset="0"/>
            </a:endParaRPr>
          </a:p>
          <a:p>
            <a:r>
              <a:rPr lang="en-US" b="0" i="0" dirty="0">
                <a:latin typeface="Century Gothic" panose="020B0502020202020204" pitchFamily="34" charset="0"/>
              </a:rPr>
              <a:t>The chart looks at how loans are approved for different groups like men and women married or single people, how much education someone has what kind of job they have and where they live.</a:t>
            </a:r>
          </a:p>
          <a:p>
            <a:endParaRPr lang="en-US" b="0" i="0" dirty="0">
              <a:latin typeface="Century Gothic" panose="020B0502020202020204" pitchFamily="34" charset="0"/>
            </a:endParaRPr>
          </a:p>
          <a:p>
            <a:r>
              <a:rPr lang="en-US" b="0" i="0" dirty="0">
                <a:latin typeface="Century Gothic" panose="020B0502020202020204" pitchFamily="34" charset="0"/>
              </a:rPr>
              <a:t>Men who apply for loans get approved a little often than women who apply.</a:t>
            </a:r>
          </a:p>
          <a:p>
            <a:endParaRPr lang="en-US" b="0" i="0" dirty="0">
              <a:latin typeface="Century Gothic" panose="020B0502020202020204" pitchFamily="34" charset="0"/>
            </a:endParaRPr>
          </a:p>
          <a:p>
            <a:r>
              <a:rPr lang="en-US" b="0" i="0" dirty="0">
                <a:latin typeface="Century Gothic" panose="020B0502020202020204" pitchFamily="34" charset="0"/>
              </a:rPr>
              <a:t>Looking at this information helps us figure out which groups of people are more or less likely to get a loan approved.</a:t>
            </a:r>
          </a:p>
          <a:p>
            <a:endParaRPr lang="en-US" b="0" i="0" dirty="0">
              <a:latin typeface="Century Gothic" panose="020B0502020202020204" pitchFamily="34" charset="0"/>
            </a:endParaRPr>
          </a:p>
          <a:p>
            <a:r>
              <a:rPr lang="en-US" b="0" i="0" dirty="0">
                <a:latin typeface="Century Gothic" panose="020B0502020202020204" pitchFamily="34" charset="0"/>
              </a:rPr>
              <a:t>This information is really useful for understanding what our customers are like and for making our predictions, about loans better.</a:t>
            </a:r>
          </a:p>
        </p:txBody>
      </p:sp>
      <p:sp>
        <p:nvSpPr>
          <p:cNvPr id="4" name="Slide Number Placeholder 3"/>
          <p:cNvSpPr>
            <a:spLocks noGrp="1"/>
          </p:cNvSpPr>
          <p:nvPr>
            <p:ph type="sldNum" sz="quarter" idx="5"/>
          </p:nvPr>
        </p:nvSpPr>
        <p:spPr/>
        <p:txBody>
          <a:bodyPr/>
          <a:lstStyle/>
          <a:p>
            <a:fld id="{BCEA5B61-80C3-B440-A8F3-891094A90805}" type="slidenum">
              <a:rPr lang="en-US" smtClean="0"/>
              <a:t>8</a:t>
            </a:fld>
            <a:endParaRPr lang="en-US"/>
          </a:p>
        </p:txBody>
      </p:sp>
    </p:spTree>
    <p:extLst>
      <p:ext uri="{BB962C8B-B14F-4D97-AF65-F5344CB8AC3E}">
        <p14:creationId xmlns:p14="http://schemas.microsoft.com/office/powerpoint/2010/main" val="2145957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latin typeface="Century Gothic" panose="020B0502020202020204" pitchFamily="34" charset="0"/>
              </a:rPr>
              <a:t>This slide is about loan approval rates for groups of people.</a:t>
            </a:r>
          </a:p>
          <a:p>
            <a:endParaRPr lang="en-US" b="0" i="0" dirty="0">
              <a:latin typeface="Century Gothic" panose="020B0502020202020204" pitchFamily="34" charset="0"/>
            </a:endParaRPr>
          </a:p>
          <a:p>
            <a:r>
              <a:rPr lang="en-US" b="0" i="0" dirty="0">
                <a:latin typeface="Century Gothic" panose="020B0502020202020204" pitchFamily="34" charset="0"/>
              </a:rPr>
              <a:t>Loan approval rates are a little higher for applicants than for female applicants.</a:t>
            </a:r>
          </a:p>
          <a:p>
            <a:endParaRPr lang="en-US" b="0" i="0" dirty="0">
              <a:latin typeface="Century Gothic" panose="020B0502020202020204" pitchFamily="34" charset="0"/>
            </a:endParaRPr>
          </a:p>
          <a:p>
            <a:r>
              <a:rPr lang="en-US" b="0" i="0" dirty="0">
                <a:latin typeface="Century Gothic" panose="020B0502020202020204" pitchFamily="34" charset="0"/>
              </a:rPr>
              <a:t>When we look at loan approval rates for people and single people we see that married people get approved more often.</a:t>
            </a:r>
          </a:p>
          <a:p>
            <a:endParaRPr lang="en-US" b="0" i="0" dirty="0">
              <a:latin typeface="Century Gothic" panose="020B0502020202020204" pitchFamily="34" charset="0"/>
            </a:endParaRPr>
          </a:p>
          <a:p>
            <a:r>
              <a:rPr lang="en-US" b="0" i="0" dirty="0">
                <a:latin typeface="Century Gothic" panose="020B0502020202020204" pitchFamily="34" charset="0"/>
              </a:rPr>
              <a:t>People who finished college have a chance of getting a loan than people who did not finish college.</a:t>
            </a:r>
          </a:p>
          <a:p>
            <a:endParaRPr lang="en-US" b="0" i="0" dirty="0">
              <a:latin typeface="Century Gothic" panose="020B0502020202020204" pitchFamily="34" charset="0"/>
            </a:endParaRPr>
          </a:p>
          <a:p>
            <a:r>
              <a:rPr lang="en-US" b="0" i="0" dirty="0">
                <a:latin typeface="Century Gothic" panose="020B0502020202020204" pitchFamily="34" charset="0"/>
              </a:rPr>
              <a:t>If we look at where people live we see that people who live in areas get approved the most.</a:t>
            </a:r>
          </a:p>
          <a:p>
            <a:endParaRPr lang="en-US" b="0" i="0" dirty="0">
              <a:latin typeface="Century Gothic" panose="020B0502020202020204" pitchFamily="34" charset="0"/>
            </a:endParaRPr>
          </a:p>
          <a:p>
            <a:r>
              <a:rPr lang="en-US" b="0" i="0" dirty="0">
                <a:latin typeface="Century Gothic" panose="020B0502020202020204" pitchFamily="34" charset="0"/>
              </a:rPr>
              <a:t>The thing that matters the most for loan approval is credit history.</a:t>
            </a:r>
          </a:p>
          <a:p>
            <a:endParaRPr lang="en-US" b="0" i="0" dirty="0">
              <a:latin typeface="Century Gothic" panose="020B0502020202020204" pitchFamily="34" charset="0"/>
            </a:endParaRPr>
          </a:p>
          <a:p>
            <a:r>
              <a:rPr lang="en-US" b="0" i="0" dirty="0">
                <a:latin typeface="Century Gothic" panose="020B0502020202020204" pitchFamily="34" charset="0"/>
              </a:rPr>
              <a:t>If you have a credit history it is much easier to get a loan because a good credit history really helps with loan approval, for loan applicants.</a:t>
            </a:r>
          </a:p>
        </p:txBody>
      </p:sp>
      <p:sp>
        <p:nvSpPr>
          <p:cNvPr id="4" name="Slide Number Placeholder 3"/>
          <p:cNvSpPr>
            <a:spLocks noGrp="1"/>
          </p:cNvSpPr>
          <p:nvPr>
            <p:ph type="sldNum" sz="quarter" idx="5"/>
          </p:nvPr>
        </p:nvSpPr>
        <p:spPr/>
        <p:txBody>
          <a:bodyPr/>
          <a:lstStyle/>
          <a:p>
            <a:fld id="{BCEA5B61-80C3-B440-A8F3-891094A90805}" type="slidenum">
              <a:rPr lang="en-US" smtClean="0"/>
              <a:t>9</a:t>
            </a:fld>
            <a:endParaRPr lang="en-US"/>
          </a:p>
        </p:txBody>
      </p:sp>
    </p:spTree>
    <p:extLst>
      <p:ext uri="{BB962C8B-B14F-4D97-AF65-F5344CB8AC3E}">
        <p14:creationId xmlns:p14="http://schemas.microsoft.com/office/powerpoint/2010/main" val="887470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that credit history is the strongest factor in loan approval.</a:t>
            </a:r>
          </a:p>
          <a:p>
            <a:r>
              <a:rPr lang="en-US" dirty="0"/>
              <a:t>1. Applicants with good credit history have about an 80% approval rate.</a:t>
            </a:r>
          </a:p>
          <a:p>
            <a:r>
              <a:rPr lang="en-US" dirty="0"/>
              <a:t>2. Applicants with bad credit history have only about an 8% approval rate.</a:t>
            </a:r>
          </a:p>
          <a:p>
            <a:r>
              <a:rPr lang="en-US" dirty="0"/>
              <a:t>3. The second chart also shows that most approved loans come from applicants with good credit history.</a:t>
            </a:r>
          </a:p>
          <a:p>
            <a:r>
              <a:rPr lang="en-US" dirty="0"/>
              <a:t>4. This means credit history is the most important predictor in the loan approval model.</a:t>
            </a:r>
          </a:p>
          <a:p>
            <a:endParaRPr lang="en-US" dirty="0"/>
          </a:p>
        </p:txBody>
      </p:sp>
      <p:sp>
        <p:nvSpPr>
          <p:cNvPr id="4" name="Slide Number Placeholder 3"/>
          <p:cNvSpPr>
            <a:spLocks noGrp="1"/>
          </p:cNvSpPr>
          <p:nvPr>
            <p:ph type="sldNum" sz="quarter" idx="5"/>
          </p:nvPr>
        </p:nvSpPr>
        <p:spPr/>
        <p:txBody>
          <a:bodyPr/>
          <a:lstStyle/>
          <a:p>
            <a:fld id="{BCEA5B61-80C3-B440-A8F3-891094A90805}" type="slidenum">
              <a:rPr lang="en-US" smtClean="0"/>
              <a:t>10</a:t>
            </a:fld>
            <a:endParaRPr lang="en-US"/>
          </a:p>
        </p:txBody>
      </p:sp>
    </p:spTree>
    <p:extLst>
      <p:ext uri="{BB962C8B-B14F-4D97-AF65-F5344CB8AC3E}">
        <p14:creationId xmlns:p14="http://schemas.microsoft.com/office/powerpoint/2010/main" val="2066215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income, loan amount, and loan term patterns.</a:t>
            </a:r>
          </a:p>
          <a:p>
            <a:r>
              <a:rPr lang="en-US" dirty="0"/>
              <a:t>1. Approved applicants have slightly higher applicant income and total income than rejected applicants.</a:t>
            </a:r>
          </a:p>
          <a:p>
            <a:r>
              <a:rPr lang="en-US" dirty="0"/>
              <a:t>2. Rejected applicants have a slightly higher average loan amount.</a:t>
            </a:r>
          </a:p>
          <a:p>
            <a:r>
              <a:rPr lang="en-US" dirty="0"/>
              <a:t>3. Approved applicants also have slightly longer loan terms.</a:t>
            </a:r>
          </a:p>
          <a:p>
            <a:r>
              <a:rPr lang="en-US" dirty="0"/>
              <a:t>Overall, income and loan amount affect loan approval, but they are not the strongest factors in the model.</a:t>
            </a:r>
          </a:p>
          <a:p>
            <a:endParaRPr lang="en-US" dirty="0"/>
          </a:p>
        </p:txBody>
      </p:sp>
      <p:sp>
        <p:nvSpPr>
          <p:cNvPr id="4" name="Slide Number Placeholder 3"/>
          <p:cNvSpPr>
            <a:spLocks noGrp="1"/>
          </p:cNvSpPr>
          <p:nvPr>
            <p:ph type="sldNum" sz="quarter" idx="5"/>
          </p:nvPr>
        </p:nvSpPr>
        <p:spPr/>
        <p:txBody>
          <a:bodyPr/>
          <a:lstStyle/>
          <a:p>
            <a:fld id="{BCEA5B61-80C3-B440-A8F3-891094A90805}" type="slidenum">
              <a:rPr lang="en-US" smtClean="0"/>
              <a:t>11</a:t>
            </a:fld>
            <a:endParaRPr lang="en-US"/>
          </a:p>
        </p:txBody>
      </p:sp>
    </p:spTree>
    <p:extLst>
      <p:ext uri="{BB962C8B-B14F-4D97-AF65-F5344CB8AC3E}">
        <p14:creationId xmlns:p14="http://schemas.microsoft.com/office/powerpoint/2010/main" val="1211607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correlation between features and loan approval.</a:t>
            </a:r>
          </a:p>
          <a:p>
            <a:r>
              <a:rPr lang="en-US" dirty="0"/>
              <a:t>1. Credit history has the strongest positive relationship with loan approval.</a:t>
            </a:r>
          </a:p>
          <a:p>
            <a:r>
              <a:rPr lang="en-US" dirty="0"/>
              <a:t>2. Total income and applicant income have a small positive effect.</a:t>
            </a:r>
          </a:p>
          <a:p>
            <a:r>
              <a:rPr lang="en-US" dirty="0"/>
              <a:t>3. Loan amount and dependents have a slight negative effect on approval.</a:t>
            </a:r>
          </a:p>
          <a:p>
            <a:r>
              <a:rPr lang="en-US" dirty="0"/>
              <a:t>Overall, credit history is the most important feature in predicting loan approval.</a:t>
            </a:r>
          </a:p>
          <a:p>
            <a:endParaRPr lang="en-US" dirty="0"/>
          </a:p>
        </p:txBody>
      </p:sp>
      <p:sp>
        <p:nvSpPr>
          <p:cNvPr id="4" name="Slide Number Placeholder 3"/>
          <p:cNvSpPr>
            <a:spLocks noGrp="1"/>
          </p:cNvSpPr>
          <p:nvPr>
            <p:ph type="sldNum" sz="quarter" idx="5"/>
          </p:nvPr>
        </p:nvSpPr>
        <p:spPr/>
        <p:txBody>
          <a:bodyPr/>
          <a:lstStyle/>
          <a:p>
            <a:fld id="{BCEA5B61-80C3-B440-A8F3-891094A90805}" type="slidenum">
              <a:rPr lang="en-US" smtClean="0"/>
              <a:t>12</a:t>
            </a:fld>
            <a:endParaRPr lang="en-US"/>
          </a:p>
        </p:txBody>
      </p:sp>
    </p:spTree>
    <p:extLst>
      <p:ext uri="{BB962C8B-B14F-4D97-AF65-F5344CB8AC3E}">
        <p14:creationId xmlns:p14="http://schemas.microsoft.com/office/powerpoint/2010/main" val="4170890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main findings of the project.</a:t>
            </a:r>
          </a:p>
          <a:p>
            <a:r>
              <a:rPr lang="en-US" dirty="0"/>
              <a:t>1. Credit history is the most important factor in loan approval.</a:t>
            </a:r>
          </a:p>
          <a:p>
            <a:r>
              <a:rPr lang="en-US" dirty="0"/>
              <a:t>2. Semiurban applicants have the highest approval rates.</a:t>
            </a:r>
          </a:p>
          <a:p>
            <a:r>
              <a:rPr lang="en-US" dirty="0"/>
              <a:t>3. The dataset has more approved loans than rejected loans.</a:t>
            </a:r>
          </a:p>
          <a:p>
            <a:r>
              <a:rPr lang="en-US" dirty="0"/>
              <a:t>4. Some columns have missing values and need data cleaning.</a:t>
            </a:r>
          </a:p>
          <a:p>
            <a:r>
              <a:rPr lang="en-US" dirty="0"/>
              <a:t>5. Income has only a small effect on loan approval.</a:t>
            </a:r>
          </a:p>
          <a:p>
            <a:endParaRPr lang="en-US" dirty="0"/>
          </a:p>
        </p:txBody>
      </p:sp>
      <p:sp>
        <p:nvSpPr>
          <p:cNvPr id="4" name="Slide Number Placeholder 3"/>
          <p:cNvSpPr>
            <a:spLocks noGrp="1"/>
          </p:cNvSpPr>
          <p:nvPr>
            <p:ph type="sldNum" sz="quarter" idx="5"/>
          </p:nvPr>
        </p:nvSpPr>
        <p:spPr/>
        <p:txBody>
          <a:bodyPr/>
          <a:lstStyle/>
          <a:p>
            <a:fld id="{BCEA5B61-80C3-B440-A8F3-891094A90805}" type="slidenum">
              <a:rPr lang="en-US" smtClean="0"/>
              <a:t>13</a:t>
            </a:fld>
            <a:endParaRPr lang="en-US"/>
          </a:p>
        </p:txBody>
      </p:sp>
    </p:spTree>
    <p:extLst>
      <p:ext uri="{BB962C8B-B14F-4D97-AF65-F5344CB8AC3E}">
        <p14:creationId xmlns:p14="http://schemas.microsoft.com/office/powerpoint/2010/main" val="4248246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references include research papers</a:t>
            </a:r>
          </a:p>
        </p:txBody>
      </p:sp>
      <p:sp>
        <p:nvSpPr>
          <p:cNvPr id="4" name="Slide Number Placeholder 3"/>
          <p:cNvSpPr>
            <a:spLocks noGrp="1"/>
          </p:cNvSpPr>
          <p:nvPr>
            <p:ph type="sldNum" sz="quarter" idx="5"/>
          </p:nvPr>
        </p:nvSpPr>
        <p:spPr/>
        <p:txBody>
          <a:bodyPr/>
          <a:lstStyle/>
          <a:p>
            <a:fld id="{BCEA5B61-80C3-B440-A8F3-891094A90805}" type="slidenum">
              <a:rPr lang="en-US" smtClean="0"/>
              <a:t>14</a:t>
            </a:fld>
            <a:endParaRPr lang="en-US"/>
          </a:p>
        </p:txBody>
      </p:sp>
    </p:spTree>
    <p:extLst>
      <p:ext uri="{BB962C8B-B14F-4D97-AF65-F5344CB8AC3E}">
        <p14:creationId xmlns:p14="http://schemas.microsoft.com/office/powerpoint/2010/main" val="3543974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BCEA5B61-80C3-B440-A8F3-891094A90805}" type="slidenum">
              <a:rPr lang="en-US" smtClean="0"/>
              <a:t>15</a:t>
            </a:fld>
            <a:endParaRPr lang="en-US"/>
          </a:p>
        </p:txBody>
      </p:sp>
    </p:spTree>
    <p:extLst>
      <p:ext uri="{BB962C8B-B14F-4D97-AF65-F5344CB8AC3E}">
        <p14:creationId xmlns:p14="http://schemas.microsoft.com/office/powerpoint/2010/main" val="731014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2774CF-355E-664A-83A7-6E515976E4EF}" type="datetime1">
              <a:rPr lang="en-US" smtClean="0"/>
              <a:t>5/14/26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CFD4BE-574A-D14F-8EA6-41E544A14C1B}" type="datetime1">
              <a:rPr lang="en-US" smtClean="0"/>
              <a:t>5/14/26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9C5EF6-74A8-7F41-AE0C-D4F49985B047}" type="datetime1">
              <a:rPr lang="en-US" smtClean="0"/>
              <a:t>5/14/26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E6667D-2535-2A40-91A1-21C699D024F7}" type="datetime1">
              <a:rPr lang="en-US" smtClean="0"/>
              <a:t>5/14/26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A418CC9-4844-4344-9CEB-21DC9B71E74E}" type="datetime1">
              <a:rPr lang="en-US" smtClean="0"/>
              <a:t>5/14/26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71957E0-4091-C247-B5C1-B9719208972D}" type="datetime1">
              <a:rPr lang="en-US" smtClean="0"/>
              <a:t>5/14/26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BB0B2C-743F-564A-920B-06226665FF07}" type="datetime1">
              <a:rPr lang="en-US" smtClean="0"/>
              <a:t>5/14/26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C1174F-99B4-744D-8271-D2ABE4C61E85}" type="datetime1">
              <a:rPr lang="en-US" smtClean="0"/>
              <a:t>5/14/26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15A3F3-B1E0-684C-9A56-1EF06001CCF5}" type="datetime1">
              <a:rPr lang="en-US" smtClean="0"/>
              <a:t>5/14/26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08ECC-3142-2647-83D9-BC46F84D9017}" type="datetime1">
              <a:rPr lang="en-US" smtClean="0"/>
              <a:t>5/14/26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6F029D-03DE-F943-9D1C-B57CE3456C32}" type="datetime1">
              <a:rPr lang="en-US" smtClean="0"/>
              <a:t>5/14/26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FEDB3FE-4D4A-134A-BAB4-3DB2BE842C2C}" type="datetime1">
              <a:rPr lang="en-US" smtClean="0"/>
              <a:t>5/14/26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BE3427A-C66A-A848-A742-147020146026}" type="datetime1">
              <a:rPr lang="en-US" smtClean="0"/>
              <a:t>5/14/26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08A5A2A-E926-724B-AB77-945E09D7C778}" type="datetime1">
              <a:rPr lang="en-US" smtClean="0"/>
              <a:t>5/14/26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36A747F-6766-1947-9B6F-0E9D8F308429}" type="datetime1">
              <a:rPr lang="en-US" smtClean="0"/>
              <a:t>5/14/26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7BDDB2-5836-0E4F-BE1D-843103DDDD26}" type="datetime1">
              <a:rPr lang="en-US" smtClean="0"/>
              <a:t>5/14/26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p14:dur="50" advClick="0" advTm="2000">
        <p:sndAc>
          <p:stSnd>
            <p:snd r:embed="rId1" name="arrow.wav"/>
          </p:stSnd>
        </p:sndAc>
      </p:transition>
    </mc:Choice>
    <mc:Fallback xmlns="">
      <p:transition advClick="0" advTm="2000">
        <p:sndAc>
          <p:stSnd>
            <p:snd r:embed="rId3" name="arrow.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audio" Target="../media/audio1.wav"/><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A8E8AD6-97B3-7C44-9B0E-05E3AA9D53BA}" type="datetime1">
              <a:rPr lang="en-US" smtClean="0"/>
              <a:t>5/14/26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mc:AlternateContent xmlns:mc="http://schemas.openxmlformats.org/markup-compatibility/2006" xmlns:p14="http://schemas.microsoft.com/office/powerpoint/2010/main">
    <mc:Choice Requires="p14">
      <p:transition p14:dur="50" advClick="0" advTm="2000">
        <p:sndAc>
          <p:stSnd>
            <p:snd r:embed="rId18" name="arrow.wav"/>
          </p:stSnd>
        </p:sndAc>
      </p:transition>
    </mc:Choice>
    <mc:Fallback xmlns="">
      <p:transition advClick="0" advTm="2000">
        <p:sndAc>
          <p:stSnd>
            <p:snd r:embed="rId19" name="arrow.wav"/>
          </p:stSnd>
        </p:sndAc>
      </p:transition>
    </mc:Fallback>
  </mc:AlternateConten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audio" Target="../media/audio1.wav"/><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4.png"/><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5.png"/><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wav"/><Relationship Id="rId7" Type="http://schemas.openxmlformats.org/officeDocument/2006/relationships/diagramColors" Target="../diagrams/colors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23DB63C-C78F-E422-81D0-FF438567129F}"/>
              </a:ext>
            </a:extLst>
          </p:cNvPr>
          <p:cNvSpPr txBox="1"/>
          <p:nvPr/>
        </p:nvSpPr>
        <p:spPr>
          <a:xfrm>
            <a:off x="1248957" y="435634"/>
            <a:ext cx="9264792" cy="3785652"/>
          </a:xfrm>
          <a:prstGeom prst="rect">
            <a:avLst/>
          </a:prstGeom>
          <a:noFill/>
        </p:spPr>
        <p:txBody>
          <a:bodyPr wrap="square">
            <a:spAutoFit/>
          </a:bodyPr>
          <a:lstStyle/>
          <a:p>
            <a:pPr marL="457200" algn="ctr">
              <a:lnSpc>
                <a:spcPct val="150000"/>
              </a:lnSpc>
            </a:pPr>
            <a:r>
              <a:rPr lang="en-US" sz="2400" b="1" dirty="0">
                <a:latin typeface="Arial" panose="020B0604020202020204" pitchFamily="34" charset="0"/>
                <a:cs typeface="Arial" panose="020B0604020202020204" pitchFamily="34" charset="0"/>
              </a:rPr>
              <a:t>Data Science Practicum I</a:t>
            </a:r>
          </a:p>
          <a:p>
            <a:pPr marL="457200" algn="ctr">
              <a:lnSpc>
                <a:spcPct val="150000"/>
              </a:lnSpc>
            </a:pPr>
            <a:r>
              <a:rPr lang="en-US" sz="2400" b="1" dirty="0">
                <a:latin typeface="Arial" panose="020B0604020202020204" pitchFamily="34" charset="0"/>
                <a:cs typeface="Arial" panose="020B0604020202020204" pitchFamily="34" charset="0"/>
              </a:rPr>
              <a:t>Prakash Ghatani</a:t>
            </a:r>
          </a:p>
          <a:p>
            <a:pPr marL="457200" algn="ctr">
              <a:lnSpc>
                <a:spcPct val="150000"/>
              </a:lnSpc>
            </a:pPr>
            <a:r>
              <a:rPr lang="en-US" sz="2400" b="1" dirty="0">
                <a:latin typeface="Arial" panose="020B0604020202020204" pitchFamily="34" charset="0"/>
                <a:cs typeface="Arial" panose="020B0604020202020204" pitchFamily="34" charset="0"/>
              </a:rPr>
              <a:t>Regis University</a:t>
            </a:r>
          </a:p>
          <a:p>
            <a:pPr marL="457200" algn="ctr">
              <a:lnSpc>
                <a:spcPct val="150000"/>
              </a:lnSpc>
            </a:pPr>
            <a:r>
              <a:rPr lang="en-US" sz="2400" b="1" dirty="0">
                <a:latin typeface="Arial" panose="020B0604020202020204" pitchFamily="34" charset="0"/>
                <a:cs typeface="Arial" panose="020B0604020202020204" pitchFamily="34" charset="0"/>
              </a:rPr>
              <a:t>MSDS692_S40_Data Science Practicum</a:t>
            </a:r>
            <a:endParaRPr lang="en-US" sz="2400" b="1" u="sng" dirty="0">
              <a:latin typeface="Arial" panose="020B0604020202020204" pitchFamily="34" charset="0"/>
              <a:cs typeface="Arial" panose="020B0604020202020204" pitchFamily="34" charset="0"/>
            </a:endParaRPr>
          </a:p>
          <a:p>
            <a:pPr marL="457200" algn="ctr">
              <a:lnSpc>
                <a:spcPct val="150000"/>
              </a:lnSpc>
            </a:pPr>
            <a:r>
              <a:rPr lang="en-US" sz="2400" b="1" dirty="0">
                <a:latin typeface="Arial" panose="020B0604020202020204" pitchFamily="34" charset="0"/>
                <a:cs typeface="Arial" panose="020B0604020202020204" pitchFamily="34" charset="0"/>
              </a:rPr>
              <a:t>May 14, 2026</a:t>
            </a:r>
          </a:p>
          <a:p>
            <a:pPr marL="457200" algn="ctr">
              <a:lnSpc>
                <a:spcPct val="150000"/>
              </a:lnSpc>
            </a:pPr>
            <a:r>
              <a:rPr lang="en-US" sz="2400" b="1" dirty="0" err="1">
                <a:latin typeface="Arial" panose="020B0604020202020204" pitchFamily="34" charset="0"/>
                <a:cs typeface="Arial" panose="020B0604020202020204" pitchFamily="34" charset="0"/>
              </a:rPr>
              <a:t>pghatani@regis.edu</a:t>
            </a:r>
            <a:endParaRPr lang="en-US" sz="2400" b="1" dirty="0">
              <a:latin typeface="Arial" panose="020B0604020202020204" pitchFamily="34" charset="0"/>
              <a:cs typeface="Arial" panose="020B0604020202020204" pitchFamily="34" charset="0"/>
            </a:endParaRPr>
          </a:p>
          <a:p>
            <a:pPr algn="ct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4B8E1EB-1F88-BC35-93D4-1AC4DBD049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3905" y="3973669"/>
            <a:ext cx="7134896" cy="2357913"/>
          </a:xfrm>
          <a:prstGeom prst="rect">
            <a:avLst/>
          </a:prstGeom>
        </p:spPr>
      </p:pic>
      <p:sp>
        <p:nvSpPr>
          <p:cNvPr id="2" name="Slide Number Placeholder 1">
            <a:extLst>
              <a:ext uri="{FF2B5EF4-FFF2-40B4-BE49-F238E27FC236}">
                <a16:creationId xmlns:a16="http://schemas.microsoft.com/office/drawing/2014/main" id="{E69A8329-9943-74FB-9BF4-AEC8A694EB5C}"/>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
        <p:nvSpPr>
          <p:cNvPr id="5" name="Rectangle 2">
            <a:extLst>
              <a:ext uri="{FF2B5EF4-FFF2-40B4-BE49-F238E27FC236}">
                <a16:creationId xmlns:a16="http://schemas.microsoft.com/office/drawing/2014/main" id="{C2CAE098-B971-05C6-1BD3-0013D67D783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39AECABE-E4C1-FC78-2B63-280A82C02A00}"/>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6910246"/>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5" name="arrow.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12210-50E9-B1ED-0BD5-DC8046BB4967}"/>
              </a:ext>
            </a:extLst>
          </p:cNvPr>
          <p:cNvSpPr>
            <a:spLocks noGrp="1"/>
          </p:cNvSpPr>
          <p:nvPr>
            <p:ph type="title"/>
          </p:nvPr>
        </p:nvSpPr>
        <p:spPr/>
        <p:txBody>
          <a:bodyPr/>
          <a:lstStyle/>
          <a:p>
            <a:r>
              <a:rPr lang="en-US" b="1" dirty="0">
                <a:solidFill>
                  <a:schemeClr val="tx1"/>
                </a:solidFill>
                <a:latin typeface="Calibri" pitchFamily="34" charset="0"/>
                <a:ea typeface="Calibri" pitchFamily="34" charset="-122"/>
                <a:cs typeface="Calibri" pitchFamily="34" charset="-120"/>
              </a:rPr>
              <a:t>Notebook Structure &amp; Analysis Sections</a:t>
            </a:r>
            <a:br>
              <a:rPr lang="en-US" dirty="0">
                <a:solidFill>
                  <a:schemeClr val="tx1"/>
                </a:solidFill>
              </a:rPr>
            </a:br>
            <a:endParaRPr lang="en-US" dirty="0">
              <a:solidFill>
                <a:schemeClr val="tx1"/>
              </a:solidFill>
            </a:endParaRPr>
          </a:p>
        </p:txBody>
      </p:sp>
      <p:sp>
        <p:nvSpPr>
          <p:cNvPr id="3" name="Content Placeholder 2">
            <a:extLst>
              <a:ext uri="{FF2B5EF4-FFF2-40B4-BE49-F238E27FC236}">
                <a16:creationId xmlns:a16="http://schemas.microsoft.com/office/drawing/2014/main" id="{62F612E8-7FF6-44A6-410D-701349368FDD}"/>
              </a:ext>
            </a:extLst>
          </p:cNvPr>
          <p:cNvSpPr>
            <a:spLocks noGrp="1"/>
          </p:cNvSpPr>
          <p:nvPr>
            <p:ph idx="1"/>
          </p:nvPr>
        </p:nvSpPr>
        <p:spPr>
          <a:xfrm>
            <a:off x="1122947" y="1540189"/>
            <a:ext cx="10250906" cy="3777622"/>
          </a:xfrm>
        </p:spPr>
        <p:txBody>
          <a:bodyPr>
            <a:normAutofit/>
          </a:bodyPr>
          <a:lstStyle/>
          <a:p>
            <a:r>
              <a:rPr lang="en-US" b="1" dirty="0">
                <a:solidFill>
                  <a:srgbClr val="12274F"/>
                </a:solidFill>
                <a:latin typeface="Calibri" pitchFamily="34" charset="0"/>
                <a:ea typeface="Calibri" pitchFamily="34" charset="-122"/>
                <a:cs typeface="Calibri" pitchFamily="34" charset="-120"/>
              </a:rPr>
              <a:t>Basic Overview : </a:t>
            </a:r>
            <a:r>
              <a:rPr lang="en-US" dirty="0"/>
              <a:t>Check the data size, data types, missing values, loan approval counts, and data distributions like gender, education, and property area.</a:t>
            </a:r>
          </a:p>
          <a:p>
            <a:r>
              <a:rPr lang="en-US" b="1" dirty="0">
                <a:solidFill>
                  <a:srgbClr val="12274F"/>
                </a:solidFill>
                <a:latin typeface="Calibri" pitchFamily="34" charset="0"/>
                <a:ea typeface="Calibri" pitchFamily="34" charset="-122"/>
                <a:cs typeface="Calibri" pitchFamily="34" charset="-120"/>
              </a:rPr>
              <a:t>Approval Rate by Category : </a:t>
            </a:r>
            <a:r>
              <a:rPr lang="en-US" dirty="0"/>
              <a:t>Compare loan approval rates by gender, married status, education, self-employment, property area, credit history, and dependents.</a:t>
            </a:r>
            <a:endParaRPr lang="en-US" dirty="0">
              <a:latin typeface="Calibri" panose="020F0502020204030204" pitchFamily="34" charset="0"/>
              <a:cs typeface="Calibri" panose="020F0502020204030204" pitchFamily="34" charset="0"/>
            </a:endParaRPr>
          </a:p>
          <a:p>
            <a:r>
              <a:rPr lang="en-US" b="1" dirty="0">
                <a:solidFill>
                  <a:srgbClr val="12274F"/>
                </a:solidFill>
                <a:latin typeface="Calibri" pitchFamily="34" charset="0"/>
                <a:ea typeface="Calibri" pitchFamily="34" charset="-122"/>
                <a:cs typeface="Calibri" pitchFamily="34" charset="-120"/>
              </a:rPr>
              <a:t>Credit History Deep Dive : </a:t>
            </a:r>
            <a:r>
              <a:rPr lang="en-US" dirty="0"/>
              <a:t>Study how credit history affects loan approval. Credit history is an important factor in this project.</a:t>
            </a:r>
          </a:p>
          <a:p>
            <a:r>
              <a:rPr lang="en-US" b="1" dirty="0">
                <a:solidFill>
                  <a:srgbClr val="12274F"/>
                </a:solidFill>
                <a:latin typeface="Calibri" pitchFamily="34" charset="0"/>
                <a:ea typeface="Calibri" pitchFamily="34" charset="-122"/>
                <a:cs typeface="Calibri" pitchFamily="34" charset="-120"/>
              </a:rPr>
              <a:t>Income, Loan &amp; Term Patterns : </a:t>
            </a:r>
            <a:r>
              <a:rPr lang="en-US" dirty="0"/>
              <a:t>Analyze applicant income, co applicant income, total income, loan amount, and loan term.</a:t>
            </a:r>
          </a:p>
          <a:p>
            <a:r>
              <a:rPr lang="en-US" b="1" dirty="0">
                <a:solidFill>
                  <a:srgbClr val="12274F"/>
                </a:solidFill>
                <a:latin typeface="Calibri" pitchFamily="34" charset="0"/>
                <a:ea typeface="Calibri" pitchFamily="34" charset="-122"/>
                <a:cs typeface="Calibri" pitchFamily="34" charset="-120"/>
              </a:rPr>
              <a:t>Feature Correlations : </a:t>
            </a:r>
            <a:r>
              <a:rPr lang="en-US" dirty="0"/>
              <a:t>Check which features have the strongest relationship with loan approval. </a:t>
            </a:r>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30102B9-CFF8-94DC-C25F-37392A7785A0}"/>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667843170"/>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4" name="arrow.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7E42047-F7E7-4687-BBE0-D4BDC8E77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2" name="Group 11">
            <a:extLst>
              <a:ext uri="{FF2B5EF4-FFF2-40B4-BE49-F238E27FC236}">
                <a16:creationId xmlns:a16="http://schemas.microsoft.com/office/drawing/2014/main" id="{8D6F839A-C8D9-4FBC-8EFD-9E56D12F4C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906785" y="228600"/>
            <a:ext cx="2851523" cy="6638625"/>
            <a:chOff x="2487613" y="285750"/>
            <a:chExt cx="2428875" cy="5654676"/>
          </a:xfrm>
        </p:grpSpPr>
        <p:sp>
          <p:nvSpPr>
            <p:cNvPr id="13" name="Freeform 11">
              <a:extLst>
                <a:ext uri="{FF2B5EF4-FFF2-40B4-BE49-F238E27FC236}">
                  <a16:creationId xmlns:a16="http://schemas.microsoft.com/office/drawing/2014/main" id="{D1F0D09B-BA85-41B1-A8DE-73728B72E5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4" name="Freeform 12">
              <a:extLst>
                <a:ext uri="{FF2B5EF4-FFF2-40B4-BE49-F238E27FC236}">
                  <a16:creationId xmlns:a16="http://schemas.microsoft.com/office/drawing/2014/main" id="{FB2D0F0C-3A27-4FC3-A6A3-D2095D9B2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5" name="Freeform 13">
              <a:extLst>
                <a:ext uri="{FF2B5EF4-FFF2-40B4-BE49-F238E27FC236}">
                  <a16:creationId xmlns:a16="http://schemas.microsoft.com/office/drawing/2014/main" id="{FA1C69EF-E6E6-4BDD-B62F-637FC9F3C3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6" name="Freeform 14">
              <a:extLst>
                <a:ext uri="{FF2B5EF4-FFF2-40B4-BE49-F238E27FC236}">
                  <a16:creationId xmlns:a16="http://schemas.microsoft.com/office/drawing/2014/main" id="{75B4F36E-07F6-4E6F-A9D9-A7F6D9585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7" name="Freeform 15">
              <a:extLst>
                <a:ext uri="{FF2B5EF4-FFF2-40B4-BE49-F238E27FC236}">
                  <a16:creationId xmlns:a16="http://schemas.microsoft.com/office/drawing/2014/main" id="{7D9136C7-12F1-4F21-A438-ED7668DDF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8" name="Freeform 16">
              <a:extLst>
                <a:ext uri="{FF2B5EF4-FFF2-40B4-BE49-F238E27FC236}">
                  <a16:creationId xmlns:a16="http://schemas.microsoft.com/office/drawing/2014/main" id="{C718EF12-B769-45D9-9B6E-7AEAA3108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9" name="Freeform 17">
              <a:extLst>
                <a:ext uri="{FF2B5EF4-FFF2-40B4-BE49-F238E27FC236}">
                  <a16:creationId xmlns:a16="http://schemas.microsoft.com/office/drawing/2014/main" id="{534EAD53-3968-459E-B27C-09126A0FE3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20" name="Freeform 18">
              <a:extLst>
                <a:ext uri="{FF2B5EF4-FFF2-40B4-BE49-F238E27FC236}">
                  <a16:creationId xmlns:a16="http://schemas.microsoft.com/office/drawing/2014/main" id="{67658BFE-59E2-4A2D-9E8A-18F81C350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21" name="Freeform 19">
              <a:extLst>
                <a:ext uri="{FF2B5EF4-FFF2-40B4-BE49-F238E27FC236}">
                  <a16:creationId xmlns:a16="http://schemas.microsoft.com/office/drawing/2014/main" id="{3FEC8A9E-385D-4407-9671-E30238022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22" name="Freeform 20">
              <a:extLst>
                <a:ext uri="{FF2B5EF4-FFF2-40B4-BE49-F238E27FC236}">
                  <a16:creationId xmlns:a16="http://schemas.microsoft.com/office/drawing/2014/main" id="{EFC82234-632C-4B76-A8FF-2C9C0DCA6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23" name="Freeform 21">
              <a:extLst>
                <a:ext uri="{FF2B5EF4-FFF2-40B4-BE49-F238E27FC236}">
                  <a16:creationId xmlns:a16="http://schemas.microsoft.com/office/drawing/2014/main" id="{662A4DB3-C195-4230-953D-307E4100F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4" name="Freeform 22">
              <a:extLst>
                <a:ext uri="{FF2B5EF4-FFF2-40B4-BE49-F238E27FC236}">
                  <a16:creationId xmlns:a16="http://schemas.microsoft.com/office/drawing/2014/main" id="{94D310CF-9541-4CD7-855B-E2E1EF3437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6" name="Group 25">
            <a:extLst>
              <a:ext uri="{FF2B5EF4-FFF2-40B4-BE49-F238E27FC236}">
                <a16:creationId xmlns:a16="http://schemas.microsoft.com/office/drawing/2014/main" id="{70EDA856-A216-4EEC-9AB6-A59FFC703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7733" y="-786"/>
            <a:ext cx="2356675" cy="6854040"/>
            <a:chOff x="6627813" y="194833"/>
            <a:chExt cx="1952625" cy="5678918"/>
          </a:xfrm>
        </p:grpSpPr>
        <p:sp>
          <p:nvSpPr>
            <p:cNvPr id="27" name="Freeform 27">
              <a:extLst>
                <a:ext uri="{FF2B5EF4-FFF2-40B4-BE49-F238E27FC236}">
                  <a16:creationId xmlns:a16="http://schemas.microsoft.com/office/drawing/2014/main" id="{36F815B8-AFA8-45E9-A3D1-977F2D192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8" name="Freeform 28">
              <a:extLst>
                <a:ext uri="{FF2B5EF4-FFF2-40B4-BE49-F238E27FC236}">
                  <a16:creationId xmlns:a16="http://schemas.microsoft.com/office/drawing/2014/main" id="{5D8FF653-8B3F-4B96-904D-1A4482EAEE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9" name="Freeform 29">
              <a:extLst>
                <a:ext uri="{FF2B5EF4-FFF2-40B4-BE49-F238E27FC236}">
                  <a16:creationId xmlns:a16="http://schemas.microsoft.com/office/drawing/2014/main" id="{4DD2E775-AB45-4AF1-B5B7-54948CFB9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30" name="Freeform 30">
              <a:extLst>
                <a:ext uri="{FF2B5EF4-FFF2-40B4-BE49-F238E27FC236}">
                  <a16:creationId xmlns:a16="http://schemas.microsoft.com/office/drawing/2014/main" id="{7BDE7E7B-E3AA-4A24-8F9D-CE77C96CA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31" name="Freeform 31">
              <a:extLst>
                <a:ext uri="{FF2B5EF4-FFF2-40B4-BE49-F238E27FC236}">
                  <a16:creationId xmlns:a16="http://schemas.microsoft.com/office/drawing/2014/main" id="{D129CAA9-35E5-48CE-88AE-9806695CB8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32" name="Freeform 32">
              <a:extLst>
                <a:ext uri="{FF2B5EF4-FFF2-40B4-BE49-F238E27FC236}">
                  <a16:creationId xmlns:a16="http://schemas.microsoft.com/office/drawing/2014/main" id="{A73989FF-4EFF-4181-81A4-72EF2E67D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33" name="Freeform 33">
              <a:extLst>
                <a:ext uri="{FF2B5EF4-FFF2-40B4-BE49-F238E27FC236}">
                  <a16:creationId xmlns:a16="http://schemas.microsoft.com/office/drawing/2014/main" id="{8C2C17BD-8FA0-4F42-B2CD-5E5A9F542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4" name="Freeform 34">
              <a:extLst>
                <a:ext uri="{FF2B5EF4-FFF2-40B4-BE49-F238E27FC236}">
                  <a16:creationId xmlns:a16="http://schemas.microsoft.com/office/drawing/2014/main" id="{EEE99CF3-AD71-46FB-8E7D-67825F7816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5" name="Freeform 35">
              <a:extLst>
                <a:ext uri="{FF2B5EF4-FFF2-40B4-BE49-F238E27FC236}">
                  <a16:creationId xmlns:a16="http://schemas.microsoft.com/office/drawing/2014/main" id="{D0F9D5ED-7591-4E88-9FDA-4C1DC47E9D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6" name="Freeform 36">
              <a:extLst>
                <a:ext uri="{FF2B5EF4-FFF2-40B4-BE49-F238E27FC236}">
                  <a16:creationId xmlns:a16="http://schemas.microsoft.com/office/drawing/2014/main" id="{88FA7C13-D80D-4514-B9DB-87AE076ACE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7" name="Freeform 37">
              <a:extLst>
                <a:ext uri="{FF2B5EF4-FFF2-40B4-BE49-F238E27FC236}">
                  <a16:creationId xmlns:a16="http://schemas.microsoft.com/office/drawing/2014/main" id="{202C78DF-D842-450B-A87D-E035719E4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8" name="Freeform 38">
              <a:extLst>
                <a:ext uri="{FF2B5EF4-FFF2-40B4-BE49-F238E27FC236}">
                  <a16:creationId xmlns:a16="http://schemas.microsoft.com/office/drawing/2014/main" id="{A4789F83-2423-47F8-8958-48E477BAE0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2" name="Title 1">
            <a:extLst>
              <a:ext uri="{FF2B5EF4-FFF2-40B4-BE49-F238E27FC236}">
                <a16:creationId xmlns:a16="http://schemas.microsoft.com/office/drawing/2014/main" id="{6A53E69A-2CC3-100B-F488-AE22CA122E51}"/>
              </a:ext>
            </a:extLst>
          </p:cNvPr>
          <p:cNvSpPr>
            <a:spLocks noGrp="1"/>
          </p:cNvSpPr>
          <p:nvPr>
            <p:ph type="title"/>
          </p:nvPr>
        </p:nvSpPr>
        <p:spPr>
          <a:xfrm>
            <a:off x="4332036" y="354871"/>
            <a:ext cx="7547397" cy="2025907"/>
          </a:xfrm>
        </p:spPr>
        <p:txBody>
          <a:bodyPr>
            <a:normAutofit fontScale="90000"/>
          </a:bodyPr>
          <a:lstStyle/>
          <a:p>
            <a:r>
              <a:rPr lang="en-US" b="1" dirty="0">
                <a:solidFill>
                  <a:srgbClr val="0D1B4B"/>
                </a:solidFill>
                <a:latin typeface="Calibri" pitchFamily="34" charset="0"/>
                <a:ea typeface="Calibri" pitchFamily="34" charset="-122"/>
                <a:cs typeface="Calibri" pitchFamily="34" charset="-120"/>
              </a:rPr>
              <a:t>Research Questions</a:t>
            </a:r>
            <a:br>
              <a:rPr lang="en-US" b="1" dirty="0">
                <a:solidFill>
                  <a:srgbClr val="0D1B4B"/>
                </a:solidFill>
                <a:latin typeface="Calibri" pitchFamily="34" charset="0"/>
                <a:ea typeface="Calibri" pitchFamily="34" charset="-122"/>
                <a:cs typeface="Calibri" pitchFamily="34" charset="-120"/>
              </a:rPr>
            </a:br>
            <a:br>
              <a:rPr lang="en-US" b="1" dirty="0">
                <a:solidFill>
                  <a:srgbClr val="0D1B4B"/>
                </a:solidFill>
                <a:latin typeface="Calibri" pitchFamily="34" charset="0"/>
                <a:ea typeface="Calibri" pitchFamily="34" charset="-122"/>
                <a:cs typeface="Calibri" pitchFamily="34" charset="-120"/>
              </a:rPr>
            </a:br>
            <a:r>
              <a:rPr lang="en-US" sz="2200" b="1" dirty="0">
                <a:solidFill>
                  <a:schemeClr val="tx1"/>
                </a:solidFill>
                <a:latin typeface="Calibri" panose="020F0502020204030204" pitchFamily="34" charset="0"/>
                <a:cs typeface="Calibri" panose="020F0502020204030204" pitchFamily="34" charset="0"/>
              </a:rPr>
              <a:t>Core Question: Can we predict loan approval using applicant demographics and financial data?</a:t>
            </a:r>
            <a:br>
              <a:rPr lang="en-US" sz="2200" dirty="0">
                <a:solidFill>
                  <a:schemeClr val="tx1"/>
                </a:solidFill>
                <a:latin typeface="Calibri" panose="020F0502020204030204" pitchFamily="34" charset="0"/>
                <a:cs typeface="Calibri" panose="020F0502020204030204" pitchFamily="34" charset="0"/>
              </a:rPr>
            </a:br>
            <a:endParaRPr lang="en-US" sz="2200" dirty="0">
              <a:solidFill>
                <a:schemeClr val="tx1"/>
              </a:solidFill>
              <a:latin typeface="Calibri" panose="020F0502020204030204" pitchFamily="34" charset="0"/>
              <a:cs typeface="Calibri" panose="020F0502020204030204" pitchFamily="34" charset="0"/>
            </a:endParaRPr>
          </a:p>
        </p:txBody>
      </p:sp>
      <p:sp>
        <p:nvSpPr>
          <p:cNvPr id="40" name="Rectangle 39">
            <a:extLst>
              <a:ext uri="{FF2B5EF4-FFF2-40B4-BE49-F238E27FC236}">
                <a16:creationId xmlns:a16="http://schemas.microsoft.com/office/drawing/2014/main" id="{2C509E7A-337A-4664-BEC2-03F9BCA0A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1632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Freeform 11">
            <a:extLst>
              <a:ext uri="{FF2B5EF4-FFF2-40B4-BE49-F238E27FC236}">
                <a16:creationId xmlns:a16="http://schemas.microsoft.com/office/drawing/2014/main" id="{D9AB99AB-E300-4B19-97C3-9A12EA3C7B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2716320"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pic>
        <p:nvPicPr>
          <p:cNvPr id="7" name="Picture 6" descr="Computer script on a screen">
            <a:extLst>
              <a:ext uri="{FF2B5EF4-FFF2-40B4-BE49-F238E27FC236}">
                <a16:creationId xmlns:a16="http://schemas.microsoft.com/office/drawing/2014/main" id="{950DD2C7-9F14-DEEB-0CCC-0DED85A9817D}"/>
              </a:ext>
            </a:extLst>
          </p:cNvPr>
          <p:cNvPicPr>
            <a:picLocks noChangeAspect="1"/>
          </p:cNvPicPr>
          <p:nvPr/>
        </p:nvPicPr>
        <p:blipFill>
          <a:blip r:embed="rId4"/>
          <a:srcRect l="16874" r="56646" b="-2"/>
          <a:stretch>
            <a:fillRect/>
          </a:stretch>
        </p:blipFill>
        <p:spPr>
          <a:xfrm>
            <a:off x="20" y="1730"/>
            <a:ext cx="2720524" cy="6858000"/>
          </a:xfrm>
          <a:prstGeom prst="rect">
            <a:avLst/>
          </a:prstGeom>
        </p:spPr>
      </p:pic>
      <p:sp>
        <p:nvSpPr>
          <p:cNvPr id="4" name="Slide Number Placeholder 3">
            <a:extLst>
              <a:ext uri="{FF2B5EF4-FFF2-40B4-BE49-F238E27FC236}">
                <a16:creationId xmlns:a16="http://schemas.microsoft.com/office/drawing/2014/main" id="{6BF3E63F-D05F-2D84-E733-F21D53060D33}"/>
              </a:ext>
            </a:extLst>
          </p:cNvPr>
          <p:cNvSpPr>
            <a:spLocks noGrp="1"/>
          </p:cNvSpPr>
          <p:nvPr>
            <p:ph type="sldNum" sz="quarter" idx="12"/>
          </p:nvPr>
        </p:nvSpPr>
        <p:spPr>
          <a:xfrm>
            <a:off x="3252321" y="787782"/>
            <a:ext cx="779767"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3</a:t>
            </a:fld>
            <a:endParaRPr lang="en-US" sz="1900"/>
          </a:p>
        </p:txBody>
      </p:sp>
      <p:sp>
        <p:nvSpPr>
          <p:cNvPr id="3" name="Content Placeholder 2">
            <a:extLst>
              <a:ext uri="{FF2B5EF4-FFF2-40B4-BE49-F238E27FC236}">
                <a16:creationId xmlns:a16="http://schemas.microsoft.com/office/drawing/2014/main" id="{5D329FFB-441D-D22F-05D6-60334F7921F5}"/>
              </a:ext>
            </a:extLst>
          </p:cNvPr>
          <p:cNvSpPr>
            <a:spLocks noGrp="1"/>
          </p:cNvSpPr>
          <p:nvPr>
            <p:ph idx="1"/>
          </p:nvPr>
        </p:nvSpPr>
        <p:spPr>
          <a:xfrm>
            <a:off x="3476693" y="2620699"/>
            <a:ext cx="8430697" cy="4343755"/>
          </a:xfrm>
        </p:spPr>
        <p:txBody>
          <a:bodyPr>
            <a:normAutofit/>
          </a:bodyPr>
          <a:lstStyle/>
          <a:p>
            <a:pPr>
              <a:buFont typeface="Wingdings 3" charset="2"/>
              <a:buAutoNum type="arabicPeriod"/>
            </a:pPr>
            <a:r>
              <a:rPr lang="en-US" b="1" dirty="0">
                <a:solidFill>
                  <a:srgbClr val="0D1B4B"/>
                </a:solidFill>
              </a:rPr>
              <a:t>Which Applicant Factors are the best indicators of loan approval? </a:t>
            </a:r>
          </a:p>
          <a:p>
            <a:pPr marL="0" indent="0">
              <a:buNone/>
            </a:pPr>
            <a:r>
              <a:rPr lang="en-US" i="1" dirty="0">
                <a:solidFill>
                  <a:srgbClr val="028090"/>
                </a:solidFill>
              </a:rPr>
              <a:t>📊 Feature importance bar chart, correlation heatmap</a:t>
            </a:r>
            <a:endParaRPr lang="en-US" dirty="0"/>
          </a:p>
          <a:p>
            <a:pPr marL="0" indent="0">
              <a:buNone/>
            </a:pPr>
            <a:r>
              <a:rPr lang="en-US" dirty="0"/>
              <a:t>2. </a:t>
            </a:r>
            <a:r>
              <a:rPr lang="en-US" b="1" dirty="0"/>
              <a:t>Is credit history the most important factor in loan approval prediction?</a:t>
            </a:r>
          </a:p>
          <a:p>
            <a:pPr marL="0" indent="0">
              <a:buNone/>
            </a:pPr>
            <a:r>
              <a:rPr lang="en-US" i="1" dirty="0">
                <a:solidFill>
                  <a:srgbClr val="028090"/>
                </a:solidFill>
              </a:rPr>
              <a:t>📊 Credit history approval rate bar chart</a:t>
            </a:r>
            <a:endParaRPr lang="en-US" dirty="0"/>
          </a:p>
          <a:p>
            <a:pPr marL="0" indent="0">
              <a:buNone/>
            </a:pPr>
            <a:r>
              <a:rPr lang="en-US" dirty="0"/>
              <a:t>3. </a:t>
            </a:r>
            <a:r>
              <a:rPr lang="en-US" b="1" dirty="0"/>
              <a:t>Do income or loan amounts affect the chances of loan approval?</a:t>
            </a:r>
          </a:p>
          <a:p>
            <a:pPr marL="0" indent="0">
              <a:buNone/>
            </a:pPr>
            <a:r>
              <a:rPr lang="en-US" i="1" dirty="0">
                <a:solidFill>
                  <a:srgbClr val="028090"/>
                </a:solidFill>
              </a:rPr>
              <a:t>📊 Scatter plot, histogram of </a:t>
            </a:r>
            <a:r>
              <a:rPr lang="en-US" i="1" dirty="0" err="1">
                <a:solidFill>
                  <a:srgbClr val="028090"/>
                </a:solidFill>
              </a:rPr>
              <a:t>ApplicantIncome</a:t>
            </a:r>
            <a:r>
              <a:rPr lang="en-US" i="1" dirty="0">
                <a:solidFill>
                  <a:srgbClr val="028090"/>
                </a:solidFill>
              </a:rPr>
              <a:t> vs. </a:t>
            </a:r>
            <a:r>
              <a:rPr lang="en-US" i="1" dirty="0" err="1">
                <a:solidFill>
                  <a:srgbClr val="028090"/>
                </a:solidFill>
              </a:rPr>
              <a:t>LoanAmount</a:t>
            </a:r>
            <a:endParaRPr lang="en-US" i="1" dirty="0">
              <a:solidFill>
                <a:srgbClr val="028090"/>
              </a:solidFill>
            </a:endParaRPr>
          </a:p>
          <a:p>
            <a:pPr marL="0" indent="0">
              <a:buNone/>
            </a:pPr>
            <a:r>
              <a:rPr lang="en-US" dirty="0"/>
              <a:t>4. </a:t>
            </a:r>
            <a:r>
              <a:rPr lang="en-US" b="1" dirty="0"/>
              <a:t>Do gender and education affect loan approval decisions?</a:t>
            </a:r>
          </a:p>
          <a:p>
            <a:pPr marL="0" indent="0">
              <a:buNone/>
            </a:pPr>
            <a:r>
              <a:rPr lang="en-US" i="1" dirty="0">
                <a:solidFill>
                  <a:srgbClr val="028090"/>
                </a:solidFill>
              </a:rPr>
              <a:t>📊 Side-by-side approval rate charts per demographic group</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05021336"/>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5" name="arrow.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2B1BC-33AA-A3A4-981B-9E8E1166F43C}"/>
              </a:ext>
            </a:extLst>
          </p:cNvPr>
          <p:cNvSpPr>
            <a:spLocks noGrp="1"/>
          </p:cNvSpPr>
          <p:nvPr>
            <p:ph type="title"/>
          </p:nvPr>
        </p:nvSpPr>
        <p:spPr>
          <a:xfrm>
            <a:off x="1604211" y="147337"/>
            <a:ext cx="9817767" cy="640445"/>
          </a:xfrm>
        </p:spPr>
        <p:txBody>
          <a:bodyPr>
            <a:normAutofit fontScale="90000"/>
          </a:bodyPr>
          <a:lstStyle/>
          <a:p>
            <a:r>
              <a:rPr lang="en-US" b="1" dirty="0">
                <a:solidFill>
                  <a:srgbClr val="0F1F5C"/>
                </a:solidFill>
                <a:latin typeface="Calibri" pitchFamily="34" charset="0"/>
                <a:ea typeface="Calibri" pitchFamily="34" charset="-122"/>
                <a:cs typeface="Calibri" pitchFamily="34" charset="-120"/>
              </a:rPr>
              <a:t>The Loan Approval Problem</a:t>
            </a:r>
            <a:br>
              <a:rPr lang="en-US" b="1" dirty="0">
                <a:solidFill>
                  <a:srgbClr val="0F1F5C"/>
                </a:solidFill>
                <a:latin typeface="Calibri" pitchFamily="34" charset="0"/>
                <a:ea typeface="Calibri" pitchFamily="34" charset="-122"/>
                <a:cs typeface="Calibri" pitchFamily="34" charset="-120"/>
              </a:rPr>
            </a:br>
            <a:r>
              <a:rPr lang="en-US" b="1" dirty="0">
                <a:solidFill>
                  <a:srgbClr val="0F1F5C"/>
                </a:solidFill>
                <a:latin typeface="Calibri" pitchFamily="34" charset="0"/>
                <a:ea typeface="Calibri" pitchFamily="34" charset="-122"/>
                <a:cs typeface="Calibri" pitchFamily="34" charset="-120"/>
              </a:rPr>
              <a:t>The Challenge</a:t>
            </a:r>
            <a:endParaRPr lang="en-US" dirty="0"/>
          </a:p>
        </p:txBody>
      </p:sp>
      <p:sp>
        <p:nvSpPr>
          <p:cNvPr id="3" name="Content Placeholder 2">
            <a:extLst>
              <a:ext uri="{FF2B5EF4-FFF2-40B4-BE49-F238E27FC236}">
                <a16:creationId xmlns:a16="http://schemas.microsoft.com/office/drawing/2014/main" id="{909C1BBA-E477-0095-DBBC-2E425DEB080A}"/>
              </a:ext>
            </a:extLst>
          </p:cNvPr>
          <p:cNvSpPr>
            <a:spLocks noGrp="1"/>
          </p:cNvSpPr>
          <p:nvPr>
            <p:ph idx="1"/>
          </p:nvPr>
        </p:nvSpPr>
        <p:spPr>
          <a:xfrm>
            <a:off x="921695" y="1428227"/>
            <a:ext cx="5174305" cy="3777622"/>
          </a:xfrm>
        </p:spPr>
        <p:txBody>
          <a:bodyPr>
            <a:normAutofit fontScale="92500" lnSpcReduction="20000"/>
          </a:bodyPr>
          <a:lstStyle/>
          <a:p>
            <a:pPr>
              <a:spcAft>
                <a:spcPts val="400"/>
              </a:spcAft>
              <a:buSzPct val="100000"/>
              <a:buChar char="•"/>
            </a:pPr>
            <a:r>
              <a:rPr lang="en-US" sz="1900" dirty="0">
                <a:solidFill>
                  <a:schemeClr val="tx1"/>
                </a:solidFill>
              </a:rPr>
              <a:t>Banks manually review thousands of applications monthly — slow, costly, and inconsistent</a:t>
            </a:r>
          </a:p>
          <a:p>
            <a:pPr>
              <a:spcAft>
                <a:spcPts val="400"/>
              </a:spcAft>
              <a:buSzPct val="100000"/>
              <a:buChar char="•"/>
            </a:pPr>
            <a:r>
              <a:rPr lang="en-US" sz="1900" dirty="0">
                <a:solidFill>
                  <a:schemeClr val="tx1"/>
                </a:solidFill>
              </a:rPr>
              <a:t>Human bias can disadvantage qualified applicants based on demographic factors</a:t>
            </a:r>
          </a:p>
          <a:p>
            <a:pPr>
              <a:spcAft>
                <a:spcPts val="400"/>
              </a:spcAft>
              <a:buSzPct val="100000"/>
              <a:buChar char="•"/>
            </a:pPr>
            <a:r>
              <a:rPr lang="en-US" sz="1900" dirty="0">
                <a:solidFill>
                  <a:schemeClr val="tx1"/>
                </a:solidFill>
              </a:rPr>
              <a:t>Rejecting creditworthy borrowers = lost revenue; approving risky ones = default losses</a:t>
            </a:r>
          </a:p>
          <a:p>
            <a:pPr>
              <a:spcAft>
                <a:spcPts val="400"/>
              </a:spcAft>
              <a:buSzPct val="100000"/>
              <a:buChar char="•"/>
            </a:pPr>
            <a:r>
              <a:rPr lang="en-US" sz="1900" dirty="0">
                <a:solidFill>
                  <a:schemeClr val="tx1"/>
                </a:solidFill>
              </a:rPr>
              <a:t>Regulatory pressure demands fair, explainable, and auditable decisions</a:t>
            </a:r>
          </a:p>
          <a:p>
            <a:pPr>
              <a:spcAft>
                <a:spcPts val="400"/>
              </a:spcAft>
              <a:buSzPct val="100000"/>
              <a:buChar char="•"/>
            </a:pPr>
            <a:r>
              <a:rPr lang="en-US" sz="1900" dirty="0">
                <a:solidFill>
                  <a:schemeClr val="tx1"/>
                </a:solidFill>
              </a:rPr>
              <a:t>Financial institutions need a faster, data-driven, and consistent scoring system</a:t>
            </a:r>
          </a:p>
          <a:p>
            <a:endParaRPr lang="en-US" b="1" dirty="0">
              <a:solidFill>
                <a:schemeClr val="tx1"/>
              </a:solidFill>
            </a:endParaRPr>
          </a:p>
        </p:txBody>
      </p:sp>
      <p:sp>
        <p:nvSpPr>
          <p:cNvPr id="4" name="Slide Number Placeholder 3">
            <a:extLst>
              <a:ext uri="{FF2B5EF4-FFF2-40B4-BE49-F238E27FC236}">
                <a16:creationId xmlns:a16="http://schemas.microsoft.com/office/drawing/2014/main" id="{A6085D1F-557D-4368-5B57-FF7C8D226B62}"/>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5" name="Content Placeholder 2">
            <a:extLst>
              <a:ext uri="{FF2B5EF4-FFF2-40B4-BE49-F238E27FC236}">
                <a16:creationId xmlns:a16="http://schemas.microsoft.com/office/drawing/2014/main" id="{8F7FAE39-6BAD-BF48-9631-F2A3EE996FDC}"/>
              </a:ext>
            </a:extLst>
          </p:cNvPr>
          <p:cNvSpPr txBox="1">
            <a:spLocks/>
          </p:cNvSpPr>
          <p:nvPr/>
        </p:nvSpPr>
        <p:spPr>
          <a:xfrm>
            <a:off x="6453070" y="1215431"/>
            <a:ext cx="5738930" cy="4020378"/>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a:solidFill>
                  <a:srgbClr val="00A8B5"/>
                </a:solidFill>
              </a:rPr>
              <a:t>Predictive Model</a:t>
            </a:r>
            <a:endParaRPr lang="en-US" dirty="0"/>
          </a:p>
          <a:p>
            <a:r>
              <a:rPr lang="en-US" dirty="0">
                <a:solidFill>
                  <a:srgbClr val="A0BDD8"/>
                </a:solidFill>
              </a:rPr>
              <a:t>Train ML algorithms on 598 historical loan records to predict approval probability</a:t>
            </a:r>
          </a:p>
          <a:p>
            <a:pPr marL="0" indent="0">
              <a:buNone/>
            </a:pPr>
            <a:r>
              <a:rPr lang="en-US" b="1" dirty="0">
                <a:solidFill>
                  <a:srgbClr val="00A8B5"/>
                </a:solidFill>
              </a:rPr>
              <a:t>Feature Discovery</a:t>
            </a:r>
            <a:endParaRPr lang="en-US" dirty="0"/>
          </a:p>
          <a:p>
            <a:r>
              <a:rPr lang="en-US" dirty="0">
                <a:solidFill>
                  <a:srgbClr val="A0BDD8"/>
                </a:solidFill>
              </a:rPr>
              <a:t>Identify which applicant attributes drive approval vs. rejection decisions</a:t>
            </a:r>
          </a:p>
          <a:p>
            <a:r>
              <a:rPr lang="en-US" b="1" dirty="0">
                <a:solidFill>
                  <a:srgbClr val="00A8B5"/>
                </a:solidFill>
              </a:rPr>
              <a:t>Fairness Audit</a:t>
            </a:r>
            <a:endParaRPr lang="en-US" b="1" dirty="0"/>
          </a:p>
          <a:p>
            <a:pPr marL="0" indent="0">
              <a:buNone/>
            </a:pPr>
            <a:r>
              <a:rPr lang="en-US" dirty="0">
                <a:solidFill>
                  <a:srgbClr val="A0BDD8"/>
                </a:solidFill>
              </a:rPr>
              <a:t>Detect and mitigate demographic bias using SHAP-based explainability</a:t>
            </a:r>
            <a:endParaRPr lang="en-US" dirty="0"/>
          </a:p>
          <a:p>
            <a:r>
              <a:rPr lang="en-US" b="1" dirty="0">
                <a:solidFill>
                  <a:srgbClr val="00A8B5"/>
                </a:solidFill>
              </a:rPr>
              <a:t>Business Value</a:t>
            </a:r>
            <a:endParaRPr lang="en-US" dirty="0"/>
          </a:p>
          <a:p>
            <a:pPr marL="0" indent="0">
              <a:buNone/>
            </a:pPr>
            <a:r>
              <a:rPr lang="en-US" dirty="0">
                <a:solidFill>
                  <a:srgbClr val="A0BDD8"/>
                </a:solidFill>
              </a:rPr>
              <a:t>Reduce processing time, improve consistency, lower default risk</a:t>
            </a: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426744561"/>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4" name="arrow.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BD3900-C6FE-F05D-D662-E65972EA55B5}"/>
              </a:ext>
            </a:extLst>
          </p:cNvPr>
          <p:cNvSpPr>
            <a:spLocks noGrp="1"/>
          </p:cNvSpPr>
          <p:nvPr>
            <p:ph type="title"/>
          </p:nvPr>
        </p:nvSpPr>
        <p:spPr>
          <a:xfrm>
            <a:off x="649224" y="645106"/>
            <a:ext cx="3650279" cy="1259894"/>
          </a:xfrm>
        </p:spPr>
        <p:txBody>
          <a:bodyPr vert="horz" lIns="91440" tIns="45720" rIns="91440" bIns="45720" rtlCol="0" anchor="t">
            <a:normAutofit/>
          </a:bodyPr>
          <a:lstStyle/>
          <a:p>
            <a:pPr>
              <a:lnSpc>
                <a:spcPct val="90000"/>
              </a:lnSpc>
            </a:pPr>
            <a:r>
              <a:rPr lang="en-US" sz="2800" b="1"/>
              <a:t>Methodology &amp; Approach</a:t>
            </a:r>
            <a:br>
              <a:rPr lang="en-US" sz="2800"/>
            </a:br>
            <a:endParaRPr lang="en-US" sz="2800"/>
          </a:p>
        </p:txBody>
      </p:sp>
      <p:sp>
        <p:nvSpPr>
          <p:cNvPr id="58" name="Rectangle 57">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Shape 5">
            <a:extLst>
              <a:ext uri="{FF2B5EF4-FFF2-40B4-BE49-F238E27FC236}">
                <a16:creationId xmlns:a16="http://schemas.microsoft.com/office/drawing/2014/main" id="{34D788A5-650A-66BC-21DA-618C9E50F21D}"/>
              </a:ext>
            </a:extLst>
          </p:cNvPr>
          <p:cNvSpPr/>
          <p:nvPr/>
        </p:nvSpPr>
        <p:spPr>
          <a:xfrm>
            <a:off x="649225" y="2133601"/>
            <a:ext cx="3008375" cy="1876926"/>
          </a:xfrm>
          <a:prstGeom prst="rect">
            <a:avLst/>
          </a:prstGeom>
        </p:spPr>
        <p:txBody>
          <a:bodyPr vert="horz" lIns="91440" tIns="45720" rIns="91440" bIns="45720" rtlCol="0">
            <a:normAutofit/>
          </a:bodyPr>
          <a:lstStyle/>
          <a:p>
            <a:pPr>
              <a:spcBef>
                <a:spcPts val="1000"/>
              </a:spcBef>
              <a:buClr>
                <a:schemeClr val="accent1"/>
              </a:buClr>
              <a:buFont typeface="Wingdings 3" charset="2"/>
              <a:buChar char=""/>
            </a:pPr>
            <a:r>
              <a:rPr lang="en-US" b="1" dirty="0">
                <a:solidFill>
                  <a:schemeClr val="tx1">
                    <a:lumMod val="75000"/>
                    <a:lumOff val="25000"/>
                  </a:schemeClr>
                </a:solidFill>
              </a:rPr>
              <a:t>Data Collection</a:t>
            </a:r>
          </a:p>
          <a:p>
            <a:pPr>
              <a:spcBef>
                <a:spcPts val="1000"/>
              </a:spcBef>
              <a:buClr>
                <a:schemeClr val="accent1"/>
              </a:buClr>
              <a:buFont typeface="Wingdings 3" charset="2"/>
              <a:buChar char=""/>
            </a:pPr>
            <a:r>
              <a:rPr lang="en-US" dirty="0">
                <a:solidFill>
                  <a:schemeClr val="tx1">
                    <a:lumMod val="75000"/>
                    <a:lumOff val="25000"/>
                  </a:schemeClr>
                </a:solidFill>
              </a:rPr>
              <a:t>598-record CSV — demographics, financials, credit history, loan status</a:t>
            </a:r>
          </a:p>
          <a:p>
            <a:pPr>
              <a:spcBef>
                <a:spcPts val="1000"/>
              </a:spcBef>
              <a:buClr>
                <a:schemeClr val="accent1"/>
              </a:buClr>
              <a:buFont typeface="Wingdings 3" charset="2"/>
              <a:buChar char=""/>
            </a:pPr>
            <a:endParaRPr lang="en-US" dirty="0">
              <a:solidFill>
                <a:schemeClr val="tx1">
                  <a:lumMod val="75000"/>
                  <a:lumOff val="25000"/>
                </a:schemeClr>
              </a:solidFill>
            </a:endParaRPr>
          </a:p>
        </p:txBody>
      </p:sp>
      <p:pic>
        <p:nvPicPr>
          <p:cNvPr id="53" name="Graphic 52" descr="Magnifying glass">
            <a:extLst>
              <a:ext uri="{FF2B5EF4-FFF2-40B4-BE49-F238E27FC236}">
                <a16:creationId xmlns:a16="http://schemas.microsoft.com/office/drawing/2014/main" id="{0EF6BAA6-11FE-7501-BA8C-588FDDC1A8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49383" y="-262447"/>
            <a:ext cx="9442617" cy="7377359"/>
          </a:xfrm>
          <a:prstGeom prst="rect">
            <a:avLst/>
          </a:prstGeom>
        </p:spPr>
      </p:pic>
      <p:sp>
        <p:nvSpPr>
          <p:cNvPr id="60"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767A6FC4-78EE-9893-E383-4CC62E16131D}"/>
              </a:ext>
            </a:extLst>
          </p:cNvPr>
          <p:cNvSpPr>
            <a:spLocks noGrp="1"/>
          </p:cNvSpPr>
          <p:nvPr>
            <p:ph type="sldNum" sz="quarter" idx="12"/>
          </p:nvPr>
        </p:nvSpPr>
        <p:spPr>
          <a:xfrm>
            <a:off x="121514" y="6133610"/>
            <a:ext cx="779767" cy="365125"/>
          </a:xfrm>
        </p:spPr>
        <p:txBody>
          <a:bodyPr vert="horz" lIns="91440" tIns="45720" rIns="91440" bIns="45720" rtlCol="0" anchor="ctr">
            <a:normAutofit/>
          </a:bodyPr>
          <a:lstStyle/>
          <a:p>
            <a:pPr defTabSz="914400">
              <a:lnSpc>
                <a:spcPct val="90000"/>
              </a:lnSpc>
              <a:spcAft>
                <a:spcPts val="600"/>
              </a:spcAft>
            </a:pPr>
            <a:fld id="{D57F1E4F-1CFF-5643-939E-217C01CDF565}" type="slidenum">
              <a:rPr lang="en-US" sz="1900" smtClean="0"/>
              <a:pPr defTabSz="914400">
                <a:lnSpc>
                  <a:spcPct val="90000"/>
                </a:lnSpc>
                <a:spcAft>
                  <a:spcPts val="600"/>
                </a:spcAft>
              </a:pPr>
              <a:t>5</a:t>
            </a:fld>
            <a:endParaRPr lang="en-US" sz="1900"/>
          </a:p>
        </p:txBody>
      </p:sp>
      <p:sp>
        <p:nvSpPr>
          <p:cNvPr id="48" name="Shape 5">
            <a:extLst>
              <a:ext uri="{FF2B5EF4-FFF2-40B4-BE49-F238E27FC236}">
                <a16:creationId xmlns:a16="http://schemas.microsoft.com/office/drawing/2014/main" id="{35328D8D-108B-FBF7-A521-F0ABAE228FC5}"/>
              </a:ext>
            </a:extLst>
          </p:cNvPr>
          <p:cNvSpPr/>
          <p:nvPr/>
        </p:nvSpPr>
        <p:spPr>
          <a:xfrm>
            <a:off x="3828449" y="2007242"/>
            <a:ext cx="3146675" cy="1280890"/>
          </a:xfrm>
          <a:prstGeom prst="rect">
            <a:avLst/>
          </a:prstGeom>
          <a:solidFill>
            <a:srgbClr val="FFFFFF"/>
          </a:solidFill>
          <a:ln w="12700">
            <a:solidFill>
              <a:srgbClr val="D4E5F7"/>
            </a:solidFill>
            <a:prstDash val="solid"/>
          </a:ln>
          <a:effectLst>
            <a:outerShdw blurRad="76200" dist="25400" dir="8100000" algn="bl" rotWithShape="0">
              <a:srgbClr val="000000">
                <a:alpha val="15000"/>
              </a:srgbClr>
            </a:outerShdw>
          </a:effectLst>
        </p:spPr>
        <p:txBody>
          <a:bodyPr/>
          <a:lstStyle/>
          <a:p>
            <a:pPr>
              <a:spcAft>
                <a:spcPts val="600"/>
              </a:spcAft>
            </a:pPr>
            <a:r>
              <a:rPr lang="en-US" b="1" dirty="0">
                <a:latin typeface="Calibri" pitchFamily="34" charset="0"/>
                <a:ea typeface="Calibri" pitchFamily="34" charset="-122"/>
                <a:cs typeface="Calibri" pitchFamily="34" charset="-120"/>
              </a:rPr>
              <a:t>Data Processing</a:t>
            </a:r>
          </a:p>
          <a:p>
            <a:pPr>
              <a:spcAft>
                <a:spcPts val="600"/>
              </a:spcAft>
            </a:pPr>
            <a:r>
              <a:rPr lang="en-US" dirty="0">
                <a:solidFill>
                  <a:srgbClr val="4A6080"/>
                </a:solidFill>
                <a:latin typeface="Calibri" pitchFamily="34" charset="0"/>
                <a:ea typeface="Calibri" pitchFamily="34" charset="-122"/>
                <a:cs typeface="Calibri" pitchFamily="34" charset="-120"/>
              </a:rPr>
              <a:t>Handle missing values · encode categories · </a:t>
            </a:r>
            <a:r>
              <a:rPr lang="en-US" dirty="0" err="1">
                <a:solidFill>
                  <a:srgbClr val="4A6080"/>
                </a:solidFill>
                <a:latin typeface="Calibri" pitchFamily="34" charset="0"/>
                <a:ea typeface="Calibri" pitchFamily="34" charset="-122"/>
                <a:cs typeface="Calibri" pitchFamily="34" charset="-120"/>
              </a:rPr>
              <a:t>normalise</a:t>
            </a:r>
            <a:r>
              <a:rPr lang="en-US" dirty="0">
                <a:solidFill>
                  <a:srgbClr val="4A6080"/>
                </a:solidFill>
                <a:latin typeface="Calibri" pitchFamily="34" charset="0"/>
                <a:ea typeface="Calibri" pitchFamily="34" charset="-122"/>
                <a:cs typeface="Calibri" pitchFamily="34" charset="-120"/>
              </a:rPr>
              <a:t> · detect outliers</a:t>
            </a:r>
            <a:endParaRPr lang="en-US" dirty="0"/>
          </a:p>
          <a:p>
            <a:pPr>
              <a:spcAft>
                <a:spcPts val="600"/>
              </a:spcAft>
            </a:pPr>
            <a:endParaRPr lang="en-US" dirty="0"/>
          </a:p>
        </p:txBody>
      </p:sp>
      <p:sp>
        <p:nvSpPr>
          <p:cNvPr id="49" name="Shape 5">
            <a:extLst>
              <a:ext uri="{FF2B5EF4-FFF2-40B4-BE49-F238E27FC236}">
                <a16:creationId xmlns:a16="http://schemas.microsoft.com/office/drawing/2014/main" id="{2E64EE9F-6955-1D05-01DC-EE3E21973EB9}"/>
              </a:ext>
            </a:extLst>
          </p:cNvPr>
          <p:cNvSpPr/>
          <p:nvPr/>
        </p:nvSpPr>
        <p:spPr>
          <a:xfrm>
            <a:off x="7597883" y="1985576"/>
            <a:ext cx="3859476" cy="1280890"/>
          </a:xfrm>
          <a:prstGeom prst="rect">
            <a:avLst/>
          </a:prstGeom>
          <a:solidFill>
            <a:srgbClr val="FFFFFF"/>
          </a:solidFill>
          <a:ln w="12700">
            <a:solidFill>
              <a:srgbClr val="D4E5F7"/>
            </a:solidFill>
            <a:prstDash val="solid"/>
          </a:ln>
          <a:effectLst>
            <a:outerShdw blurRad="76200" dist="25400" dir="8100000" algn="bl" rotWithShape="0">
              <a:srgbClr val="000000">
                <a:alpha val="15000"/>
              </a:srgbClr>
            </a:outerShdw>
          </a:effectLst>
        </p:spPr>
        <p:txBody>
          <a:bodyPr/>
          <a:lstStyle/>
          <a:p>
            <a:pPr>
              <a:spcAft>
                <a:spcPts val="600"/>
              </a:spcAft>
            </a:pPr>
            <a:r>
              <a:rPr lang="en-US" b="1" dirty="0">
                <a:latin typeface="Calibri" pitchFamily="34" charset="0"/>
                <a:ea typeface="Calibri" pitchFamily="34" charset="-122"/>
                <a:cs typeface="Calibri" pitchFamily="34" charset="-120"/>
              </a:rPr>
              <a:t>EDA</a:t>
            </a:r>
          </a:p>
          <a:p>
            <a:pPr>
              <a:spcAft>
                <a:spcPts val="600"/>
              </a:spcAft>
            </a:pPr>
            <a:r>
              <a:rPr lang="en-US" dirty="0">
                <a:solidFill>
                  <a:srgbClr val="4A6080"/>
                </a:solidFill>
                <a:latin typeface="Calibri" pitchFamily="34" charset="0"/>
                <a:ea typeface="Calibri" pitchFamily="34" charset="-122"/>
                <a:cs typeface="Calibri" pitchFamily="34" charset="-120"/>
              </a:rPr>
              <a:t>Histograms · box plots · heatmaps · count plots · correlation matrices</a:t>
            </a:r>
            <a:endParaRPr lang="en-US" dirty="0"/>
          </a:p>
          <a:p>
            <a:pPr>
              <a:spcAft>
                <a:spcPts val="600"/>
              </a:spcAft>
            </a:pPr>
            <a:endParaRPr lang="en-US" dirty="0"/>
          </a:p>
        </p:txBody>
      </p:sp>
      <p:sp>
        <p:nvSpPr>
          <p:cNvPr id="50" name="Shape 5">
            <a:extLst>
              <a:ext uri="{FF2B5EF4-FFF2-40B4-BE49-F238E27FC236}">
                <a16:creationId xmlns:a16="http://schemas.microsoft.com/office/drawing/2014/main" id="{3C5ADBA2-4E9A-8693-1EEB-B80E463CAF7E}"/>
              </a:ext>
            </a:extLst>
          </p:cNvPr>
          <p:cNvSpPr/>
          <p:nvPr/>
        </p:nvSpPr>
        <p:spPr>
          <a:xfrm>
            <a:off x="734649" y="3893797"/>
            <a:ext cx="3008375" cy="1876926"/>
          </a:xfrm>
          <a:prstGeom prst="rect">
            <a:avLst/>
          </a:prstGeom>
        </p:spPr>
        <p:txBody>
          <a:bodyPr vert="horz" lIns="91440" tIns="45720" rIns="91440" bIns="45720" rtlCol="0">
            <a:normAutofit/>
          </a:bodyPr>
          <a:lstStyle/>
          <a:p>
            <a:r>
              <a:rPr lang="en-US" b="1" dirty="0">
                <a:solidFill>
                  <a:srgbClr val="0F2044"/>
                </a:solidFill>
                <a:latin typeface="Calibri" pitchFamily="34" charset="0"/>
                <a:ea typeface="Calibri" pitchFamily="34" charset="-122"/>
                <a:cs typeface="Calibri" pitchFamily="34" charset="-120"/>
              </a:rPr>
              <a:t>Feature Engineering</a:t>
            </a:r>
            <a:endParaRPr lang="en-US" dirty="0"/>
          </a:p>
          <a:p>
            <a:pPr>
              <a:spcBef>
                <a:spcPts val="1000"/>
              </a:spcBef>
              <a:buClr>
                <a:schemeClr val="accent1"/>
              </a:buClr>
              <a:buFont typeface="Wingdings 3" charset="2"/>
              <a:buChar char=""/>
            </a:pPr>
            <a:r>
              <a:rPr lang="en-US" dirty="0">
                <a:solidFill>
                  <a:schemeClr val="tx1">
                    <a:lumMod val="75000"/>
                    <a:lumOff val="25000"/>
                  </a:schemeClr>
                </a:solidFill>
              </a:rPr>
              <a:t> </a:t>
            </a:r>
            <a:r>
              <a:rPr lang="en-US" dirty="0">
                <a:solidFill>
                  <a:srgbClr val="4A6080"/>
                </a:solidFill>
                <a:latin typeface="Calibri" pitchFamily="34" charset="0"/>
                <a:ea typeface="Calibri" pitchFamily="34" charset="-122"/>
                <a:cs typeface="Calibri" pitchFamily="34" charset="-120"/>
              </a:rPr>
              <a:t>Total Income · income-to-loan ratio · affordability &amp; risk metrics</a:t>
            </a:r>
            <a:endParaRPr lang="en-US" dirty="0"/>
          </a:p>
          <a:p>
            <a:pPr>
              <a:spcBef>
                <a:spcPts val="1000"/>
              </a:spcBef>
              <a:buClr>
                <a:schemeClr val="accent1"/>
              </a:buClr>
              <a:buFont typeface="Wingdings 3" charset="2"/>
              <a:buChar char=""/>
            </a:pPr>
            <a:endParaRPr lang="en-US" dirty="0">
              <a:solidFill>
                <a:schemeClr val="tx1">
                  <a:lumMod val="75000"/>
                  <a:lumOff val="25000"/>
                </a:schemeClr>
              </a:solidFill>
            </a:endParaRPr>
          </a:p>
          <a:p>
            <a:pPr>
              <a:spcBef>
                <a:spcPts val="1000"/>
              </a:spcBef>
              <a:buClr>
                <a:schemeClr val="accent1"/>
              </a:buClr>
              <a:buFont typeface="Wingdings 3" charset="2"/>
              <a:buChar char=""/>
            </a:pPr>
            <a:endParaRPr lang="en-US" dirty="0">
              <a:solidFill>
                <a:schemeClr val="tx1">
                  <a:lumMod val="75000"/>
                  <a:lumOff val="25000"/>
                </a:schemeClr>
              </a:solidFill>
            </a:endParaRPr>
          </a:p>
        </p:txBody>
      </p:sp>
      <p:sp>
        <p:nvSpPr>
          <p:cNvPr id="52" name="Shape 5">
            <a:extLst>
              <a:ext uri="{FF2B5EF4-FFF2-40B4-BE49-F238E27FC236}">
                <a16:creationId xmlns:a16="http://schemas.microsoft.com/office/drawing/2014/main" id="{858DAF40-F121-0845-0508-B7449351099D}"/>
              </a:ext>
            </a:extLst>
          </p:cNvPr>
          <p:cNvSpPr/>
          <p:nvPr/>
        </p:nvSpPr>
        <p:spPr>
          <a:xfrm>
            <a:off x="3861748" y="3973892"/>
            <a:ext cx="3146675" cy="1280890"/>
          </a:xfrm>
          <a:prstGeom prst="rect">
            <a:avLst/>
          </a:prstGeom>
          <a:solidFill>
            <a:srgbClr val="FFFFFF"/>
          </a:solidFill>
          <a:ln w="12700">
            <a:solidFill>
              <a:srgbClr val="D4E5F7"/>
            </a:solidFill>
            <a:prstDash val="solid"/>
          </a:ln>
          <a:effectLst>
            <a:outerShdw blurRad="76200" dist="25400" dir="8100000" algn="bl" rotWithShape="0">
              <a:srgbClr val="000000">
                <a:alpha val="15000"/>
              </a:srgbClr>
            </a:outerShdw>
          </a:effectLst>
        </p:spPr>
        <p:txBody>
          <a:bodyPr/>
          <a:lstStyle/>
          <a:p>
            <a:r>
              <a:rPr lang="en-US" b="1" dirty="0">
                <a:solidFill>
                  <a:srgbClr val="0F2044"/>
                </a:solidFill>
                <a:latin typeface="Calibri" pitchFamily="34" charset="0"/>
                <a:ea typeface="Calibri" pitchFamily="34" charset="-122"/>
                <a:cs typeface="Calibri" pitchFamily="34" charset="-120"/>
              </a:rPr>
              <a:t>Model Building</a:t>
            </a:r>
            <a:endParaRPr lang="en-US" dirty="0"/>
          </a:p>
          <a:p>
            <a:r>
              <a:rPr lang="en-US" dirty="0">
                <a:solidFill>
                  <a:srgbClr val="4A6080"/>
                </a:solidFill>
                <a:latin typeface="Calibri" pitchFamily="34" charset="0"/>
                <a:ea typeface="Calibri" pitchFamily="34" charset="-122"/>
                <a:cs typeface="Calibri" pitchFamily="34" charset="-120"/>
              </a:rPr>
              <a:t>Logistic Regression · Decision Tree · Random Forest · GB · </a:t>
            </a:r>
            <a:r>
              <a:rPr lang="en-US" dirty="0" err="1">
                <a:solidFill>
                  <a:srgbClr val="4A6080"/>
                </a:solidFill>
                <a:latin typeface="Calibri" pitchFamily="34" charset="0"/>
                <a:ea typeface="Calibri" pitchFamily="34" charset="-122"/>
                <a:cs typeface="Calibri" pitchFamily="34" charset="-120"/>
              </a:rPr>
              <a:t>XGBoost</a:t>
            </a:r>
            <a:endParaRPr lang="en-US" dirty="0"/>
          </a:p>
          <a:p>
            <a:pPr>
              <a:spcAft>
                <a:spcPts val="600"/>
              </a:spcAft>
            </a:pPr>
            <a:endParaRPr lang="en-US" dirty="0"/>
          </a:p>
        </p:txBody>
      </p:sp>
      <p:sp>
        <p:nvSpPr>
          <p:cNvPr id="54" name="Shape 5">
            <a:extLst>
              <a:ext uri="{FF2B5EF4-FFF2-40B4-BE49-F238E27FC236}">
                <a16:creationId xmlns:a16="http://schemas.microsoft.com/office/drawing/2014/main" id="{DEEF3D36-9AD8-F1B1-EBF6-38354F3ACB6A}"/>
              </a:ext>
            </a:extLst>
          </p:cNvPr>
          <p:cNvSpPr/>
          <p:nvPr/>
        </p:nvSpPr>
        <p:spPr>
          <a:xfrm>
            <a:off x="7683299" y="3955897"/>
            <a:ext cx="3859476" cy="1280890"/>
          </a:xfrm>
          <a:prstGeom prst="rect">
            <a:avLst/>
          </a:prstGeom>
          <a:solidFill>
            <a:srgbClr val="FFFFFF"/>
          </a:solidFill>
          <a:ln w="12700">
            <a:solidFill>
              <a:srgbClr val="D4E5F7"/>
            </a:solidFill>
            <a:prstDash val="solid"/>
          </a:ln>
          <a:effectLst>
            <a:outerShdw blurRad="76200" dist="25400" dir="8100000" algn="bl" rotWithShape="0">
              <a:srgbClr val="000000">
                <a:alpha val="15000"/>
              </a:srgbClr>
            </a:outerShdw>
          </a:effectLst>
        </p:spPr>
        <p:txBody>
          <a:bodyPr/>
          <a:lstStyle/>
          <a:p>
            <a:pPr>
              <a:spcAft>
                <a:spcPts val="600"/>
              </a:spcAft>
            </a:pPr>
            <a:r>
              <a:rPr lang="en-US" b="1" dirty="0">
                <a:solidFill>
                  <a:srgbClr val="0F2044"/>
                </a:solidFill>
                <a:latin typeface="Calibri" pitchFamily="34" charset="0"/>
                <a:ea typeface="Calibri" pitchFamily="34" charset="-122"/>
                <a:cs typeface="Calibri" pitchFamily="34" charset="-120"/>
              </a:rPr>
              <a:t>Evaluation </a:t>
            </a:r>
          </a:p>
          <a:p>
            <a:r>
              <a:rPr lang="en-US" dirty="0">
                <a:solidFill>
                  <a:srgbClr val="4A6080"/>
                </a:solidFill>
                <a:latin typeface="Calibri" pitchFamily="34" charset="0"/>
                <a:ea typeface="Calibri" pitchFamily="34" charset="-122"/>
                <a:cs typeface="Calibri" pitchFamily="34" charset="-120"/>
              </a:rPr>
              <a:t>Accuracy · Precision · Recall · F1 · ROC-AUC · Cross-Validation · Tuning</a:t>
            </a:r>
            <a:endParaRPr lang="en-US" dirty="0"/>
          </a:p>
          <a:p>
            <a:pPr>
              <a:spcAft>
                <a:spcPts val="600"/>
              </a:spcAft>
            </a:pPr>
            <a:endParaRPr lang="en-US" dirty="0"/>
          </a:p>
        </p:txBody>
      </p:sp>
    </p:spTree>
    <p:extLst>
      <p:ext uri="{BB962C8B-B14F-4D97-AF65-F5344CB8AC3E}">
        <p14:creationId xmlns:p14="http://schemas.microsoft.com/office/powerpoint/2010/main" val="4083249794"/>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5" name="arrow.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EDED6-E840-D2E9-7264-A6EE067094A7}"/>
              </a:ext>
            </a:extLst>
          </p:cNvPr>
          <p:cNvSpPr>
            <a:spLocks noGrp="1"/>
          </p:cNvSpPr>
          <p:nvPr>
            <p:ph type="title"/>
          </p:nvPr>
        </p:nvSpPr>
        <p:spPr/>
        <p:txBody>
          <a:bodyPr/>
          <a:lstStyle/>
          <a:p>
            <a:r>
              <a:rPr lang="en-US" b="1" dirty="0">
                <a:solidFill>
                  <a:schemeClr val="tx1"/>
                </a:solidFill>
                <a:latin typeface="Calibri" pitchFamily="34" charset="0"/>
                <a:ea typeface="Calibri" pitchFamily="34" charset="-122"/>
                <a:cs typeface="Calibri" pitchFamily="34" charset="-120"/>
              </a:rPr>
              <a:t>Basic Overview — Missing Values</a:t>
            </a:r>
            <a:br>
              <a:rPr lang="en-US" dirty="0">
                <a:solidFill>
                  <a:schemeClr val="tx1"/>
                </a:solidFill>
              </a:rPr>
            </a:br>
            <a:endParaRPr lang="en-US" dirty="0">
              <a:solidFill>
                <a:schemeClr val="tx1"/>
              </a:solidFill>
            </a:endParaRPr>
          </a:p>
        </p:txBody>
      </p:sp>
      <p:sp>
        <p:nvSpPr>
          <p:cNvPr id="4" name="Slide Number Placeholder 3">
            <a:extLst>
              <a:ext uri="{FF2B5EF4-FFF2-40B4-BE49-F238E27FC236}">
                <a16:creationId xmlns:a16="http://schemas.microsoft.com/office/drawing/2014/main" id="{AA4ED11E-10F5-AE19-AE75-AB48F428F9F7}"/>
              </a:ext>
            </a:extLst>
          </p:cNvPr>
          <p:cNvSpPr>
            <a:spLocks noGrp="1"/>
          </p:cNvSpPr>
          <p:nvPr>
            <p:ph type="sldNum" sz="quarter" idx="12"/>
          </p:nvPr>
        </p:nvSpPr>
        <p:spPr/>
        <p:txBody>
          <a:bodyPr/>
          <a:lstStyle/>
          <a:p>
            <a:fld id="{D57F1E4F-1CFF-5643-939E-217C01CDF565}" type="slidenum">
              <a:rPr lang="en-US" smtClean="0"/>
              <a:pPr/>
              <a:t>6</a:t>
            </a:fld>
            <a:endParaRPr lang="en-US" dirty="0"/>
          </a:p>
        </p:txBody>
      </p:sp>
      <p:graphicFrame>
        <p:nvGraphicFramePr>
          <p:cNvPr id="5" name="Chart 0">
            <a:extLst>
              <a:ext uri="{FF2B5EF4-FFF2-40B4-BE49-F238E27FC236}">
                <a16:creationId xmlns:a16="http://schemas.microsoft.com/office/drawing/2014/main" id="{143C5704-8B0F-C08D-72FB-1ACB697A2EC0}"/>
              </a:ext>
            </a:extLst>
          </p:cNvPr>
          <p:cNvGraphicFramePr>
            <a:graphicFrameLocks noGrp="1"/>
          </p:cNvGraphicFramePr>
          <p:nvPr>
            <p:ph idx="1"/>
            <p:extLst>
              <p:ext uri="{D42A27DB-BD31-4B8C-83A1-F6EECF244321}">
                <p14:modId xmlns:p14="http://schemas.microsoft.com/office/powerpoint/2010/main" val="807695677"/>
              </p:ext>
            </p:extLst>
          </p:nvPr>
        </p:nvGraphicFramePr>
        <p:xfrm>
          <a:off x="921694" y="1469385"/>
          <a:ext cx="7083317" cy="5059752"/>
        </p:xfrm>
        <a:graphic>
          <a:graphicData uri="http://schemas.openxmlformats.org/drawingml/2006/chart">
            <c:chart xmlns:c="http://schemas.openxmlformats.org/drawingml/2006/chart" xmlns:r="http://schemas.openxmlformats.org/officeDocument/2006/relationships" r:id="rId4"/>
          </a:graphicData>
        </a:graphic>
      </p:graphicFrame>
      <p:pic>
        <p:nvPicPr>
          <p:cNvPr id="8" name="Picture 7">
            <a:extLst>
              <a:ext uri="{FF2B5EF4-FFF2-40B4-BE49-F238E27FC236}">
                <a16:creationId xmlns:a16="http://schemas.microsoft.com/office/drawing/2014/main" id="{578043A3-B4BF-084A-4E54-D9DD397C33E8}"/>
              </a:ext>
            </a:extLst>
          </p:cNvPr>
          <p:cNvPicPr>
            <a:picLocks noChangeAspect="1"/>
          </p:cNvPicPr>
          <p:nvPr/>
        </p:nvPicPr>
        <p:blipFill>
          <a:blip r:embed="rId5"/>
          <a:stretch>
            <a:fillRect/>
          </a:stretch>
        </p:blipFill>
        <p:spPr>
          <a:xfrm>
            <a:off x="8188492" y="1260544"/>
            <a:ext cx="3771900" cy="5524500"/>
          </a:xfrm>
          <a:prstGeom prst="rect">
            <a:avLst/>
          </a:prstGeom>
        </p:spPr>
      </p:pic>
    </p:spTree>
    <p:extLst>
      <p:ext uri="{BB962C8B-B14F-4D97-AF65-F5344CB8AC3E}">
        <p14:creationId xmlns:p14="http://schemas.microsoft.com/office/powerpoint/2010/main" val="2709262946"/>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6" name="arrow.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2" name="Group 121">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3"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24"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25"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26"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27"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28"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29"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30"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31"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32"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33"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134"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36" name="Group 135">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137"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38"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9"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0"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41"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42"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43"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44"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45"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146"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147"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148"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150" name="Rectangle 149">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2"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154" name="Rectangle 153">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4639734"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Rectangle 1">
            <a:extLst>
              <a:ext uri="{FF2B5EF4-FFF2-40B4-BE49-F238E27FC236}">
                <a16:creationId xmlns:a16="http://schemas.microsoft.com/office/drawing/2014/main" id="{237E8941-BA29-28FB-1B0C-AA5B37B70DEF}"/>
              </a:ext>
            </a:extLst>
          </p:cNvPr>
          <p:cNvSpPr>
            <a:spLocks noGrp="1" noChangeArrowheads="1"/>
          </p:cNvSpPr>
          <p:nvPr>
            <p:ph type="title"/>
          </p:nvPr>
        </p:nvSpPr>
        <p:spPr bwMode="auto">
          <a:xfrm>
            <a:off x="540279" y="967417"/>
            <a:ext cx="3778870" cy="3943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r>
              <a:rPr lang="en-US" sz="4000" b="1">
                <a:solidFill>
                  <a:srgbClr val="FEFFFF"/>
                </a:solidFill>
              </a:rPr>
              <a:t>Basic Overview — Loan Status Distribution</a:t>
            </a:r>
            <a:endParaRPr lang="en-US" sz="4000">
              <a:solidFill>
                <a:srgbClr val="FEFFFF"/>
              </a:solidFill>
            </a:endParaRPr>
          </a:p>
        </p:txBody>
      </p:sp>
      <p:sp>
        <p:nvSpPr>
          <p:cNvPr id="158"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5404022"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494C9E16-5562-B194-0477-FC7BA6359FA6}"/>
              </a:ext>
            </a:extLst>
          </p:cNvPr>
          <p:cNvSpPr>
            <a:spLocks noGrp="1"/>
          </p:cNvSpPr>
          <p:nvPr>
            <p:ph type="sldNum" sz="quarter" idx="12"/>
          </p:nvPr>
        </p:nvSpPr>
        <p:spPr>
          <a:xfrm>
            <a:off x="4242486" y="5202719"/>
            <a:ext cx="650510" cy="517624"/>
          </a:xfrm>
        </p:spPr>
        <p:txBody>
          <a:bodyPr vert="horz" lIns="91440" tIns="45720" rIns="91440" bIns="45720" rtlCol="0" anchor="ctr">
            <a:normAutofit/>
          </a:bodyPr>
          <a:lstStyle/>
          <a:p>
            <a:pPr defTabSz="914400">
              <a:spcAft>
                <a:spcPts val="600"/>
              </a:spcAft>
            </a:pPr>
            <a:fld id="{D57F1E4F-1CFF-5643-939E-217C01CDF565}" type="slidenum">
              <a:rPr lang="en-US" smtClean="0"/>
              <a:pPr defTabSz="914400">
                <a:spcAft>
                  <a:spcPts val="600"/>
                </a:spcAft>
              </a:pPr>
              <a:t>7</a:t>
            </a:fld>
            <a:endParaRPr lang="en-US"/>
          </a:p>
        </p:txBody>
      </p:sp>
      <p:graphicFrame>
        <p:nvGraphicFramePr>
          <p:cNvPr id="5" name="Chart 0">
            <a:extLst>
              <a:ext uri="{FF2B5EF4-FFF2-40B4-BE49-F238E27FC236}">
                <a16:creationId xmlns:a16="http://schemas.microsoft.com/office/drawing/2014/main" id="{F2AAD91B-CF32-3BCA-17A0-59723403A0EE}"/>
              </a:ext>
            </a:extLst>
          </p:cNvPr>
          <p:cNvGraphicFramePr/>
          <p:nvPr>
            <p:extLst>
              <p:ext uri="{D42A27DB-BD31-4B8C-83A1-F6EECF244321}">
                <p14:modId xmlns:p14="http://schemas.microsoft.com/office/powerpoint/2010/main" val="2997299834"/>
              </p:ext>
            </p:extLst>
          </p:nvPr>
        </p:nvGraphicFramePr>
        <p:xfrm>
          <a:off x="4690794" y="672286"/>
          <a:ext cx="3554847" cy="3946915"/>
        </p:xfrm>
        <a:graphic>
          <a:graphicData uri="http://schemas.openxmlformats.org/drawingml/2006/chart">
            <c:chart xmlns:c="http://schemas.openxmlformats.org/drawingml/2006/chart" xmlns:r="http://schemas.openxmlformats.org/officeDocument/2006/relationships" r:id="rId4"/>
          </a:graphicData>
        </a:graphic>
      </p:graphicFrame>
      <p:pic>
        <p:nvPicPr>
          <p:cNvPr id="7" name="Picture 6">
            <a:extLst>
              <a:ext uri="{FF2B5EF4-FFF2-40B4-BE49-F238E27FC236}">
                <a16:creationId xmlns:a16="http://schemas.microsoft.com/office/drawing/2014/main" id="{DD822A74-148F-90D1-E34D-188DC0B428F5}"/>
              </a:ext>
            </a:extLst>
          </p:cNvPr>
          <p:cNvPicPr>
            <a:picLocks noChangeAspect="1"/>
          </p:cNvPicPr>
          <p:nvPr/>
        </p:nvPicPr>
        <p:blipFill>
          <a:blip r:embed="rId5"/>
          <a:stretch>
            <a:fillRect/>
          </a:stretch>
        </p:blipFill>
        <p:spPr>
          <a:xfrm>
            <a:off x="8646695" y="620388"/>
            <a:ext cx="3303717" cy="4092716"/>
          </a:xfrm>
          <a:prstGeom prst="rect">
            <a:avLst/>
          </a:prstGeom>
        </p:spPr>
      </p:pic>
    </p:spTree>
    <p:extLst>
      <p:ext uri="{BB962C8B-B14F-4D97-AF65-F5344CB8AC3E}">
        <p14:creationId xmlns:p14="http://schemas.microsoft.com/office/powerpoint/2010/main" val="4180393573"/>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6" name="arrow.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49E8414E-D15E-68D2-9D23-1B4994F7BFC5}"/>
            </a:ext>
          </a:extLst>
        </p:cNvPr>
        <p:cNvGrpSpPr/>
        <p:nvPr/>
      </p:nvGrpSpPr>
      <p:grpSpPr>
        <a:xfrm>
          <a:off x="0" y="0"/>
          <a:ext cx="0" cy="0"/>
          <a:chOff x="0" y="0"/>
          <a:chExt cx="0" cy="0"/>
        </a:xfrm>
      </p:grpSpPr>
      <p:grpSp>
        <p:nvGrpSpPr>
          <p:cNvPr id="148" name="Group 147">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49"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50"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51"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52"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53"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54"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55"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56"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57"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58"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59"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160"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62" name="Group 161">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163"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64"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65"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66"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67"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8"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69"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70"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71"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172"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173"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174"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176" name="Rectangle 175">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8"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180" name="Rectangle 179">
            <a:extLst>
              <a:ext uri="{FF2B5EF4-FFF2-40B4-BE49-F238E27FC236}">
                <a16:creationId xmlns:a16="http://schemas.microsoft.com/office/drawing/2014/main" id="{22589B50-D615-4630-B6F7-29E99FF2C4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B87A83DF-4E7A-4A81-867E-10E29C4BD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 y="0"/>
            <a:ext cx="6111243"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 name="Rectangle 3">
            <a:extLst>
              <a:ext uri="{FF2B5EF4-FFF2-40B4-BE49-F238E27FC236}">
                <a16:creationId xmlns:a16="http://schemas.microsoft.com/office/drawing/2014/main" id="{951A0FD8-2016-7E45-1231-C5B4FC65D80A}"/>
              </a:ext>
            </a:extLst>
          </p:cNvPr>
          <p:cNvSpPr>
            <a:spLocks noGrp="1" noChangeArrowheads="1"/>
          </p:cNvSpPr>
          <p:nvPr>
            <p:ph type="title"/>
          </p:nvPr>
        </p:nvSpPr>
        <p:spPr bwMode="auto">
          <a:xfrm>
            <a:off x="540279" y="967417"/>
            <a:ext cx="5280460" cy="3943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r>
              <a:rPr lang="en-US" sz="4000" b="1">
                <a:solidFill>
                  <a:srgbClr val="FEFFFF"/>
                </a:solidFill>
              </a:rPr>
              <a:t>Approval Rate by Key  Categories</a:t>
            </a:r>
            <a:endParaRPr lang="en-US" sz="4000">
              <a:solidFill>
                <a:srgbClr val="FEFFFF"/>
              </a:solidFill>
            </a:endParaRPr>
          </a:p>
        </p:txBody>
      </p:sp>
      <p:sp>
        <p:nvSpPr>
          <p:cNvPr id="184" name="Freeform 27">
            <a:extLst>
              <a:ext uri="{FF2B5EF4-FFF2-40B4-BE49-F238E27FC236}">
                <a16:creationId xmlns:a16="http://schemas.microsoft.com/office/drawing/2014/main" id="{435515D7-4CE9-4558-BA93-E245EFB64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6881206" cy="857047"/>
          </a:xfrm>
          <a:custGeom>
            <a:avLst/>
            <a:gdLst>
              <a:gd name="connsiteX0" fmla="*/ 0 w 6881206"/>
              <a:gd name="connsiteY0" fmla="*/ 0 h 857047"/>
              <a:gd name="connsiteX1" fmla="*/ 653445 w 6881206"/>
              <a:gd name="connsiteY1" fmla="*/ 0 h 857047"/>
              <a:gd name="connsiteX2" fmla="*/ 1156123 w 6881206"/>
              <a:gd name="connsiteY2" fmla="*/ 0 h 857047"/>
              <a:gd name="connsiteX3" fmla="*/ 1380221 w 6881206"/>
              <a:gd name="connsiteY3" fmla="*/ 0 h 857047"/>
              <a:gd name="connsiteX4" fmla="*/ 1444324 w 6881206"/>
              <a:gd name="connsiteY4" fmla="*/ 0 h 857047"/>
              <a:gd name="connsiteX5" fmla="*/ 1522072 w 6881206"/>
              <a:gd name="connsiteY5" fmla="*/ 0 h 857047"/>
              <a:gd name="connsiteX6" fmla="*/ 1596570 w 6881206"/>
              <a:gd name="connsiteY6" fmla="*/ 0 h 857047"/>
              <a:gd name="connsiteX7" fmla="*/ 1893047 w 6881206"/>
              <a:gd name="connsiteY7" fmla="*/ 0 h 857047"/>
              <a:gd name="connsiteX8" fmla="*/ 1978260 w 6881206"/>
              <a:gd name="connsiteY8" fmla="*/ 0 h 857047"/>
              <a:gd name="connsiteX9" fmla="*/ 2032793 w 6881206"/>
              <a:gd name="connsiteY9" fmla="*/ 0 h 857047"/>
              <a:gd name="connsiteX10" fmla="*/ 2095032 w 6881206"/>
              <a:gd name="connsiteY10" fmla="*/ 0 h 857047"/>
              <a:gd name="connsiteX11" fmla="*/ 2574748 w 6881206"/>
              <a:gd name="connsiteY11" fmla="*/ 0 h 857047"/>
              <a:gd name="connsiteX12" fmla="*/ 2712413 w 6881206"/>
              <a:gd name="connsiteY12" fmla="*/ 0 h 857047"/>
              <a:gd name="connsiteX13" fmla="*/ 2724164 w 6881206"/>
              <a:gd name="connsiteY13" fmla="*/ 0 h 857047"/>
              <a:gd name="connsiteX14" fmla="*/ 2806423 w 6881206"/>
              <a:gd name="connsiteY14" fmla="*/ 0 h 857047"/>
              <a:gd name="connsiteX15" fmla="*/ 2975563 w 6881206"/>
              <a:gd name="connsiteY15" fmla="*/ 0 h 857047"/>
              <a:gd name="connsiteX16" fmla="*/ 3029696 w 6881206"/>
              <a:gd name="connsiteY16" fmla="*/ 0 h 857047"/>
              <a:gd name="connsiteX17" fmla="*/ 3216247 w 6881206"/>
              <a:gd name="connsiteY17" fmla="*/ 0 h 857047"/>
              <a:gd name="connsiteX18" fmla="*/ 3464491 w 6881206"/>
              <a:gd name="connsiteY18" fmla="*/ 0 h 857047"/>
              <a:gd name="connsiteX19" fmla="*/ 3476820 w 6881206"/>
              <a:gd name="connsiteY19" fmla="*/ 0 h 857047"/>
              <a:gd name="connsiteX20" fmla="*/ 3508932 w 6881206"/>
              <a:gd name="connsiteY20" fmla="*/ 0 h 857047"/>
              <a:gd name="connsiteX21" fmla="*/ 3518154 w 6881206"/>
              <a:gd name="connsiteY21" fmla="*/ 0 h 857047"/>
              <a:gd name="connsiteX22" fmla="*/ 3563124 w 6881206"/>
              <a:gd name="connsiteY22" fmla="*/ 0 h 857047"/>
              <a:gd name="connsiteX23" fmla="*/ 3568615 w 6881206"/>
              <a:gd name="connsiteY23" fmla="*/ 0 h 857047"/>
              <a:gd name="connsiteX24" fmla="*/ 3582711 w 6881206"/>
              <a:gd name="connsiteY24" fmla="*/ 0 h 857047"/>
              <a:gd name="connsiteX25" fmla="*/ 3607047 w 6881206"/>
              <a:gd name="connsiteY25" fmla="*/ 0 h 857047"/>
              <a:gd name="connsiteX26" fmla="*/ 3711363 w 6881206"/>
              <a:gd name="connsiteY26" fmla="*/ 0 h 857047"/>
              <a:gd name="connsiteX27" fmla="*/ 3757936 w 6881206"/>
              <a:gd name="connsiteY27" fmla="*/ 0 h 857047"/>
              <a:gd name="connsiteX28" fmla="*/ 3914505 w 6881206"/>
              <a:gd name="connsiteY28" fmla="*/ 0 h 857047"/>
              <a:gd name="connsiteX29" fmla="*/ 4099165 w 6881206"/>
              <a:gd name="connsiteY29" fmla="*/ 0 h 857047"/>
              <a:gd name="connsiteX30" fmla="*/ 4176573 w 6881206"/>
              <a:gd name="connsiteY30" fmla="*/ 0 h 857047"/>
              <a:gd name="connsiteX31" fmla="*/ 4211043 w 6881206"/>
              <a:gd name="connsiteY31" fmla="*/ 0 h 857047"/>
              <a:gd name="connsiteX32" fmla="*/ 4249415 w 6881206"/>
              <a:gd name="connsiteY32" fmla="*/ 0 h 857047"/>
              <a:gd name="connsiteX33" fmla="*/ 4292911 w 6881206"/>
              <a:gd name="connsiteY33" fmla="*/ 0 h 857047"/>
              <a:gd name="connsiteX34" fmla="*/ 4715176 w 6881206"/>
              <a:gd name="connsiteY34" fmla="*/ 0 h 857047"/>
              <a:gd name="connsiteX35" fmla="*/ 4749035 w 6881206"/>
              <a:gd name="connsiteY35" fmla="*/ 0 h 857047"/>
              <a:gd name="connsiteX36" fmla="*/ 5107279 w 6881206"/>
              <a:gd name="connsiteY36" fmla="*/ 0 h 857047"/>
              <a:gd name="connsiteX37" fmla="*/ 5446306 w 6881206"/>
              <a:gd name="connsiteY37" fmla="*/ 0 h 857047"/>
              <a:gd name="connsiteX38" fmla="*/ 5654500 w 6881206"/>
              <a:gd name="connsiteY38" fmla="*/ 0 h 857047"/>
              <a:gd name="connsiteX39" fmla="*/ 5879355 w 6881206"/>
              <a:gd name="connsiteY39" fmla="*/ 0 h 857047"/>
              <a:gd name="connsiteX40" fmla="*/ 6374171 w 6881206"/>
              <a:gd name="connsiteY40" fmla="*/ 0 h 857047"/>
              <a:gd name="connsiteX41" fmla="*/ 6382691 w 6881206"/>
              <a:gd name="connsiteY41" fmla="*/ 0 h 857047"/>
              <a:gd name="connsiteX42" fmla="*/ 6406881 w 6881206"/>
              <a:gd name="connsiteY42" fmla="*/ 10516 h 857047"/>
              <a:gd name="connsiteX43" fmla="*/ 6411719 w 6881206"/>
              <a:gd name="connsiteY43" fmla="*/ 15774 h 857047"/>
              <a:gd name="connsiteX44" fmla="*/ 6412418 w 6881206"/>
              <a:gd name="connsiteY44" fmla="*/ 16534 h 857047"/>
              <a:gd name="connsiteX45" fmla="*/ 6413765 w 6881206"/>
              <a:gd name="connsiteY45" fmla="*/ 17998 h 857047"/>
              <a:gd name="connsiteX46" fmla="*/ 6418286 w 6881206"/>
              <a:gd name="connsiteY46" fmla="*/ 21854 h 857047"/>
              <a:gd name="connsiteX47" fmla="*/ 6867337 w 6881206"/>
              <a:gd name="connsiteY47" fmla="*/ 404863 h 857047"/>
              <a:gd name="connsiteX48" fmla="*/ 6867337 w 6881206"/>
              <a:gd name="connsiteY48" fmla="*/ 452185 h 857047"/>
              <a:gd name="connsiteX49" fmla="*/ 6491457 w 6881206"/>
              <a:gd name="connsiteY49" fmla="*/ 772784 h 857047"/>
              <a:gd name="connsiteX50" fmla="*/ 6413765 w 6881206"/>
              <a:gd name="connsiteY50" fmla="*/ 839050 h 857047"/>
              <a:gd name="connsiteX51" fmla="*/ 6411719 w 6881206"/>
              <a:gd name="connsiteY51" fmla="*/ 841273 h 857047"/>
              <a:gd name="connsiteX52" fmla="*/ 6406881 w 6881206"/>
              <a:gd name="connsiteY52" fmla="*/ 846531 h 857047"/>
              <a:gd name="connsiteX53" fmla="*/ 6382691 w 6881206"/>
              <a:gd name="connsiteY53" fmla="*/ 857047 h 857047"/>
              <a:gd name="connsiteX54" fmla="*/ 6374171 w 6881206"/>
              <a:gd name="connsiteY54" fmla="*/ 857047 h 857047"/>
              <a:gd name="connsiteX55" fmla="*/ 6368680 w 6881206"/>
              <a:gd name="connsiteY55" fmla="*/ 857047 h 857047"/>
              <a:gd name="connsiteX56" fmla="*/ 6348221 w 6881206"/>
              <a:gd name="connsiteY56" fmla="*/ 857047 h 857047"/>
              <a:gd name="connsiteX57" fmla="*/ 6330248 w 6881206"/>
              <a:gd name="connsiteY57" fmla="*/ 857047 h 857047"/>
              <a:gd name="connsiteX58" fmla="*/ 6266353 w 6881206"/>
              <a:gd name="connsiteY58" fmla="*/ 857047 h 857047"/>
              <a:gd name="connsiteX59" fmla="*/ 6225932 w 6881206"/>
              <a:gd name="connsiteY59" fmla="*/ 857047 h 857047"/>
              <a:gd name="connsiteX60" fmla="*/ 6106926 w 6881206"/>
              <a:gd name="connsiteY60" fmla="*/ 857047 h 857047"/>
              <a:gd name="connsiteX61" fmla="*/ 6022790 w 6881206"/>
              <a:gd name="connsiteY61" fmla="*/ 857047 h 857047"/>
              <a:gd name="connsiteX62" fmla="*/ 5844088 w 6881206"/>
              <a:gd name="connsiteY62" fmla="*/ 857047 h 857047"/>
              <a:gd name="connsiteX63" fmla="*/ 5687880 w 6881206"/>
              <a:gd name="connsiteY63" fmla="*/ 857047 h 857047"/>
              <a:gd name="connsiteX64" fmla="*/ 5451985 w 6881206"/>
              <a:gd name="connsiteY64" fmla="*/ 857047 h 857047"/>
              <a:gd name="connsiteX65" fmla="*/ 5188261 w 6881206"/>
              <a:gd name="connsiteY65" fmla="*/ 857047 h 857047"/>
              <a:gd name="connsiteX66" fmla="*/ 4904764 w 6881206"/>
              <a:gd name="connsiteY66" fmla="*/ 857047 h 857047"/>
              <a:gd name="connsiteX67" fmla="*/ 4490989 w 6881206"/>
              <a:gd name="connsiteY67" fmla="*/ 857047 h 857047"/>
              <a:gd name="connsiteX68" fmla="*/ 4176573 w 6881206"/>
              <a:gd name="connsiteY68" fmla="*/ 857047 h 857047"/>
              <a:gd name="connsiteX69" fmla="*/ 4099165 w 6881206"/>
              <a:gd name="connsiteY69" fmla="*/ 857047 h 857047"/>
              <a:gd name="connsiteX70" fmla="*/ 4089943 w 6881206"/>
              <a:gd name="connsiteY70" fmla="*/ 857047 h 857047"/>
              <a:gd name="connsiteX71" fmla="*/ 4057940 w 6881206"/>
              <a:gd name="connsiteY71" fmla="*/ 857047 h 857047"/>
              <a:gd name="connsiteX72" fmla="*/ 4025386 w 6881206"/>
              <a:gd name="connsiteY72" fmla="*/ 857047 h 857047"/>
              <a:gd name="connsiteX73" fmla="*/ 3850160 w 6881206"/>
              <a:gd name="connsiteY73" fmla="*/ 857047 h 857047"/>
              <a:gd name="connsiteX74" fmla="*/ 3563124 w 6881206"/>
              <a:gd name="connsiteY74" fmla="*/ 857047 h 857047"/>
              <a:gd name="connsiteX75" fmla="*/ 3550795 w 6881206"/>
              <a:gd name="connsiteY75" fmla="*/ 857047 h 857047"/>
              <a:gd name="connsiteX76" fmla="*/ 3508932 w 6881206"/>
              <a:gd name="connsiteY76" fmla="*/ 857047 h 857047"/>
              <a:gd name="connsiteX77" fmla="*/ 3483683 w 6881206"/>
              <a:gd name="connsiteY77" fmla="*/ 857047 h 857047"/>
              <a:gd name="connsiteX78" fmla="*/ 3464491 w 6881206"/>
              <a:gd name="connsiteY78" fmla="*/ 857047 h 857047"/>
              <a:gd name="connsiteX79" fmla="*/ 3452740 w 6881206"/>
              <a:gd name="connsiteY79" fmla="*/ 857047 h 857047"/>
              <a:gd name="connsiteX80" fmla="*/ 3423719 w 6881206"/>
              <a:gd name="connsiteY80" fmla="*/ 857047 h 857047"/>
              <a:gd name="connsiteX81" fmla="*/ 3370481 w 6881206"/>
              <a:gd name="connsiteY81" fmla="*/ 857047 h 857047"/>
              <a:gd name="connsiteX82" fmla="*/ 3306946 w 6881206"/>
              <a:gd name="connsiteY82" fmla="*/ 857047 h 857047"/>
              <a:gd name="connsiteX83" fmla="*/ 3147208 w 6881206"/>
              <a:gd name="connsiteY83" fmla="*/ 857047 h 857047"/>
              <a:gd name="connsiteX84" fmla="*/ 3114429 w 6881206"/>
              <a:gd name="connsiteY84" fmla="*/ 857047 h 857047"/>
              <a:gd name="connsiteX85" fmla="*/ 2960658 w 6881206"/>
              <a:gd name="connsiteY85" fmla="*/ 857047 h 857047"/>
              <a:gd name="connsiteX86" fmla="*/ 2827230 w 6881206"/>
              <a:gd name="connsiteY86" fmla="*/ 857047 h 857047"/>
              <a:gd name="connsiteX87" fmla="*/ 2712413 w 6881206"/>
              <a:gd name="connsiteY87" fmla="*/ 857047 h 857047"/>
              <a:gd name="connsiteX88" fmla="*/ 2680242 w 6881206"/>
              <a:gd name="connsiteY88" fmla="*/ 857047 h 857047"/>
              <a:gd name="connsiteX89" fmla="*/ 2603835 w 6881206"/>
              <a:gd name="connsiteY89" fmla="*/ 857047 h 857047"/>
              <a:gd name="connsiteX90" fmla="*/ 2455042 w 6881206"/>
              <a:gd name="connsiteY90" fmla="*/ 857047 h 857047"/>
              <a:gd name="connsiteX91" fmla="*/ 2426415 w 6881206"/>
              <a:gd name="connsiteY91" fmla="*/ 857047 h 857047"/>
              <a:gd name="connsiteX92" fmla="*/ 2209736 w 6881206"/>
              <a:gd name="connsiteY92" fmla="*/ 857047 h 857047"/>
              <a:gd name="connsiteX93" fmla="*/ 1893047 w 6881206"/>
              <a:gd name="connsiteY93" fmla="*/ 857047 h 857047"/>
              <a:gd name="connsiteX94" fmla="*/ 1885034 w 6881206"/>
              <a:gd name="connsiteY94" fmla="*/ 857047 h 857047"/>
              <a:gd name="connsiteX95" fmla="*/ 1843786 w 6881206"/>
              <a:gd name="connsiteY95" fmla="*/ 857047 h 857047"/>
              <a:gd name="connsiteX96" fmla="*/ 1828944 w 6881206"/>
              <a:gd name="connsiteY96" fmla="*/ 857047 h 857047"/>
              <a:gd name="connsiteX97" fmla="*/ 1380221 w 6881206"/>
              <a:gd name="connsiteY97" fmla="*/ 857047 h 857047"/>
              <a:gd name="connsiteX98" fmla="*/ 1333065 w 6881206"/>
              <a:gd name="connsiteY98" fmla="*/ 857047 h 857047"/>
              <a:gd name="connsiteX99" fmla="*/ 653445 w 6881206"/>
              <a:gd name="connsiteY99" fmla="*/ 857047 h 857047"/>
              <a:gd name="connsiteX100" fmla="*/ 0 w 6881206"/>
              <a:gd name="connsiteY100" fmla="*/ 857047 h 857047"/>
              <a:gd name="connsiteX101" fmla="*/ 0 w 6881206"/>
              <a:gd name="connsiteY101" fmla="*/ 0 h 85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881206" h="857047">
                <a:moveTo>
                  <a:pt x="0" y="0"/>
                </a:moveTo>
                <a:cubicBezTo>
                  <a:pt x="0" y="0"/>
                  <a:pt x="0" y="0"/>
                  <a:pt x="653445" y="0"/>
                </a:cubicBezTo>
                <a:cubicBezTo>
                  <a:pt x="653445" y="0"/>
                  <a:pt x="653445" y="0"/>
                  <a:pt x="1156123" y="0"/>
                </a:cubicBezTo>
                <a:lnTo>
                  <a:pt x="1380221" y="0"/>
                </a:lnTo>
                <a:cubicBezTo>
                  <a:pt x="1380221" y="0"/>
                  <a:pt x="1380221" y="0"/>
                  <a:pt x="1444324" y="0"/>
                </a:cubicBezTo>
                <a:lnTo>
                  <a:pt x="1522072" y="0"/>
                </a:lnTo>
                <a:lnTo>
                  <a:pt x="1596570" y="0"/>
                </a:lnTo>
                <a:cubicBezTo>
                  <a:pt x="1668686" y="0"/>
                  <a:pt x="1764840" y="0"/>
                  <a:pt x="1893047" y="0"/>
                </a:cubicBezTo>
                <a:cubicBezTo>
                  <a:pt x="1893047" y="0"/>
                  <a:pt x="1893047" y="0"/>
                  <a:pt x="1978260" y="0"/>
                </a:cubicBezTo>
                <a:lnTo>
                  <a:pt x="2032793" y="0"/>
                </a:lnTo>
                <a:lnTo>
                  <a:pt x="2095032" y="0"/>
                </a:lnTo>
                <a:cubicBezTo>
                  <a:pt x="2196025" y="0"/>
                  <a:pt x="2347515" y="0"/>
                  <a:pt x="2574748" y="0"/>
                </a:cubicBezTo>
                <a:lnTo>
                  <a:pt x="2712413" y="0"/>
                </a:lnTo>
                <a:lnTo>
                  <a:pt x="2724164" y="0"/>
                </a:lnTo>
                <a:lnTo>
                  <a:pt x="2806423" y="0"/>
                </a:lnTo>
                <a:lnTo>
                  <a:pt x="2975563" y="0"/>
                </a:lnTo>
                <a:lnTo>
                  <a:pt x="3029696" y="0"/>
                </a:lnTo>
                <a:lnTo>
                  <a:pt x="3216247" y="0"/>
                </a:lnTo>
                <a:lnTo>
                  <a:pt x="3464491" y="0"/>
                </a:lnTo>
                <a:lnTo>
                  <a:pt x="3476820" y="0"/>
                </a:lnTo>
                <a:lnTo>
                  <a:pt x="3508932" y="0"/>
                </a:lnTo>
                <a:cubicBezTo>
                  <a:pt x="3508932" y="0"/>
                  <a:pt x="3508932" y="0"/>
                  <a:pt x="3518154" y="0"/>
                </a:cubicBezTo>
                <a:lnTo>
                  <a:pt x="3563124" y="0"/>
                </a:lnTo>
                <a:lnTo>
                  <a:pt x="3568615" y="0"/>
                </a:lnTo>
                <a:lnTo>
                  <a:pt x="3582711" y="0"/>
                </a:lnTo>
                <a:lnTo>
                  <a:pt x="3607047" y="0"/>
                </a:lnTo>
                <a:lnTo>
                  <a:pt x="3711363" y="0"/>
                </a:lnTo>
                <a:lnTo>
                  <a:pt x="3757936" y="0"/>
                </a:lnTo>
                <a:lnTo>
                  <a:pt x="3914505" y="0"/>
                </a:lnTo>
                <a:lnTo>
                  <a:pt x="4099165" y="0"/>
                </a:lnTo>
                <a:cubicBezTo>
                  <a:pt x="4099165" y="0"/>
                  <a:pt x="4099165" y="0"/>
                  <a:pt x="4176573" y="0"/>
                </a:cubicBezTo>
                <a:cubicBezTo>
                  <a:pt x="4176573" y="0"/>
                  <a:pt x="4176573" y="0"/>
                  <a:pt x="4211043" y="0"/>
                </a:cubicBezTo>
                <a:lnTo>
                  <a:pt x="4249415" y="0"/>
                </a:lnTo>
                <a:lnTo>
                  <a:pt x="4292911" y="0"/>
                </a:lnTo>
                <a:cubicBezTo>
                  <a:pt x="4370470" y="0"/>
                  <a:pt x="4499735" y="0"/>
                  <a:pt x="4715176" y="0"/>
                </a:cubicBezTo>
                <a:lnTo>
                  <a:pt x="4749035" y="0"/>
                </a:lnTo>
                <a:lnTo>
                  <a:pt x="5107279" y="0"/>
                </a:lnTo>
                <a:lnTo>
                  <a:pt x="5446306" y="0"/>
                </a:lnTo>
                <a:lnTo>
                  <a:pt x="5654500" y="0"/>
                </a:lnTo>
                <a:lnTo>
                  <a:pt x="5879355" y="0"/>
                </a:lnTo>
                <a:lnTo>
                  <a:pt x="6374171" y="0"/>
                </a:lnTo>
                <a:lnTo>
                  <a:pt x="6382691" y="0"/>
                </a:lnTo>
                <a:cubicBezTo>
                  <a:pt x="6392367" y="0"/>
                  <a:pt x="6402043" y="5258"/>
                  <a:pt x="6406881" y="10516"/>
                </a:cubicBezTo>
                <a:cubicBezTo>
                  <a:pt x="6406881" y="10516"/>
                  <a:pt x="6411719" y="10516"/>
                  <a:pt x="6411719" y="15774"/>
                </a:cubicBezTo>
                <a:cubicBezTo>
                  <a:pt x="6411719" y="15774"/>
                  <a:pt x="6411719" y="15774"/>
                  <a:pt x="6412418" y="16534"/>
                </a:cubicBezTo>
                <a:lnTo>
                  <a:pt x="6413765" y="17998"/>
                </a:lnTo>
                <a:lnTo>
                  <a:pt x="6418286" y="21854"/>
                </a:lnTo>
                <a:cubicBezTo>
                  <a:pt x="6439669" y="40092"/>
                  <a:pt x="6525203" y="113046"/>
                  <a:pt x="6867337" y="404863"/>
                </a:cubicBezTo>
                <a:cubicBezTo>
                  <a:pt x="6885830" y="415379"/>
                  <a:pt x="6885830" y="436411"/>
                  <a:pt x="6867337" y="452185"/>
                </a:cubicBezTo>
                <a:cubicBezTo>
                  <a:pt x="6867337" y="452185"/>
                  <a:pt x="6867337" y="452185"/>
                  <a:pt x="6491457" y="772784"/>
                </a:cubicBezTo>
                <a:lnTo>
                  <a:pt x="6413765" y="839050"/>
                </a:lnTo>
                <a:lnTo>
                  <a:pt x="6411719" y="841273"/>
                </a:lnTo>
                <a:cubicBezTo>
                  <a:pt x="6411719" y="841273"/>
                  <a:pt x="6406881" y="841273"/>
                  <a:pt x="6406881" y="846531"/>
                </a:cubicBezTo>
                <a:cubicBezTo>
                  <a:pt x="6402043" y="851789"/>
                  <a:pt x="6392367" y="857047"/>
                  <a:pt x="6382691" y="857047"/>
                </a:cubicBezTo>
                <a:lnTo>
                  <a:pt x="6374171" y="857047"/>
                </a:lnTo>
                <a:lnTo>
                  <a:pt x="6368680" y="857047"/>
                </a:lnTo>
                <a:lnTo>
                  <a:pt x="6348221" y="857047"/>
                </a:lnTo>
                <a:lnTo>
                  <a:pt x="6330248" y="857047"/>
                </a:lnTo>
                <a:lnTo>
                  <a:pt x="6266353" y="857047"/>
                </a:lnTo>
                <a:lnTo>
                  <a:pt x="6225932" y="857047"/>
                </a:lnTo>
                <a:lnTo>
                  <a:pt x="6106926" y="857047"/>
                </a:lnTo>
                <a:lnTo>
                  <a:pt x="6022790" y="857047"/>
                </a:lnTo>
                <a:lnTo>
                  <a:pt x="5844088" y="857047"/>
                </a:lnTo>
                <a:lnTo>
                  <a:pt x="5687880" y="857047"/>
                </a:lnTo>
                <a:lnTo>
                  <a:pt x="5451985" y="857047"/>
                </a:lnTo>
                <a:lnTo>
                  <a:pt x="5188261" y="857047"/>
                </a:lnTo>
                <a:lnTo>
                  <a:pt x="4904764" y="857047"/>
                </a:lnTo>
                <a:lnTo>
                  <a:pt x="4490989" y="857047"/>
                </a:lnTo>
                <a:lnTo>
                  <a:pt x="4176573" y="857047"/>
                </a:lnTo>
                <a:cubicBezTo>
                  <a:pt x="4176573" y="857047"/>
                  <a:pt x="4176573" y="857047"/>
                  <a:pt x="4099165" y="857047"/>
                </a:cubicBezTo>
                <a:cubicBezTo>
                  <a:pt x="4099165" y="857047"/>
                  <a:pt x="4099165" y="857047"/>
                  <a:pt x="4089943" y="857047"/>
                </a:cubicBezTo>
                <a:lnTo>
                  <a:pt x="4057940" y="857047"/>
                </a:lnTo>
                <a:lnTo>
                  <a:pt x="4025386" y="857047"/>
                </a:lnTo>
                <a:cubicBezTo>
                  <a:pt x="3988496" y="857047"/>
                  <a:pt x="3933162" y="857047"/>
                  <a:pt x="3850160" y="857047"/>
                </a:cubicBezTo>
                <a:lnTo>
                  <a:pt x="3563124" y="857047"/>
                </a:lnTo>
                <a:lnTo>
                  <a:pt x="3550795" y="857047"/>
                </a:lnTo>
                <a:lnTo>
                  <a:pt x="3508932" y="857047"/>
                </a:lnTo>
                <a:cubicBezTo>
                  <a:pt x="3508932" y="857047"/>
                  <a:pt x="3508932" y="857047"/>
                  <a:pt x="3483683" y="857047"/>
                </a:cubicBezTo>
                <a:lnTo>
                  <a:pt x="3464491" y="857047"/>
                </a:lnTo>
                <a:lnTo>
                  <a:pt x="3452740" y="857047"/>
                </a:lnTo>
                <a:lnTo>
                  <a:pt x="3423719" y="857047"/>
                </a:lnTo>
                <a:lnTo>
                  <a:pt x="3370481" y="857047"/>
                </a:lnTo>
                <a:lnTo>
                  <a:pt x="3306946" y="857047"/>
                </a:lnTo>
                <a:lnTo>
                  <a:pt x="3147208" y="857047"/>
                </a:lnTo>
                <a:lnTo>
                  <a:pt x="3114429" y="857047"/>
                </a:lnTo>
                <a:lnTo>
                  <a:pt x="2960658" y="857047"/>
                </a:lnTo>
                <a:lnTo>
                  <a:pt x="2827230" y="857047"/>
                </a:lnTo>
                <a:lnTo>
                  <a:pt x="2712413" y="857047"/>
                </a:lnTo>
                <a:lnTo>
                  <a:pt x="2680242" y="857047"/>
                </a:lnTo>
                <a:lnTo>
                  <a:pt x="2603835" y="857047"/>
                </a:lnTo>
                <a:lnTo>
                  <a:pt x="2455042" y="857047"/>
                </a:lnTo>
                <a:lnTo>
                  <a:pt x="2426415" y="857047"/>
                </a:lnTo>
                <a:lnTo>
                  <a:pt x="2209736" y="857047"/>
                </a:lnTo>
                <a:lnTo>
                  <a:pt x="1893047" y="857047"/>
                </a:lnTo>
                <a:cubicBezTo>
                  <a:pt x="1893047" y="857047"/>
                  <a:pt x="1893047" y="857047"/>
                  <a:pt x="1885034" y="857047"/>
                </a:cubicBezTo>
                <a:lnTo>
                  <a:pt x="1843786" y="857047"/>
                </a:lnTo>
                <a:lnTo>
                  <a:pt x="1828944" y="857047"/>
                </a:lnTo>
                <a:cubicBezTo>
                  <a:pt x="1764840" y="857047"/>
                  <a:pt x="1636634" y="857047"/>
                  <a:pt x="1380221" y="857047"/>
                </a:cubicBezTo>
                <a:lnTo>
                  <a:pt x="1333065" y="857047"/>
                </a:lnTo>
                <a:cubicBezTo>
                  <a:pt x="1136016" y="857047"/>
                  <a:pt x="910816" y="857047"/>
                  <a:pt x="653445" y="857047"/>
                </a:cubicBezTo>
                <a:cubicBezTo>
                  <a:pt x="653445" y="857047"/>
                  <a:pt x="653445" y="857047"/>
                  <a:pt x="0" y="857047"/>
                </a:cubicBezTo>
                <a:cubicBezTo>
                  <a:pt x="0" y="857047"/>
                  <a:pt x="0" y="857047"/>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 name="Slide Number Placeholder 2">
            <a:extLst>
              <a:ext uri="{FF2B5EF4-FFF2-40B4-BE49-F238E27FC236}">
                <a16:creationId xmlns:a16="http://schemas.microsoft.com/office/drawing/2014/main" id="{0AAB132F-D52E-E628-5E23-C1FAA203A689}"/>
              </a:ext>
            </a:extLst>
          </p:cNvPr>
          <p:cNvSpPr>
            <a:spLocks noGrp="1"/>
          </p:cNvSpPr>
          <p:nvPr>
            <p:ph type="sldNum" sz="quarter" idx="12"/>
          </p:nvPr>
        </p:nvSpPr>
        <p:spPr>
          <a:xfrm>
            <a:off x="5744076" y="5202719"/>
            <a:ext cx="650510" cy="517624"/>
          </a:xfrm>
        </p:spPr>
        <p:txBody>
          <a:bodyPr vert="horz" lIns="91440" tIns="45720" rIns="91440" bIns="45720" rtlCol="0" anchor="ctr">
            <a:normAutofit/>
          </a:bodyPr>
          <a:lstStyle/>
          <a:p>
            <a:pPr defTabSz="914400">
              <a:spcAft>
                <a:spcPts val="600"/>
              </a:spcAft>
            </a:pPr>
            <a:fld id="{D57F1E4F-1CFF-5643-939E-217C01CDF565}" type="slidenum">
              <a:rPr lang="en-US" smtClean="0"/>
              <a:pPr defTabSz="914400">
                <a:spcAft>
                  <a:spcPts val="600"/>
                </a:spcAft>
              </a:pPr>
              <a:t>8</a:t>
            </a:fld>
            <a:endParaRPr lang="en-US"/>
          </a:p>
        </p:txBody>
      </p:sp>
      <p:pic>
        <p:nvPicPr>
          <p:cNvPr id="2" name="Picture 1">
            <a:extLst>
              <a:ext uri="{FF2B5EF4-FFF2-40B4-BE49-F238E27FC236}">
                <a16:creationId xmlns:a16="http://schemas.microsoft.com/office/drawing/2014/main" id="{2CD4AEDC-3E65-9906-A795-3026C33BD57B}"/>
              </a:ext>
            </a:extLst>
          </p:cNvPr>
          <p:cNvPicPr>
            <a:picLocks noChangeAspect="1"/>
          </p:cNvPicPr>
          <p:nvPr/>
        </p:nvPicPr>
        <p:blipFill>
          <a:blip r:embed="rId4"/>
          <a:stretch>
            <a:fillRect/>
          </a:stretch>
        </p:blipFill>
        <p:spPr>
          <a:xfrm>
            <a:off x="6532762" y="1289198"/>
            <a:ext cx="5306311" cy="3263500"/>
          </a:xfrm>
          <a:prstGeom prst="rect">
            <a:avLst/>
          </a:prstGeom>
        </p:spPr>
      </p:pic>
    </p:spTree>
    <p:extLst>
      <p:ext uri="{BB962C8B-B14F-4D97-AF65-F5344CB8AC3E}">
        <p14:creationId xmlns:p14="http://schemas.microsoft.com/office/powerpoint/2010/main" val="2399552650"/>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5" name="arrow.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CE83C802-0965-B15E-90D2-47148E13A532}"/>
            </a:ext>
          </a:extLst>
        </p:cNvPr>
        <p:cNvGrpSpPr/>
        <p:nvPr/>
      </p:nvGrpSpPr>
      <p:grpSpPr>
        <a:xfrm>
          <a:off x="0" y="0"/>
          <a:ext cx="0" cy="0"/>
          <a:chOff x="0" y="0"/>
          <a:chExt cx="0" cy="0"/>
        </a:xfrm>
      </p:grpSpPr>
      <p:grpSp>
        <p:nvGrpSpPr>
          <p:cNvPr id="272" name="Group 271">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273"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74"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75"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6"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77"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78"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279"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280"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281"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282"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283"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84"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86" name="Group 285">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87"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88"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89"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90"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91"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292"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293"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294"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295"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96"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97"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98"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00" name="Rectangle 299">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2"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304" name="Rectangle 303">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4639734"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Rectangle 1">
            <a:extLst>
              <a:ext uri="{FF2B5EF4-FFF2-40B4-BE49-F238E27FC236}">
                <a16:creationId xmlns:a16="http://schemas.microsoft.com/office/drawing/2014/main" id="{2B99E6C7-3665-EF68-0AB6-46A9FFF0ED4C}"/>
              </a:ext>
            </a:extLst>
          </p:cNvPr>
          <p:cNvSpPr>
            <a:spLocks noGrp="1" noChangeArrowheads="1"/>
          </p:cNvSpPr>
          <p:nvPr>
            <p:ph type="title"/>
          </p:nvPr>
        </p:nvSpPr>
        <p:spPr bwMode="auto">
          <a:xfrm>
            <a:off x="540279" y="967417"/>
            <a:ext cx="3778870" cy="3943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fontAlgn="base">
              <a:spcAft>
                <a:spcPct val="0"/>
              </a:spcAft>
            </a:pPr>
            <a:r>
              <a:rPr lang="en-US" sz="4000" b="1">
                <a:solidFill>
                  <a:srgbClr val="FEFFFF"/>
                </a:solidFill>
              </a:rPr>
              <a:t>Approval Rates by Category — Summary</a:t>
            </a:r>
            <a:br>
              <a:rPr lang="en-US" sz="4000">
                <a:solidFill>
                  <a:srgbClr val="FEFFFF"/>
                </a:solidFill>
              </a:rPr>
            </a:br>
            <a:endParaRPr kumimoji="0" lang="en-US" altLang="en-US" sz="4000" b="0" i="0" u="none" strike="noStrike" cap="none" normalizeH="0" baseline="0">
              <a:ln>
                <a:noFill/>
              </a:ln>
              <a:solidFill>
                <a:srgbClr val="FEFFFF"/>
              </a:solidFill>
              <a:effectLst/>
            </a:endParaRPr>
          </a:p>
        </p:txBody>
      </p:sp>
      <p:sp>
        <p:nvSpPr>
          <p:cNvPr id="308"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5404022"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Slide Number Placeholder 1">
            <a:extLst>
              <a:ext uri="{FF2B5EF4-FFF2-40B4-BE49-F238E27FC236}">
                <a16:creationId xmlns:a16="http://schemas.microsoft.com/office/drawing/2014/main" id="{06E42DD1-CB17-A8C5-1743-0F99201C4F79}"/>
              </a:ext>
            </a:extLst>
          </p:cNvPr>
          <p:cNvSpPr>
            <a:spLocks noGrp="1"/>
          </p:cNvSpPr>
          <p:nvPr>
            <p:ph type="sldNum" sz="quarter" idx="12"/>
          </p:nvPr>
        </p:nvSpPr>
        <p:spPr>
          <a:xfrm>
            <a:off x="4242486" y="5202719"/>
            <a:ext cx="650510" cy="517624"/>
          </a:xfrm>
        </p:spPr>
        <p:txBody>
          <a:bodyPr vert="horz" lIns="91440" tIns="45720" rIns="91440" bIns="45720" rtlCol="0" anchor="ctr">
            <a:normAutofit/>
          </a:bodyPr>
          <a:lstStyle/>
          <a:p>
            <a:pPr defTabSz="914400">
              <a:spcAft>
                <a:spcPts val="600"/>
              </a:spcAft>
            </a:pPr>
            <a:fld id="{D57F1E4F-1CFF-5643-939E-217C01CDF565}" type="slidenum">
              <a:rPr lang="en-US" smtClean="0"/>
              <a:pPr defTabSz="914400">
                <a:spcAft>
                  <a:spcPts val="600"/>
                </a:spcAft>
              </a:pPr>
              <a:t>9</a:t>
            </a:fld>
            <a:endParaRPr lang="en-US"/>
          </a:p>
        </p:txBody>
      </p:sp>
      <p:pic>
        <p:nvPicPr>
          <p:cNvPr id="6" name="Picture 5">
            <a:extLst>
              <a:ext uri="{FF2B5EF4-FFF2-40B4-BE49-F238E27FC236}">
                <a16:creationId xmlns:a16="http://schemas.microsoft.com/office/drawing/2014/main" id="{2C1F034B-6B77-7C52-458C-836EAD71AFB1}"/>
              </a:ext>
            </a:extLst>
          </p:cNvPr>
          <p:cNvPicPr>
            <a:picLocks noChangeAspect="1"/>
          </p:cNvPicPr>
          <p:nvPr/>
        </p:nvPicPr>
        <p:blipFill>
          <a:blip r:embed="rId4"/>
          <a:stretch>
            <a:fillRect/>
          </a:stretch>
        </p:blipFill>
        <p:spPr>
          <a:xfrm>
            <a:off x="4978404" y="719206"/>
            <a:ext cx="6711205" cy="4045300"/>
          </a:xfrm>
          <a:prstGeom prst="rect">
            <a:avLst/>
          </a:prstGeom>
        </p:spPr>
      </p:pic>
    </p:spTree>
    <p:extLst>
      <p:ext uri="{BB962C8B-B14F-4D97-AF65-F5344CB8AC3E}">
        <p14:creationId xmlns:p14="http://schemas.microsoft.com/office/powerpoint/2010/main" val="2394768425"/>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5" name="arrow.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20"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1"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2"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3"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4"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5"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26"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27"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28"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29"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0"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1"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33" name="Group 32">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34"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35"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36"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37"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38"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39"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40"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41"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42"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43"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44"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45"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47" name="Rectangle 46">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51" name="Rectangle 50">
            <a:extLst>
              <a:ext uri="{FF2B5EF4-FFF2-40B4-BE49-F238E27FC236}">
                <a16:creationId xmlns:a16="http://schemas.microsoft.com/office/drawing/2014/main" id="{22589B50-D615-4630-B6F7-29E99FF2C4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B87A83DF-4E7A-4A81-867E-10E29C4BD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 y="0"/>
            <a:ext cx="6111243"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5D8BFDF-E89D-7694-BF61-99039089615F}"/>
              </a:ext>
            </a:extLst>
          </p:cNvPr>
          <p:cNvSpPr>
            <a:spLocks noGrp="1"/>
          </p:cNvSpPr>
          <p:nvPr>
            <p:ph type="title"/>
          </p:nvPr>
        </p:nvSpPr>
        <p:spPr>
          <a:xfrm>
            <a:off x="540279" y="967417"/>
            <a:ext cx="5280460" cy="3943250"/>
          </a:xfrm>
        </p:spPr>
        <p:txBody>
          <a:bodyPr vert="horz" lIns="91440" tIns="45720" rIns="91440" bIns="45720" rtlCol="0" anchor="b">
            <a:normAutofit/>
          </a:bodyPr>
          <a:lstStyle/>
          <a:p>
            <a:r>
              <a:rPr lang="en-US" sz="4000" b="1">
                <a:solidFill>
                  <a:srgbClr val="FEFFFF"/>
                </a:solidFill>
              </a:rPr>
              <a:t>Credit History — Dominant Predictor</a:t>
            </a:r>
            <a:br>
              <a:rPr lang="en-US" sz="4000">
                <a:solidFill>
                  <a:srgbClr val="FEFFFF"/>
                </a:solidFill>
              </a:rPr>
            </a:br>
            <a:endParaRPr lang="en-US" sz="4000">
              <a:solidFill>
                <a:srgbClr val="FEFFFF"/>
              </a:solidFill>
            </a:endParaRPr>
          </a:p>
        </p:txBody>
      </p:sp>
      <p:sp>
        <p:nvSpPr>
          <p:cNvPr id="55" name="Freeform 27">
            <a:extLst>
              <a:ext uri="{FF2B5EF4-FFF2-40B4-BE49-F238E27FC236}">
                <a16:creationId xmlns:a16="http://schemas.microsoft.com/office/drawing/2014/main" id="{435515D7-4CE9-4558-BA93-E245EFB64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6881206" cy="857047"/>
          </a:xfrm>
          <a:custGeom>
            <a:avLst/>
            <a:gdLst>
              <a:gd name="connsiteX0" fmla="*/ 0 w 6881206"/>
              <a:gd name="connsiteY0" fmla="*/ 0 h 857047"/>
              <a:gd name="connsiteX1" fmla="*/ 653445 w 6881206"/>
              <a:gd name="connsiteY1" fmla="*/ 0 h 857047"/>
              <a:gd name="connsiteX2" fmla="*/ 1156123 w 6881206"/>
              <a:gd name="connsiteY2" fmla="*/ 0 h 857047"/>
              <a:gd name="connsiteX3" fmla="*/ 1380221 w 6881206"/>
              <a:gd name="connsiteY3" fmla="*/ 0 h 857047"/>
              <a:gd name="connsiteX4" fmla="*/ 1444324 w 6881206"/>
              <a:gd name="connsiteY4" fmla="*/ 0 h 857047"/>
              <a:gd name="connsiteX5" fmla="*/ 1522072 w 6881206"/>
              <a:gd name="connsiteY5" fmla="*/ 0 h 857047"/>
              <a:gd name="connsiteX6" fmla="*/ 1596570 w 6881206"/>
              <a:gd name="connsiteY6" fmla="*/ 0 h 857047"/>
              <a:gd name="connsiteX7" fmla="*/ 1893047 w 6881206"/>
              <a:gd name="connsiteY7" fmla="*/ 0 h 857047"/>
              <a:gd name="connsiteX8" fmla="*/ 1978260 w 6881206"/>
              <a:gd name="connsiteY8" fmla="*/ 0 h 857047"/>
              <a:gd name="connsiteX9" fmla="*/ 2032793 w 6881206"/>
              <a:gd name="connsiteY9" fmla="*/ 0 h 857047"/>
              <a:gd name="connsiteX10" fmla="*/ 2095032 w 6881206"/>
              <a:gd name="connsiteY10" fmla="*/ 0 h 857047"/>
              <a:gd name="connsiteX11" fmla="*/ 2574748 w 6881206"/>
              <a:gd name="connsiteY11" fmla="*/ 0 h 857047"/>
              <a:gd name="connsiteX12" fmla="*/ 2712413 w 6881206"/>
              <a:gd name="connsiteY12" fmla="*/ 0 h 857047"/>
              <a:gd name="connsiteX13" fmla="*/ 2724164 w 6881206"/>
              <a:gd name="connsiteY13" fmla="*/ 0 h 857047"/>
              <a:gd name="connsiteX14" fmla="*/ 2806423 w 6881206"/>
              <a:gd name="connsiteY14" fmla="*/ 0 h 857047"/>
              <a:gd name="connsiteX15" fmla="*/ 2975563 w 6881206"/>
              <a:gd name="connsiteY15" fmla="*/ 0 h 857047"/>
              <a:gd name="connsiteX16" fmla="*/ 3029696 w 6881206"/>
              <a:gd name="connsiteY16" fmla="*/ 0 h 857047"/>
              <a:gd name="connsiteX17" fmla="*/ 3216247 w 6881206"/>
              <a:gd name="connsiteY17" fmla="*/ 0 h 857047"/>
              <a:gd name="connsiteX18" fmla="*/ 3464491 w 6881206"/>
              <a:gd name="connsiteY18" fmla="*/ 0 h 857047"/>
              <a:gd name="connsiteX19" fmla="*/ 3476820 w 6881206"/>
              <a:gd name="connsiteY19" fmla="*/ 0 h 857047"/>
              <a:gd name="connsiteX20" fmla="*/ 3508932 w 6881206"/>
              <a:gd name="connsiteY20" fmla="*/ 0 h 857047"/>
              <a:gd name="connsiteX21" fmla="*/ 3518154 w 6881206"/>
              <a:gd name="connsiteY21" fmla="*/ 0 h 857047"/>
              <a:gd name="connsiteX22" fmla="*/ 3563124 w 6881206"/>
              <a:gd name="connsiteY22" fmla="*/ 0 h 857047"/>
              <a:gd name="connsiteX23" fmla="*/ 3568615 w 6881206"/>
              <a:gd name="connsiteY23" fmla="*/ 0 h 857047"/>
              <a:gd name="connsiteX24" fmla="*/ 3582711 w 6881206"/>
              <a:gd name="connsiteY24" fmla="*/ 0 h 857047"/>
              <a:gd name="connsiteX25" fmla="*/ 3607047 w 6881206"/>
              <a:gd name="connsiteY25" fmla="*/ 0 h 857047"/>
              <a:gd name="connsiteX26" fmla="*/ 3711363 w 6881206"/>
              <a:gd name="connsiteY26" fmla="*/ 0 h 857047"/>
              <a:gd name="connsiteX27" fmla="*/ 3757936 w 6881206"/>
              <a:gd name="connsiteY27" fmla="*/ 0 h 857047"/>
              <a:gd name="connsiteX28" fmla="*/ 3914505 w 6881206"/>
              <a:gd name="connsiteY28" fmla="*/ 0 h 857047"/>
              <a:gd name="connsiteX29" fmla="*/ 4099165 w 6881206"/>
              <a:gd name="connsiteY29" fmla="*/ 0 h 857047"/>
              <a:gd name="connsiteX30" fmla="*/ 4176573 w 6881206"/>
              <a:gd name="connsiteY30" fmla="*/ 0 h 857047"/>
              <a:gd name="connsiteX31" fmla="*/ 4211043 w 6881206"/>
              <a:gd name="connsiteY31" fmla="*/ 0 h 857047"/>
              <a:gd name="connsiteX32" fmla="*/ 4249415 w 6881206"/>
              <a:gd name="connsiteY32" fmla="*/ 0 h 857047"/>
              <a:gd name="connsiteX33" fmla="*/ 4292911 w 6881206"/>
              <a:gd name="connsiteY33" fmla="*/ 0 h 857047"/>
              <a:gd name="connsiteX34" fmla="*/ 4715176 w 6881206"/>
              <a:gd name="connsiteY34" fmla="*/ 0 h 857047"/>
              <a:gd name="connsiteX35" fmla="*/ 4749035 w 6881206"/>
              <a:gd name="connsiteY35" fmla="*/ 0 h 857047"/>
              <a:gd name="connsiteX36" fmla="*/ 5107279 w 6881206"/>
              <a:gd name="connsiteY36" fmla="*/ 0 h 857047"/>
              <a:gd name="connsiteX37" fmla="*/ 5446306 w 6881206"/>
              <a:gd name="connsiteY37" fmla="*/ 0 h 857047"/>
              <a:gd name="connsiteX38" fmla="*/ 5654500 w 6881206"/>
              <a:gd name="connsiteY38" fmla="*/ 0 h 857047"/>
              <a:gd name="connsiteX39" fmla="*/ 5879355 w 6881206"/>
              <a:gd name="connsiteY39" fmla="*/ 0 h 857047"/>
              <a:gd name="connsiteX40" fmla="*/ 6374171 w 6881206"/>
              <a:gd name="connsiteY40" fmla="*/ 0 h 857047"/>
              <a:gd name="connsiteX41" fmla="*/ 6382691 w 6881206"/>
              <a:gd name="connsiteY41" fmla="*/ 0 h 857047"/>
              <a:gd name="connsiteX42" fmla="*/ 6406881 w 6881206"/>
              <a:gd name="connsiteY42" fmla="*/ 10516 h 857047"/>
              <a:gd name="connsiteX43" fmla="*/ 6411719 w 6881206"/>
              <a:gd name="connsiteY43" fmla="*/ 15774 h 857047"/>
              <a:gd name="connsiteX44" fmla="*/ 6412418 w 6881206"/>
              <a:gd name="connsiteY44" fmla="*/ 16534 h 857047"/>
              <a:gd name="connsiteX45" fmla="*/ 6413765 w 6881206"/>
              <a:gd name="connsiteY45" fmla="*/ 17998 h 857047"/>
              <a:gd name="connsiteX46" fmla="*/ 6418286 w 6881206"/>
              <a:gd name="connsiteY46" fmla="*/ 21854 h 857047"/>
              <a:gd name="connsiteX47" fmla="*/ 6867337 w 6881206"/>
              <a:gd name="connsiteY47" fmla="*/ 404863 h 857047"/>
              <a:gd name="connsiteX48" fmla="*/ 6867337 w 6881206"/>
              <a:gd name="connsiteY48" fmla="*/ 452185 h 857047"/>
              <a:gd name="connsiteX49" fmla="*/ 6491457 w 6881206"/>
              <a:gd name="connsiteY49" fmla="*/ 772784 h 857047"/>
              <a:gd name="connsiteX50" fmla="*/ 6413765 w 6881206"/>
              <a:gd name="connsiteY50" fmla="*/ 839050 h 857047"/>
              <a:gd name="connsiteX51" fmla="*/ 6411719 w 6881206"/>
              <a:gd name="connsiteY51" fmla="*/ 841273 h 857047"/>
              <a:gd name="connsiteX52" fmla="*/ 6406881 w 6881206"/>
              <a:gd name="connsiteY52" fmla="*/ 846531 h 857047"/>
              <a:gd name="connsiteX53" fmla="*/ 6382691 w 6881206"/>
              <a:gd name="connsiteY53" fmla="*/ 857047 h 857047"/>
              <a:gd name="connsiteX54" fmla="*/ 6374171 w 6881206"/>
              <a:gd name="connsiteY54" fmla="*/ 857047 h 857047"/>
              <a:gd name="connsiteX55" fmla="*/ 6368680 w 6881206"/>
              <a:gd name="connsiteY55" fmla="*/ 857047 h 857047"/>
              <a:gd name="connsiteX56" fmla="*/ 6348221 w 6881206"/>
              <a:gd name="connsiteY56" fmla="*/ 857047 h 857047"/>
              <a:gd name="connsiteX57" fmla="*/ 6330248 w 6881206"/>
              <a:gd name="connsiteY57" fmla="*/ 857047 h 857047"/>
              <a:gd name="connsiteX58" fmla="*/ 6266353 w 6881206"/>
              <a:gd name="connsiteY58" fmla="*/ 857047 h 857047"/>
              <a:gd name="connsiteX59" fmla="*/ 6225932 w 6881206"/>
              <a:gd name="connsiteY59" fmla="*/ 857047 h 857047"/>
              <a:gd name="connsiteX60" fmla="*/ 6106926 w 6881206"/>
              <a:gd name="connsiteY60" fmla="*/ 857047 h 857047"/>
              <a:gd name="connsiteX61" fmla="*/ 6022790 w 6881206"/>
              <a:gd name="connsiteY61" fmla="*/ 857047 h 857047"/>
              <a:gd name="connsiteX62" fmla="*/ 5844088 w 6881206"/>
              <a:gd name="connsiteY62" fmla="*/ 857047 h 857047"/>
              <a:gd name="connsiteX63" fmla="*/ 5687880 w 6881206"/>
              <a:gd name="connsiteY63" fmla="*/ 857047 h 857047"/>
              <a:gd name="connsiteX64" fmla="*/ 5451985 w 6881206"/>
              <a:gd name="connsiteY64" fmla="*/ 857047 h 857047"/>
              <a:gd name="connsiteX65" fmla="*/ 5188261 w 6881206"/>
              <a:gd name="connsiteY65" fmla="*/ 857047 h 857047"/>
              <a:gd name="connsiteX66" fmla="*/ 4904764 w 6881206"/>
              <a:gd name="connsiteY66" fmla="*/ 857047 h 857047"/>
              <a:gd name="connsiteX67" fmla="*/ 4490989 w 6881206"/>
              <a:gd name="connsiteY67" fmla="*/ 857047 h 857047"/>
              <a:gd name="connsiteX68" fmla="*/ 4176573 w 6881206"/>
              <a:gd name="connsiteY68" fmla="*/ 857047 h 857047"/>
              <a:gd name="connsiteX69" fmla="*/ 4099165 w 6881206"/>
              <a:gd name="connsiteY69" fmla="*/ 857047 h 857047"/>
              <a:gd name="connsiteX70" fmla="*/ 4089943 w 6881206"/>
              <a:gd name="connsiteY70" fmla="*/ 857047 h 857047"/>
              <a:gd name="connsiteX71" fmla="*/ 4057940 w 6881206"/>
              <a:gd name="connsiteY71" fmla="*/ 857047 h 857047"/>
              <a:gd name="connsiteX72" fmla="*/ 4025386 w 6881206"/>
              <a:gd name="connsiteY72" fmla="*/ 857047 h 857047"/>
              <a:gd name="connsiteX73" fmla="*/ 3850160 w 6881206"/>
              <a:gd name="connsiteY73" fmla="*/ 857047 h 857047"/>
              <a:gd name="connsiteX74" fmla="*/ 3563124 w 6881206"/>
              <a:gd name="connsiteY74" fmla="*/ 857047 h 857047"/>
              <a:gd name="connsiteX75" fmla="*/ 3550795 w 6881206"/>
              <a:gd name="connsiteY75" fmla="*/ 857047 h 857047"/>
              <a:gd name="connsiteX76" fmla="*/ 3508932 w 6881206"/>
              <a:gd name="connsiteY76" fmla="*/ 857047 h 857047"/>
              <a:gd name="connsiteX77" fmla="*/ 3483683 w 6881206"/>
              <a:gd name="connsiteY77" fmla="*/ 857047 h 857047"/>
              <a:gd name="connsiteX78" fmla="*/ 3464491 w 6881206"/>
              <a:gd name="connsiteY78" fmla="*/ 857047 h 857047"/>
              <a:gd name="connsiteX79" fmla="*/ 3452740 w 6881206"/>
              <a:gd name="connsiteY79" fmla="*/ 857047 h 857047"/>
              <a:gd name="connsiteX80" fmla="*/ 3423719 w 6881206"/>
              <a:gd name="connsiteY80" fmla="*/ 857047 h 857047"/>
              <a:gd name="connsiteX81" fmla="*/ 3370481 w 6881206"/>
              <a:gd name="connsiteY81" fmla="*/ 857047 h 857047"/>
              <a:gd name="connsiteX82" fmla="*/ 3306946 w 6881206"/>
              <a:gd name="connsiteY82" fmla="*/ 857047 h 857047"/>
              <a:gd name="connsiteX83" fmla="*/ 3147208 w 6881206"/>
              <a:gd name="connsiteY83" fmla="*/ 857047 h 857047"/>
              <a:gd name="connsiteX84" fmla="*/ 3114429 w 6881206"/>
              <a:gd name="connsiteY84" fmla="*/ 857047 h 857047"/>
              <a:gd name="connsiteX85" fmla="*/ 2960658 w 6881206"/>
              <a:gd name="connsiteY85" fmla="*/ 857047 h 857047"/>
              <a:gd name="connsiteX86" fmla="*/ 2827230 w 6881206"/>
              <a:gd name="connsiteY86" fmla="*/ 857047 h 857047"/>
              <a:gd name="connsiteX87" fmla="*/ 2712413 w 6881206"/>
              <a:gd name="connsiteY87" fmla="*/ 857047 h 857047"/>
              <a:gd name="connsiteX88" fmla="*/ 2680242 w 6881206"/>
              <a:gd name="connsiteY88" fmla="*/ 857047 h 857047"/>
              <a:gd name="connsiteX89" fmla="*/ 2603835 w 6881206"/>
              <a:gd name="connsiteY89" fmla="*/ 857047 h 857047"/>
              <a:gd name="connsiteX90" fmla="*/ 2455042 w 6881206"/>
              <a:gd name="connsiteY90" fmla="*/ 857047 h 857047"/>
              <a:gd name="connsiteX91" fmla="*/ 2426415 w 6881206"/>
              <a:gd name="connsiteY91" fmla="*/ 857047 h 857047"/>
              <a:gd name="connsiteX92" fmla="*/ 2209736 w 6881206"/>
              <a:gd name="connsiteY92" fmla="*/ 857047 h 857047"/>
              <a:gd name="connsiteX93" fmla="*/ 1893047 w 6881206"/>
              <a:gd name="connsiteY93" fmla="*/ 857047 h 857047"/>
              <a:gd name="connsiteX94" fmla="*/ 1885034 w 6881206"/>
              <a:gd name="connsiteY94" fmla="*/ 857047 h 857047"/>
              <a:gd name="connsiteX95" fmla="*/ 1843786 w 6881206"/>
              <a:gd name="connsiteY95" fmla="*/ 857047 h 857047"/>
              <a:gd name="connsiteX96" fmla="*/ 1828944 w 6881206"/>
              <a:gd name="connsiteY96" fmla="*/ 857047 h 857047"/>
              <a:gd name="connsiteX97" fmla="*/ 1380221 w 6881206"/>
              <a:gd name="connsiteY97" fmla="*/ 857047 h 857047"/>
              <a:gd name="connsiteX98" fmla="*/ 1333065 w 6881206"/>
              <a:gd name="connsiteY98" fmla="*/ 857047 h 857047"/>
              <a:gd name="connsiteX99" fmla="*/ 653445 w 6881206"/>
              <a:gd name="connsiteY99" fmla="*/ 857047 h 857047"/>
              <a:gd name="connsiteX100" fmla="*/ 0 w 6881206"/>
              <a:gd name="connsiteY100" fmla="*/ 857047 h 857047"/>
              <a:gd name="connsiteX101" fmla="*/ 0 w 6881206"/>
              <a:gd name="connsiteY101" fmla="*/ 0 h 85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881206" h="857047">
                <a:moveTo>
                  <a:pt x="0" y="0"/>
                </a:moveTo>
                <a:cubicBezTo>
                  <a:pt x="0" y="0"/>
                  <a:pt x="0" y="0"/>
                  <a:pt x="653445" y="0"/>
                </a:cubicBezTo>
                <a:cubicBezTo>
                  <a:pt x="653445" y="0"/>
                  <a:pt x="653445" y="0"/>
                  <a:pt x="1156123" y="0"/>
                </a:cubicBezTo>
                <a:lnTo>
                  <a:pt x="1380221" y="0"/>
                </a:lnTo>
                <a:cubicBezTo>
                  <a:pt x="1380221" y="0"/>
                  <a:pt x="1380221" y="0"/>
                  <a:pt x="1444324" y="0"/>
                </a:cubicBezTo>
                <a:lnTo>
                  <a:pt x="1522072" y="0"/>
                </a:lnTo>
                <a:lnTo>
                  <a:pt x="1596570" y="0"/>
                </a:lnTo>
                <a:cubicBezTo>
                  <a:pt x="1668686" y="0"/>
                  <a:pt x="1764840" y="0"/>
                  <a:pt x="1893047" y="0"/>
                </a:cubicBezTo>
                <a:cubicBezTo>
                  <a:pt x="1893047" y="0"/>
                  <a:pt x="1893047" y="0"/>
                  <a:pt x="1978260" y="0"/>
                </a:cubicBezTo>
                <a:lnTo>
                  <a:pt x="2032793" y="0"/>
                </a:lnTo>
                <a:lnTo>
                  <a:pt x="2095032" y="0"/>
                </a:lnTo>
                <a:cubicBezTo>
                  <a:pt x="2196025" y="0"/>
                  <a:pt x="2347515" y="0"/>
                  <a:pt x="2574748" y="0"/>
                </a:cubicBezTo>
                <a:lnTo>
                  <a:pt x="2712413" y="0"/>
                </a:lnTo>
                <a:lnTo>
                  <a:pt x="2724164" y="0"/>
                </a:lnTo>
                <a:lnTo>
                  <a:pt x="2806423" y="0"/>
                </a:lnTo>
                <a:lnTo>
                  <a:pt x="2975563" y="0"/>
                </a:lnTo>
                <a:lnTo>
                  <a:pt x="3029696" y="0"/>
                </a:lnTo>
                <a:lnTo>
                  <a:pt x="3216247" y="0"/>
                </a:lnTo>
                <a:lnTo>
                  <a:pt x="3464491" y="0"/>
                </a:lnTo>
                <a:lnTo>
                  <a:pt x="3476820" y="0"/>
                </a:lnTo>
                <a:lnTo>
                  <a:pt x="3508932" y="0"/>
                </a:lnTo>
                <a:cubicBezTo>
                  <a:pt x="3508932" y="0"/>
                  <a:pt x="3508932" y="0"/>
                  <a:pt x="3518154" y="0"/>
                </a:cubicBezTo>
                <a:lnTo>
                  <a:pt x="3563124" y="0"/>
                </a:lnTo>
                <a:lnTo>
                  <a:pt x="3568615" y="0"/>
                </a:lnTo>
                <a:lnTo>
                  <a:pt x="3582711" y="0"/>
                </a:lnTo>
                <a:lnTo>
                  <a:pt x="3607047" y="0"/>
                </a:lnTo>
                <a:lnTo>
                  <a:pt x="3711363" y="0"/>
                </a:lnTo>
                <a:lnTo>
                  <a:pt x="3757936" y="0"/>
                </a:lnTo>
                <a:lnTo>
                  <a:pt x="3914505" y="0"/>
                </a:lnTo>
                <a:lnTo>
                  <a:pt x="4099165" y="0"/>
                </a:lnTo>
                <a:cubicBezTo>
                  <a:pt x="4099165" y="0"/>
                  <a:pt x="4099165" y="0"/>
                  <a:pt x="4176573" y="0"/>
                </a:cubicBezTo>
                <a:cubicBezTo>
                  <a:pt x="4176573" y="0"/>
                  <a:pt x="4176573" y="0"/>
                  <a:pt x="4211043" y="0"/>
                </a:cubicBezTo>
                <a:lnTo>
                  <a:pt x="4249415" y="0"/>
                </a:lnTo>
                <a:lnTo>
                  <a:pt x="4292911" y="0"/>
                </a:lnTo>
                <a:cubicBezTo>
                  <a:pt x="4370470" y="0"/>
                  <a:pt x="4499735" y="0"/>
                  <a:pt x="4715176" y="0"/>
                </a:cubicBezTo>
                <a:lnTo>
                  <a:pt x="4749035" y="0"/>
                </a:lnTo>
                <a:lnTo>
                  <a:pt x="5107279" y="0"/>
                </a:lnTo>
                <a:lnTo>
                  <a:pt x="5446306" y="0"/>
                </a:lnTo>
                <a:lnTo>
                  <a:pt x="5654500" y="0"/>
                </a:lnTo>
                <a:lnTo>
                  <a:pt x="5879355" y="0"/>
                </a:lnTo>
                <a:lnTo>
                  <a:pt x="6374171" y="0"/>
                </a:lnTo>
                <a:lnTo>
                  <a:pt x="6382691" y="0"/>
                </a:lnTo>
                <a:cubicBezTo>
                  <a:pt x="6392367" y="0"/>
                  <a:pt x="6402043" y="5258"/>
                  <a:pt x="6406881" y="10516"/>
                </a:cubicBezTo>
                <a:cubicBezTo>
                  <a:pt x="6406881" y="10516"/>
                  <a:pt x="6411719" y="10516"/>
                  <a:pt x="6411719" y="15774"/>
                </a:cubicBezTo>
                <a:cubicBezTo>
                  <a:pt x="6411719" y="15774"/>
                  <a:pt x="6411719" y="15774"/>
                  <a:pt x="6412418" y="16534"/>
                </a:cubicBezTo>
                <a:lnTo>
                  <a:pt x="6413765" y="17998"/>
                </a:lnTo>
                <a:lnTo>
                  <a:pt x="6418286" y="21854"/>
                </a:lnTo>
                <a:cubicBezTo>
                  <a:pt x="6439669" y="40092"/>
                  <a:pt x="6525203" y="113046"/>
                  <a:pt x="6867337" y="404863"/>
                </a:cubicBezTo>
                <a:cubicBezTo>
                  <a:pt x="6885830" y="415379"/>
                  <a:pt x="6885830" y="436411"/>
                  <a:pt x="6867337" y="452185"/>
                </a:cubicBezTo>
                <a:cubicBezTo>
                  <a:pt x="6867337" y="452185"/>
                  <a:pt x="6867337" y="452185"/>
                  <a:pt x="6491457" y="772784"/>
                </a:cubicBezTo>
                <a:lnTo>
                  <a:pt x="6413765" y="839050"/>
                </a:lnTo>
                <a:lnTo>
                  <a:pt x="6411719" y="841273"/>
                </a:lnTo>
                <a:cubicBezTo>
                  <a:pt x="6411719" y="841273"/>
                  <a:pt x="6406881" y="841273"/>
                  <a:pt x="6406881" y="846531"/>
                </a:cubicBezTo>
                <a:cubicBezTo>
                  <a:pt x="6402043" y="851789"/>
                  <a:pt x="6392367" y="857047"/>
                  <a:pt x="6382691" y="857047"/>
                </a:cubicBezTo>
                <a:lnTo>
                  <a:pt x="6374171" y="857047"/>
                </a:lnTo>
                <a:lnTo>
                  <a:pt x="6368680" y="857047"/>
                </a:lnTo>
                <a:lnTo>
                  <a:pt x="6348221" y="857047"/>
                </a:lnTo>
                <a:lnTo>
                  <a:pt x="6330248" y="857047"/>
                </a:lnTo>
                <a:lnTo>
                  <a:pt x="6266353" y="857047"/>
                </a:lnTo>
                <a:lnTo>
                  <a:pt x="6225932" y="857047"/>
                </a:lnTo>
                <a:lnTo>
                  <a:pt x="6106926" y="857047"/>
                </a:lnTo>
                <a:lnTo>
                  <a:pt x="6022790" y="857047"/>
                </a:lnTo>
                <a:lnTo>
                  <a:pt x="5844088" y="857047"/>
                </a:lnTo>
                <a:lnTo>
                  <a:pt x="5687880" y="857047"/>
                </a:lnTo>
                <a:lnTo>
                  <a:pt x="5451985" y="857047"/>
                </a:lnTo>
                <a:lnTo>
                  <a:pt x="5188261" y="857047"/>
                </a:lnTo>
                <a:lnTo>
                  <a:pt x="4904764" y="857047"/>
                </a:lnTo>
                <a:lnTo>
                  <a:pt x="4490989" y="857047"/>
                </a:lnTo>
                <a:lnTo>
                  <a:pt x="4176573" y="857047"/>
                </a:lnTo>
                <a:cubicBezTo>
                  <a:pt x="4176573" y="857047"/>
                  <a:pt x="4176573" y="857047"/>
                  <a:pt x="4099165" y="857047"/>
                </a:cubicBezTo>
                <a:cubicBezTo>
                  <a:pt x="4099165" y="857047"/>
                  <a:pt x="4099165" y="857047"/>
                  <a:pt x="4089943" y="857047"/>
                </a:cubicBezTo>
                <a:lnTo>
                  <a:pt x="4057940" y="857047"/>
                </a:lnTo>
                <a:lnTo>
                  <a:pt x="4025386" y="857047"/>
                </a:lnTo>
                <a:cubicBezTo>
                  <a:pt x="3988496" y="857047"/>
                  <a:pt x="3933162" y="857047"/>
                  <a:pt x="3850160" y="857047"/>
                </a:cubicBezTo>
                <a:lnTo>
                  <a:pt x="3563124" y="857047"/>
                </a:lnTo>
                <a:lnTo>
                  <a:pt x="3550795" y="857047"/>
                </a:lnTo>
                <a:lnTo>
                  <a:pt x="3508932" y="857047"/>
                </a:lnTo>
                <a:cubicBezTo>
                  <a:pt x="3508932" y="857047"/>
                  <a:pt x="3508932" y="857047"/>
                  <a:pt x="3483683" y="857047"/>
                </a:cubicBezTo>
                <a:lnTo>
                  <a:pt x="3464491" y="857047"/>
                </a:lnTo>
                <a:lnTo>
                  <a:pt x="3452740" y="857047"/>
                </a:lnTo>
                <a:lnTo>
                  <a:pt x="3423719" y="857047"/>
                </a:lnTo>
                <a:lnTo>
                  <a:pt x="3370481" y="857047"/>
                </a:lnTo>
                <a:lnTo>
                  <a:pt x="3306946" y="857047"/>
                </a:lnTo>
                <a:lnTo>
                  <a:pt x="3147208" y="857047"/>
                </a:lnTo>
                <a:lnTo>
                  <a:pt x="3114429" y="857047"/>
                </a:lnTo>
                <a:lnTo>
                  <a:pt x="2960658" y="857047"/>
                </a:lnTo>
                <a:lnTo>
                  <a:pt x="2827230" y="857047"/>
                </a:lnTo>
                <a:lnTo>
                  <a:pt x="2712413" y="857047"/>
                </a:lnTo>
                <a:lnTo>
                  <a:pt x="2680242" y="857047"/>
                </a:lnTo>
                <a:lnTo>
                  <a:pt x="2603835" y="857047"/>
                </a:lnTo>
                <a:lnTo>
                  <a:pt x="2455042" y="857047"/>
                </a:lnTo>
                <a:lnTo>
                  <a:pt x="2426415" y="857047"/>
                </a:lnTo>
                <a:lnTo>
                  <a:pt x="2209736" y="857047"/>
                </a:lnTo>
                <a:lnTo>
                  <a:pt x="1893047" y="857047"/>
                </a:lnTo>
                <a:cubicBezTo>
                  <a:pt x="1893047" y="857047"/>
                  <a:pt x="1893047" y="857047"/>
                  <a:pt x="1885034" y="857047"/>
                </a:cubicBezTo>
                <a:lnTo>
                  <a:pt x="1843786" y="857047"/>
                </a:lnTo>
                <a:lnTo>
                  <a:pt x="1828944" y="857047"/>
                </a:lnTo>
                <a:cubicBezTo>
                  <a:pt x="1764840" y="857047"/>
                  <a:pt x="1636634" y="857047"/>
                  <a:pt x="1380221" y="857047"/>
                </a:cubicBezTo>
                <a:lnTo>
                  <a:pt x="1333065" y="857047"/>
                </a:lnTo>
                <a:cubicBezTo>
                  <a:pt x="1136016" y="857047"/>
                  <a:pt x="910816" y="857047"/>
                  <a:pt x="653445" y="857047"/>
                </a:cubicBezTo>
                <a:cubicBezTo>
                  <a:pt x="653445" y="857047"/>
                  <a:pt x="653445" y="857047"/>
                  <a:pt x="0" y="857047"/>
                </a:cubicBezTo>
                <a:cubicBezTo>
                  <a:pt x="0" y="857047"/>
                  <a:pt x="0" y="857047"/>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4" name="Slide Number Placeholder 3">
            <a:extLst>
              <a:ext uri="{FF2B5EF4-FFF2-40B4-BE49-F238E27FC236}">
                <a16:creationId xmlns:a16="http://schemas.microsoft.com/office/drawing/2014/main" id="{75B82F74-70CE-7CCA-B920-A179B596E363}"/>
              </a:ext>
            </a:extLst>
          </p:cNvPr>
          <p:cNvSpPr>
            <a:spLocks noGrp="1"/>
          </p:cNvSpPr>
          <p:nvPr>
            <p:ph type="sldNum" sz="quarter" idx="12"/>
          </p:nvPr>
        </p:nvSpPr>
        <p:spPr>
          <a:xfrm>
            <a:off x="5744076" y="5202719"/>
            <a:ext cx="650510" cy="517624"/>
          </a:xfrm>
        </p:spPr>
        <p:txBody>
          <a:bodyPr vert="horz" lIns="91440" tIns="45720" rIns="91440" bIns="45720" rtlCol="0" anchor="ctr">
            <a:normAutofit/>
          </a:bodyPr>
          <a:lstStyle/>
          <a:p>
            <a:pPr defTabSz="914400">
              <a:spcAft>
                <a:spcPts val="600"/>
              </a:spcAft>
            </a:pPr>
            <a:fld id="{D57F1E4F-1CFF-5643-939E-217C01CDF565}" type="slidenum">
              <a:rPr lang="en-US" smtClean="0"/>
              <a:pPr defTabSz="914400">
                <a:spcAft>
                  <a:spcPts val="600"/>
                </a:spcAft>
              </a:pPr>
              <a:t>10</a:t>
            </a:fld>
            <a:endParaRPr lang="en-US"/>
          </a:p>
        </p:txBody>
      </p:sp>
      <p:pic>
        <p:nvPicPr>
          <p:cNvPr id="5" name="Picture 4">
            <a:extLst>
              <a:ext uri="{FF2B5EF4-FFF2-40B4-BE49-F238E27FC236}">
                <a16:creationId xmlns:a16="http://schemas.microsoft.com/office/drawing/2014/main" id="{D7ADD0AA-BB32-3FE9-722D-B826E5E205E9}"/>
              </a:ext>
            </a:extLst>
          </p:cNvPr>
          <p:cNvPicPr>
            <a:picLocks noChangeAspect="1"/>
          </p:cNvPicPr>
          <p:nvPr/>
        </p:nvPicPr>
        <p:blipFill>
          <a:blip r:embed="rId4"/>
          <a:stretch>
            <a:fillRect/>
          </a:stretch>
        </p:blipFill>
        <p:spPr>
          <a:xfrm>
            <a:off x="6394586" y="1399026"/>
            <a:ext cx="5492614" cy="3018673"/>
          </a:xfrm>
          <a:prstGeom prst="rect">
            <a:avLst/>
          </a:prstGeom>
        </p:spPr>
      </p:pic>
    </p:spTree>
    <p:extLst>
      <p:ext uri="{BB962C8B-B14F-4D97-AF65-F5344CB8AC3E}">
        <p14:creationId xmlns:p14="http://schemas.microsoft.com/office/powerpoint/2010/main" val="943557008"/>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5" name="arrow.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5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5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5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5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5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5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5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5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6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6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6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6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65" name="Group 6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6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6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6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6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7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7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7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7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7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7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7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7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9" name="Rectangle 7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1"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83" name="Rectangle 82">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4639734"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2857831-BFC2-CDF1-A5CE-B217DCC789C9}"/>
              </a:ext>
            </a:extLst>
          </p:cNvPr>
          <p:cNvSpPr>
            <a:spLocks noGrp="1"/>
          </p:cNvSpPr>
          <p:nvPr>
            <p:ph type="title"/>
          </p:nvPr>
        </p:nvSpPr>
        <p:spPr>
          <a:xfrm>
            <a:off x="540279" y="967417"/>
            <a:ext cx="3778870" cy="3943250"/>
          </a:xfrm>
        </p:spPr>
        <p:txBody>
          <a:bodyPr vert="horz" lIns="91440" tIns="45720" rIns="91440" bIns="45720" rtlCol="0" anchor="b">
            <a:normAutofit/>
          </a:bodyPr>
          <a:lstStyle/>
          <a:p>
            <a:r>
              <a:rPr lang="en-US" sz="4000" b="1" dirty="0">
                <a:solidFill>
                  <a:srgbClr val="FEFFFF"/>
                </a:solidFill>
              </a:rPr>
              <a:t>Income, Loan Amount &amp; Loan Term Patterns</a:t>
            </a:r>
            <a:br>
              <a:rPr lang="en-US" sz="4000" dirty="0">
                <a:solidFill>
                  <a:srgbClr val="FEFFFF"/>
                </a:solidFill>
              </a:rPr>
            </a:br>
            <a:endParaRPr lang="en-US" sz="4000" dirty="0">
              <a:solidFill>
                <a:srgbClr val="FEFFFF"/>
              </a:solidFill>
            </a:endParaRPr>
          </a:p>
        </p:txBody>
      </p:sp>
      <p:sp>
        <p:nvSpPr>
          <p:cNvPr id="87"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5404022"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330FE382-3D86-903F-6453-3F34E7F94BFD}"/>
              </a:ext>
            </a:extLst>
          </p:cNvPr>
          <p:cNvSpPr>
            <a:spLocks noGrp="1"/>
          </p:cNvSpPr>
          <p:nvPr>
            <p:ph type="sldNum" sz="quarter" idx="12"/>
          </p:nvPr>
        </p:nvSpPr>
        <p:spPr>
          <a:xfrm>
            <a:off x="4242486" y="5202719"/>
            <a:ext cx="650510" cy="517624"/>
          </a:xfrm>
        </p:spPr>
        <p:txBody>
          <a:bodyPr vert="horz" lIns="91440" tIns="45720" rIns="91440" bIns="45720" rtlCol="0" anchor="ctr">
            <a:normAutofit/>
          </a:bodyPr>
          <a:lstStyle/>
          <a:p>
            <a:pPr defTabSz="914400">
              <a:spcAft>
                <a:spcPts val="600"/>
              </a:spcAft>
            </a:pPr>
            <a:fld id="{D57F1E4F-1CFF-5643-939E-217C01CDF565}" type="slidenum">
              <a:rPr lang="en-US" smtClean="0"/>
              <a:pPr defTabSz="914400">
                <a:spcAft>
                  <a:spcPts val="600"/>
                </a:spcAft>
              </a:pPr>
              <a:t>11</a:t>
            </a:fld>
            <a:endParaRPr lang="en-US"/>
          </a:p>
        </p:txBody>
      </p:sp>
      <p:pic>
        <p:nvPicPr>
          <p:cNvPr id="5" name="Picture 4">
            <a:extLst>
              <a:ext uri="{FF2B5EF4-FFF2-40B4-BE49-F238E27FC236}">
                <a16:creationId xmlns:a16="http://schemas.microsoft.com/office/drawing/2014/main" id="{82DB5B29-8721-DECD-338E-62733FCDCB0B}"/>
              </a:ext>
            </a:extLst>
          </p:cNvPr>
          <p:cNvPicPr>
            <a:picLocks noChangeAspect="1"/>
          </p:cNvPicPr>
          <p:nvPr/>
        </p:nvPicPr>
        <p:blipFill>
          <a:blip r:embed="rId4"/>
          <a:stretch>
            <a:fillRect/>
          </a:stretch>
        </p:blipFill>
        <p:spPr>
          <a:xfrm>
            <a:off x="4838132" y="721895"/>
            <a:ext cx="7225260" cy="4188772"/>
          </a:xfrm>
          <a:prstGeom prst="rect">
            <a:avLst/>
          </a:prstGeom>
        </p:spPr>
      </p:pic>
    </p:spTree>
    <p:extLst>
      <p:ext uri="{BB962C8B-B14F-4D97-AF65-F5344CB8AC3E}">
        <p14:creationId xmlns:p14="http://schemas.microsoft.com/office/powerpoint/2010/main" val="3303241810"/>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5" name="arrow.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2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2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2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35" name="Group 3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3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3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3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3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4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4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4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4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4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4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4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4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49" name="Rectangle 4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53" name="Rectangle 52">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4639734"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ABAEA4E-D510-B6E7-628B-5F867B63C3EA}"/>
              </a:ext>
            </a:extLst>
          </p:cNvPr>
          <p:cNvSpPr>
            <a:spLocks noGrp="1"/>
          </p:cNvSpPr>
          <p:nvPr>
            <p:ph type="title"/>
          </p:nvPr>
        </p:nvSpPr>
        <p:spPr>
          <a:xfrm>
            <a:off x="540279" y="967417"/>
            <a:ext cx="3778870" cy="3943250"/>
          </a:xfrm>
        </p:spPr>
        <p:txBody>
          <a:bodyPr vert="horz" lIns="91440" tIns="45720" rIns="91440" bIns="45720" rtlCol="0" anchor="b">
            <a:normAutofit/>
          </a:bodyPr>
          <a:lstStyle/>
          <a:p>
            <a:r>
              <a:rPr lang="en-US" sz="4000" b="1">
                <a:solidFill>
                  <a:srgbClr val="FEFFFF"/>
                </a:solidFill>
              </a:rPr>
              <a:t>Feature Correlations with Loan Approval</a:t>
            </a:r>
            <a:br>
              <a:rPr lang="en-US" sz="4000">
                <a:solidFill>
                  <a:srgbClr val="FEFFFF"/>
                </a:solidFill>
              </a:rPr>
            </a:br>
            <a:endParaRPr lang="en-US" sz="4000">
              <a:solidFill>
                <a:srgbClr val="FEFFFF"/>
              </a:solidFill>
            </a:endParaRPr>
          </a:p>
        </p:txBody>
      </p:sp>
      <p:sp>
        <p:nvSpPr>
          <p:cNvPr id="57"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5404022"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00420817-D46F-1667-32EF-6151A8177B19}"/>
              </a:ext>
            </a:extLst>
          </p:cNvPr>
          <p:cNvSpPr>
            <a:spLocks noGrp="1"/>
          </p:cNvSpPr>
          <p:nvPr>
            <p:ph type="sldNum" sz="quarter" idx="12"/>
          </p:nvPr>
        </p:nvSpPr>
        <p:spPr>
          <a:xfrm>
            <a:off x="4242486" y="5202719"/>
            <a:ext cx="650510" cy="517624"/>
          </a:xfrm>
        </p:spPr>
        <p:txBody>
          <a:bodyPr vert="horz" lIns="91440" tIns="45720" rIns="91440" bIns="45720" rtlCol="0" anchor="ctr">
            <a:normAutofit/>
          </a:bodyPr>
          <a:lstStyle/>
          <a:p>
            <a:pPr defTabSz="914400">
              <a:spcAft>
                <a:spcPts val="600"/>
              </a:spcAft>
            </a:pPr>
            <a:fld id="{D57F1E4F-1CFF-5643-939E-217C01CDF565}" type="slidenum">
              <a:rPr lang="en-US" smtClean="0"/>
              <a:pPr defTabSz="914400">
                <a:spcAft>
                  <a:spcPts val="600"/>
                </a:spcAft>
              </a:pPr>
              <a:t>12</a:t>
            </a:fld>
            <a:endParaRPr lang="en-US"/>
          </a:p>
        </p:txBody>
      </p:sp>
      <p:pic>
        <p:nvPicPr>
          <p:cNvPr id="5" name="Content Placeholder 4">
            <a:extLst>
              <a:ext uri="{FF2B5EF4-FFF2-40B4-BE49-F238E27FC236}">
                <a16:creationId xmlns:a16="http://schemas.microsoft.com/office/drawing/2014/main" id="{EF663612-3957-1BB1-8CCE-90C08B9F4ACE}"/>
              </a:ext>
            </a:extLst>
          </p:cNvPr>
          <p:cNvPicPr>
            <a:picLocks noChangeAspect="1"/>
          </p:cNvPicPr>
          <p:nvPr/>
        </p:nvPicPr>
        <p:blipFill>
          <a:blip r:embed="rId4"/>
          <a:stretch>
            <a:fillRect/>
          </a:stretch>
        </p:blipFill>
        <p:spPr>
          <a:xfrm>
            <a:off x="4772799" y="467833"/>
            <a:ext cx="7391977" cy="4565174"/>
          </a:xfrm>
          <a:prstGeom prst="rect">
            <a:avLst/>
          </a:prstGeom>
        </p:spPr>
      </p:pic>
    </p:spTree>
    <p:extLst>
      <p:ext uri="{BB962C8B-B14F-4D97-AF65-F5344CB8AC3E}">
        <p14:creationId xmlns:p14="http://schemas.microsoft.com/office/powerpoint/2010/main" val="1238307796"/>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5" name="arrow.wav"/>
          </p:stSnd>
        </p:sndAc>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2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2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2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35" name="Group 3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3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3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3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3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4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4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4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4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4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4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4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4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49" name="Rectangle 4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53" name="Rectangle 52">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4639734"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5DD3C56-23DF-C9B4-C56A-028BCBB84592}"/>
              </a:ext>
            </a:extLst>
          </p:cNvPr>
          <p:cNvSpPr>
            <a:spLocks noGrp="1"/>
          </p:cNvSpPr>
          <p:nvPr>
            <p:ph type="title"/>
          </p:nvPr>
        </p:nvSpPr>
        <p:spPr>
          <a:xfrm>
            <a:off x="540279" y="967417"/>
            <a:ext cx="3778870" cy="3943250"/>
          </a:xfrm>
        </p:spPr>
        <p:txBody>
          <a:bodyPr vert="horz" lIns="91440" tIns="45720" rIns="91440" bIns="45720" rtlCol="0" anchor="b">
            <a:normAutofit/>
          </a:bodyPr>
          <a:lstStyle/>
          <a:p>
            <a:r>
              <a:rPr lang="en-US" sz="4000" b="1">
                <a:solidFill>
                  <a:srgbClr val="FEFFFF"/>
                </a:solidFill>
              </a:rPr>
              <a:t>Key Findings &amp; Conclusion</a:t>
            </a:r>
            <a:br>
              <a:rPr lang="en-US" sz="4000">
                <a:solidFill>
                  <a:srgbClr val="FEFFFF"/>
                </a:solidFill>
              </a:rPr>
            </a:br>
            <a:endParaRPr lang="en-US" sz="4000">
              <a:solidFill>
                <a:srgbClr val="FEFFFF"/>
              </a:solidFill>
            </a:endParaRPr>
          </a:p>
        </p:txBody>
      </p:sp>
      <p:sp>
        <p:nvSpPr>
          <p:cNvPr id="57"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5404022"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Slide Number Placeholder 3">
            <a:extLst>
              <a:ext uri="{FF2B5EF4-FFF2-40B4-BE49-F238E27FC236}">
                <a16:creationId xmlns:a16="http://schemas.microsoft.com/office/drawing/2014/main" id="{7ABE448E-EDAF-8ED9-B113-54D52AFC7621}"/>
              </a:ext>
            </a:extLst>
          </p:cNvPr>
          <p:cNvSpPr>
            <a:spLocks noGrp="1"/>
          </p:cNvSpPr>
          <p:nvPr>
            <p:ph type="sldNum" sz="quarter" idx="12"/>
          </p:nvPr>
        </p:nvSpPr>
        <p:spPr>
          <a:xfrm>
            <a:off x="4242486" y="5202719"/>
            <a:ext cx="650510" cy="517624"/>
          </a:xfrm>
        </p:spPr>
        <p:txBody>
          <a:bodyPr vert="horz" lIns="91440" tIns="45720" rIns="91440" bIns="45720" rtlCol="0" anchor="ctr">
            <a:normAutofit/>
          </a:bodyPr>
          <a:lstStyle/>
          <a:p>
            <a:pPr defTabSz="914400">
              <a:spcAft>
                <a:spcPts val="600"/>
              </a:spcAft>
            </a:pPr>
            <a:fld id="{D57F1E4F-1CFF-5643-939E-217C01CDF565}" type="slidenum">
              <a:rPr lang="en-US" smtClean="0"/>
              <a:pPr defTabSz="914400">
                <a:spcAft>
                  <a:spcPts val="600"/>
                </a:spcAft>
              </a:pPr>
              <a:t>13</a:t>
            </a:fld>
            <a:endParaRPr lang="en-US"/>
          </a:p>
        </p:txBody>
      </p:sp>
      <p:pic>
        <p:nvPicPr>
          <p:cNvPr id="6" name="Picture 5">
            <a:extLst>
              <a:ext uri="{FF2B5EF4-FFF2-40B4-BE49-F238E27FC236}">
                <a16:creationId xmlns:a16="http://schemas.microsoft.com/office/drawing/2014/main" id="{54CF5353-6E8A-4BE7-5572-D93767532F65}"/>
              </a:ext>
            </a:extLst>
          </p:cNvPr>
          <p:cNvPicPr>
            <a:picLocks noChangeAspect="1"/>
          </p:cNvPicPr>
          <p:nvPr/>
        </p:nvPicPr>
        <p:blipFill>
          <a:blip r:embed="rId4"/>
          <a:stretch>
            <a:fillRect/>
          </a:stretch>
        </p:blipFill>
        <p:spPr>
          <a:xfrm>
            <a:off x="4924756" y="368968"/>
            <a:ext cx="6930360" cy="4431504"/>
          </a:xfrm>
          <a:prstGeom prst="rect">
            <a:avLst/>
          </a:prstGeom>
        </p:spPr>
      </p:pic>
    </p:spTree>
    <p:extLst>
      <p:ext uri="{BB962C8B-B14F-4D97-AF65-F5344CB8AC3E}">
        <p14:creationId xmlns:p14="http://schemas.microsoft.com/office/powerpoint/2010/main" val="1350580886"/>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5" name="arrow.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7E76-5848-E29E-175E-055E22F1B7D9}"/>
              </a:ext>
            </a:extLst>
          </p:cNvPr>
          <p:cNvSpPr>
            <a:spLocks noGrp="1"/>
          </p:cNvSpPr>
          <p:nvPr>
            <p:ph type="title"/>
          </p:nvPr>
        </p:nvSpPr>
        <p:spPr>
          <a:xfrm>
            <a:off x="1813158" y="258985"/>
            <a:ext cx="8911687" cy="1280890"/>
          </a:xfrm>
        </p:spPr>
        <p:txBody>
          <a:bodyPr/>
          <a:lstStyle/>
          <a:p>
            <a:r>
              <a:rPr lang="en-US" dirty="0"/>
              <a:t>References</a:t>
            </a:r>
          </a:p>
        </p:txBody>
      </p:sp>
      <p:graphicFrame>
        <p:nvGraphicFramePr>
          <p:cNvPr id="6" name="Content Placeholder 2">
            <a:extLst>
              <a:ext uri="{FF2B5EF4-FFF2-40B4-BE49-F238E27FC236}">
                <a16:creationId xmlns:a16="http://schemas.microsoft.com/office/drawing/2014/main" id="{30DB7855-A2F9-436E-1465-02139F6ED311}"/>
              </a:ext>
            </a:extLst>
          </p:cNvPr>
          <p:cNvGraphicFramePr>
            <a:graphicFrameLocks noGrp="1"/>
          </p:cNvGraphicFramePr>
          <p:nvPr>
            <p:ph idx="1"/>
          </p:nvPr>
        </p:nvGraphicFramePr>
        <p:xfrm>
          <a:off x="1026695" y="1363578"/>
          <a:ext cx="10716126" cy="48703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Slide Number Placeholder 3">
            <a:extLst>
              <a:ext uri="{FF2B5EF4-FFF2-40B4-BE49-F238E27FC236}">
                <a16:creationId xmlns:a16="http://schemas.microsoft.com/office/drawing/2014/main" id="{7AA1B458-93CC-D84E-B350-292C04C3C6F2}"/>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3708557141"/>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9" name="arrow.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BAFB5-07AC-70EA-10B0-EC946764A674}"/>
              </a:ext>
            </a:extLst>
          </p:cNvPr>
          <p:cNvSpPr>
            <a:spLocks noGrp="1"/>
          </p:cNvSpPr>
          <p:nvPr>
            <p:ph type="title"/>
          </p:nvPr>
        </p:nvSpPr>
        <p:spPr>
          <a:xfrm>
            <a:off x="1799548" y="2788555"/>
            <a:ext cx="8911687" cy="1280890"/>
          </a:xfrm>
        </p:spPr>
        <p:txBody>
          <a:bodyPr/>
          <a:lstStyle/>
          <a:p>
            <a:pPr algn="ctr"/>
            <a:r>
              <a:rPr lang="en-US" dirty="0"/>
              <a:t>Thank You</a:t>
            </a:r>
          </a:p>
        </p:txBody>
      </p:sp>
      <p:sp>
        <p:nvSpPr>
          <p:cNvPr id="3" name="Slide Number Placeholder 2">
            <a:extLst>
              <a:ext uri="{FF2B5EF4-FFF2-40B4-BE49-F238E27FC236}">
                <a16:creationId xmlns:a16="http://schemas.microsoft.com/office/drawing/2014/main" id="{1DA9FADE-D858-C07A-A04E-495B85A062B0}"/>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1883918654"/>
      </p:ext>
    </p:extLst>
  </p:cSld>
  <p:clrMapOvr>
    <a:masterClrMapping/>
  </p:clrMapOvr>
  <mc:AlternateContent xmlns:mc="http://schemas.openxmlformats.org/markup-compatibility/2006" xmlns:p14="http://schemas.microsoft.com/office/powerpoint/2010/main">
    <mc:Choice Requires="p14">
      <p:transition p14:dur="50" advClick="0" advTm="2000">
        <p:sndAc>
          <p:stSnd>
            <p:snd r:embed="rId3" name="arrow.wav"/>
          </p:stSnd>
        </p:sndAc>
      </p:transition>
    </mc:Choice>
    <mc:Fallback xmlns="">
      <p:transition advClick="0" advTm="2000">
        <p:sndAc>
          <p:stSnd>
            <p:snd r:embed="rId4" name="arrow.wav"/>
          </p:stSnd>
        </p:sndAc>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11917</TotalTime>
  <Words>2186</Words>
  <Application>Microsoft Macintosh PowerPoint</Application>
  <PresentationFormat>Widescreen</PresentationFormat>
  <Paragraphs>186</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vt:lpstr>
      <vt:lpstr>Century Gothic</vt:lpstr>
      <vt:lpstr>Times New Roman</vt:lpstr>
      <vt:lpstr>Wingdings 3</vt:lpstr>
      <vt:lpstr>Wisp</vt:lpstr>
      <vt:lpstr>PowerPoint Presentation</vt:lpstr>
      <vt:lpstr>Notebook Structure &amp; Analysis Sections </vt:lpstr>
      <vt:lpstr>Research Questions  Core Question: Can we predict loan approval using applicant demographics and financial data? </vt:lpstr>
      <vt:lpstr>The Loan Approval Problem The Challenge</vt:lpstr>
      <vt:lpstr>Methodology &amp; Approach </vt:lpstr>
      <vt:lpstr>Basic Overview — Missing Values </vt:lpstr>
      <vt:lpstr>Basic Overview — Loan Status Distribution</vt:lpstr>
      <vt:lpstr>Approval Rate by Key  Categories</vt:lpstr>
      <vt:lpstr>Approval Rates by Category — Summary </vt:lpstr>
      <vt:lpstr>Credit History — Dominant Predictor </vt:lpstr>
      <vt:lpstr>Income, Loan Amount &amp; Loan Term Patterns </vt:lpstr>
      <vt:lpstr>Feature Correlations with Loan Approval </vt:lpstr>
      <vt:lpstr>Key Findings &amp; Conclusion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Ghatani, Prakash</dc:creator>
  <cp:lastModifiedBy>Ghatani, Prakash</cp:lastModifiedBy>
  <cp:revision>148</cp:revision>
  <dcterms:created xsi:type="dcterms:W3CDTF">2026-01-18T03:10:55Z</dcterms:created>
  <dcterms:modified xsi:type="dcterms:W3CDTF">2026-05-14T22:45:05Z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6de1d5b-8b4b-4e4e-a8a1-d2976158103f_Enabled">
    <vt:lpwstr>true</vt:lpwstr>
  </property>
  <property fmtid="{D5CDD505-2E9C-101B-9397-08002B2CF9AE}" pid="3" name="MSIP_Label_a6de1d5b-8b4b-4e4e-a8a1-d2976158103f_SetDate">
    <vt:lpwstr>2026-01-18T03:26:15Z</vt:lpwstr>
  </property>
  <property fmtid="{D5CDD505-2E9C-101B-9397-08002B2CF9AE}" pid="4" name="MSIP_Label_a6de1d5b-8b4b-4e4e-a8a1-d2976158103f_Method">
    <vt:lpwstr>Standard</vt:lpwstr>
  </property>
  <property fmtid="{D5CDD505-2E9C-101B-9397-08002B2CF9AE}" pid="5" name="MSIP_Label_a6de1d5b-8b4b-4e4e-a8a1-d2976158103f_Name">
    <vt:lpwstr>defa4170-0d19-0005-0004-bc88714345d2</vt:lpwstr>
  </property>
  <property fmtid="{D5CDD505-2E9C-101B-9397-08002B2CF9AE}" pid="6" name="MSIP_Label_a6de1d5b-8b4b-4e4e-a8a1-d2976158103f_SiteId">
    <vt:lpwstr>ecd4c5d9-c2fe-4522-afd1-f0d20755d9d7</vt:lpwstr>
  </property>
  <property fmtid="{D5CDD505-2E9C-101B-9397-08002B2CF9AE}" pid="7" name="MSIP_Label_a6de1d5b-8b4b-4e4e-a8a1-d2976158103f_ActionId">
    <vt:lpwstr>bcfb6070-7975-43a7-b4eb-452080e4cefa</vt:lpwstr>
  </property>
  <property fmtid="{D5CDD505-2E9C-101B-9397-08002B2CF9AE}" pid="8" name="MSIP_Label_a6de1d5b-8b4b-4e4e-a8a1-d2976158103f_ContentBits">
    <vt:lpwstr>0</vt:lpwstr>
  </property>
  <property fmtid="{D5CDD505-2E9C-101B-9397-08002B2CF9AE}" pid="9" name="MSIP_Label_a6de1d5b-8b4b-4e4e-a8a1-d2976158103f_Tag">
    <vt:lpwstr>50, 3, 0, 1</vt:lpwstr>
  </property>
</Properties>
</file>