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7"/>
  </p:notesMasterIdLst>
  <p:sldIdLst>
    <p:sldId id="256" r:id="rId2"/>
    <p:sldId id="276" r:id="rId3"/>
    <p:sldId id="275" r:id="rId4"/>
    <p:sldId id="277" r:id="rId5"/>
    <p:sldId id="278" r:id="rId6"/>
    <p:sldId id="279" r:id="rId7"/>
    <p:sldId id="271" r:id="rId8"/>
    <p:sldId id="273" r:id="rId9"/>
    <p:sldId id="274" r:id="rId10"/>
    <p:sldId id="281" r:id="rId11"/>
    <p:sldId id="280" r:id="rId12"/>
    <p:sldId id="282" r:id="rId13"/>
    <p:sldId id="283" r:id="rId14"/>
    <p:sldId id="284" r:id="rId15"/>
    <p:sldId id="2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999"/>
    <p:restoredTop sz="81317"/>
  </p:normalViewPr>
  <p:slideViewPr>
    <p:cSldViewPr snapToGrid="0">
      <p:cViewPr varScale="1">
        <p:scale>
          <a:sx n="97" d="100"/>
          <a:sy n="97" d="100"/>
        </p:scale>
        <p:origin x="47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Missing Values by Column</a:t>
            </a:r>
          </a:p>
        </c:rich>
      </c:tx>
      <c:overlay val="0"/>
    </c:title>
    <c:autoTitleDeleted val="0"/>
    <c:plotArea>
      <c:layout/>
      <c:barChart>
        <c:barDir val="col"/>
        <c:grouping val="clustered"/>
        <c:varyColors val="0"/>
        <c:ser>
          <c:idx val="0"/>
          <c:order val="0"/>
          <c:tx>
            <c:strRef>
              <c:f>Sheet1!$B$1</c:f>
              <c:strCache>
                <c:ptCount val="1"/>
                <c:pt idx="0">
                  <c:v>Missing Count</c:v>
                </c:pt>
              </c:strCache>
            </c:strRef>
          </c:tx>
          <c:spPr>
            <a:solidFill>
              <a:srgbClr val="2557A7"/>
            </a:solidFill>
            <a:effectLst/>
          </c:spPr>
          <c:invertIfNegative val="0"/>
          <c:dLbls>
            <c:numFmt formatCode="#,##0" sourceLinked="0"/>
            <c:spPr>
              <a:noFill/>
              <a:ln>
                <a:noFill/>
              </a:ln>
              <a:effectLst/>
            </c:spPr>
            <c:txPr>
              <a:bodyPr/>
              <a:lstStyle/>
              <a:p>
                <a:pPr>
                  <a:defRPr sz="1200" b="0" i="0" u="none" strike="noStrike">
                    <a:solidFill>
                      <a:srgbClr val="12274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Gender</c:v>
                </c:pt>
                <c:pt idx="1">
                  <c:v>Married</c:v>
                </c:pt>
                <c:pt idx="2">
                  <c:v>Dependents</c:v>
                </c:pt>
                <c:pt idx="3">
                  <c:v>Education</c:v>
                </c:pt>
                <c:pt idx="4">
                  <c:v>Self_Employed</c:v>
                </c:pt>
                <c:pt idx="5">
                  <c:v>ApplicantIncome</c:v>
                </c:pt>
                <c:pt idx="6">
                  <c:v>CoapplicantIncome</c:v>
                </c:pt>
                <c:pt idx="7">
                  <c:v>LoanAmount</c:v>
                </c:pt>
                <c:pt idx="8">
                  <c:v>Loan_Amount_Term</c:v>
                </c:pt>
                <c:pt idx="9">
                  <c:v>Credit_History</c:v>
                </c:pt>
                <c:pt idx="10">
                  <c:v>Property_Area</c:v>
                </c:pt>
                <c:pt idx="11">
                  <c:v>Loan_Status</c:v>
                </c:pt>
              </c:strCache>
            </c:strRef>
          </c:cat>
          <c:val>
            <c:numRef>
              <c:f>Sheet1!$B$2:$B$13</c:f>
              <c:numCache>
                <c:formatCode>General</c:formatCode>
                <c:ptCount val="12"/>
                <c:pt idx="0">
                  <c:v>13</c:v>
                </c:pt>
                <c:pt idx="1">
                  <c:v>3</c:v>
                </c:pt>
                <c:pt idx="2">
                  <c:v>15</c:v>
                </c:pt>
                <c:pt idx="3">
                  <c:v>0</c:v>
                </c:pt>
                <c:pt idx="4">
                  <c:v>32</c:v>
                </c:pt>
                <c:pt idx="5">
                  <c:v>0</c:v>
                </c:pt>
                <c:pt idx="6">
                  <c:v>0</c:v>
                </c:pt>
                <c:pt idx="7">
                  <c:v>22</c:v>
                </c:pt>
                <c:pt idx="8">
                  <c:v>14</c:v>
                </c:pt>
                <c:pt idx="9">
                  <c:v>50</c:v>
                </c:pt>
                <c:pt idx="10">
                  <c:v>0</c:v>
                </c:pt>
                <c:pt idx="11">
                  <c:v>0</c:v>
                </c:pt>
              </c:numCache>
            </c:numRef>
          </c:val>
          <c:extLst>
            <c:ext xmlns:c16="http://schemas.microsoft.com/office/drawing/2014/chart" uri="{C3380CC4-5D6E-409C-BE32-E72D297353CC}">
              <c16:uniqueId val="{00000000-B767-E647-84BF-D4B7F1F1439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F7A"/>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D6E4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F7A"/>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2F6FC"/>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Loan Status</c:v>
                </c:pt>
              </c:strCache>
            </c:strRef>
          </c:tx>
          <c:spPr>
            <a:solidFill>
              <a:schemeClr val="accent1"/>
            </a:solidFill>
            <a:ln w="9525" cap="flat">
              <a:solidFill>
                <a:srgbClr val="F9F9F9"/>
              </a:solidFill>
              <a:prstDash val="solid"/>
              <a:round/>
            </a:ln>
            <a:effectLst/>
          </c:spPr>
          <c:dPt>
            <c:idx val="0"/>
            <c:bubble3D val="0"/>
            <c:spPr>
              <a:solidFill>
                <a:srgbClr val="0F7B8C"/>
              </a:solidFill>
              <a:effectLst/>
            </c:spPr>
            <c:extLst>
              <c:ext xmlns:c16="http://schemas.microsoft.com/office/drawing/2014/chart" uri="{C3380CC4-5D6E-409C-BE32-E72D297353CC}">
                <c16:uniqueId val="{00000001-B4C3-3E48-99F8-738A22699FC4}"/>
              </c:ext>
            </c:extLst>
          </c:dPt>
          <c:dPt>
            <c:idx val="1"/>
            <c:bubble3D val="0"/>
            <c:spPr>
              <a:solidFill>
                <a:srgbClr val="F5A623"/>
              </a:solidFill>
              <a:effectLst/>
            </c:spPr>
            <c:extLst>
              <c:ext xmlns:c16="http://schemas.microsoft.com/office/drawing/2014/chart" uri="{C3380CC4-5D6E-409C-BE32-E72D297353CC}">
                <c16:uniqueId val="{00000003-B4C3-3E48-99F8-738A22699FC4}"/>
              </c:ext>
            </c:extLst>
          </c:dPt>
          <c:dLbls>
            <c:dLbl>
              <c:idx val="0"/>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B4C3-3E48-99F8-738A22699FC4}"/>
                </c:ext>
              </c:extLst>
            </c:dLbl>
            <c:dLbl>
              <c:idx val="1"/>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B4C3-3E48-99F8-738A22699FC4}"/>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Approved (Y)</c:v>
                </c:pt>
                <c:pt idx="1">
                  <c:v>Rejected (N)</c:v>
                </c:pt>
              </c:strCache>
            </c:strRef>
          </c:cat>
          <c:val>
            <c:numRef>
              <c:f>Sheet1!$B$2:$B$3</c:f>
              <c:numCache>
                <c:formatCode>General</c:formatCode>
                <c:ptCount val="2"/>
                <c:pt idx="0">
                  <c:v>422</c:v>
                </c:pt>
                <c:pt idx="1">
                  <c:v>176</c:v>
                </c:pt>
              </c:numCache>
            </c:numRef>
          </c:val>
          <c:extLst>
            <c:ext xmlns:c16="http://schemas.microsoft.com/office/drawing/2014/chart" uri="{C3380CC4-5D6E-409C-BE32-E72D297353CC}">
              <c16:uniqueId val="{00000004-B4C3-3E48-99F8-738A22699FC4}"/>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legend>
    <c:plotVisOnly val="1"/>
    <c:dispBlanksAs val="span"/>
    <c:showDLblsOverMax val="1"/>
  </c:chart>
  <c:spPr>
    <a:solidFill>
      <a:srgbClr val="1B3A6B"/>
    </a:solidFill>
    <a:ln>
      <a:noFill/>
    </a:ln>
    <a:effectLst/>
  </c:spPr>
  <c:externalData r:id="rId1">
    <c:autoUpdate val="0"/>
  </c:externalData>
</c:chartSpace>
</file>

<file path=ppt/diagrams/_rels/data1.xml.rels><?xml version="1.0" encoding="UTF-8" standalone="yes"?>
<Relationships xmlns="http://schemas.openxmlformats.org/package/2006/relationships"><Relationship Id="rId3" Type="http://schemas.openxmlformats.org/officeDocument/2006/relationships/hyperlink" Target="https://finreglab.org/" TargetMode="External"/><Relationship Id="rId2" Type="http://schemas.openxmlformats.org/officeDocument/2006/relationships/hyperlink" Target="https://doi.org/10.1016/j.dsm.2023.04.003" TargetMode="External"/><Relationship Id="rId1" Type="http://schemas.openxmlformats.org/officeDocument/2006/relationships/hyperlink" Target="https://doi.org/10.1016/j.ejor.2021.06.053" TargetMode="External"/><Relationship Id="rId5" Type="http://schemas.openxmlformats.org/officeDocument/2006/relationships/hyperlink" Target="https://proceedings.neurips.cc/paper/2017/hash/8a20a8621978632d76c43dfd28b67767-Abstract.html" TargetMode="External"/><Relationship Id="rId4" Type="http://schemas.openxmlformats.org/officeDocument/2006/relationships/hyperlink" Target="https://consumer.ftc.gov/articles/understanding-your-credit" TargetMode="External"/></Relationships>
</file>

<file path=ppt/diagrams/_rels/drawing1.xml.rels><?xml version="1.0" encoding="UTF-8" standalone="yes"?>
<Relationships xmlns="http://schemas.openxmlformats.org/package/2006/relationships"><Relationship Id="rId3" Type="http://schemas.openxmlformats.org/officeDocument/2006/relationships/hyperlink" Target="https://finreglab.org/" TargetMode="External"/><Relationship Id="rId2" Type="http://schemas.openxmlformats.org/officeDocument/2006/relationships/hyperlink" Target="https://doi.org/10.1016/j.dsm.2023.04.003" TargetMode="External"/><Relationship Id="rId1" Type="http://schemas.openxmlformats.org/officeDocument/2006/relationships/hyperlink" Target="https://doi.org/10.1016/j.ejor.2021.06.053" TargetMode="External"/><Relationship Id="rId5" Type="http://schemas.openxmlformats.org/officeDocument/2006/relationships/hyperlink" Target="https://proceedings.neurips.cc/paper/2017/hash/8a20a8621978632d76c43dfd28b67767-Abstract.html" TargetMode="External"/><Relationship Id="rId4" Type="http://schemas.openxmlformats.org/officeDocument/2006/relationships/hyperlink" Target="https://consumer.ftc.gov/articles/understanding-your-credit"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8D5C14-1C2C-4EF0-9471-7F58DAE44DF7}"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721193FD-3254-4E18-861C-81FDC026185A}">
      <dgm:prSet/>
      <dgm:spPr/>
      <dgm:t>
        <a:bodyPr/>
        <a:lstStyle/>
        <a:p>
          <a:r>
            <a:rPr lang="en-US"/>
            <a:t>Dumitrescu, E., Hué, S., Hurlin, C., &amp; Tokpavi, S. (2022). Machine learning for credit scoring: Improving logistic regression with non-linear decision-tree effects.</a:t>
          </a:r>
          <a:r>
            <a:rPr lang="en-US" i="1"/>
            <a:t> European Journal of Operational Research, 297(3), 1178–1192.  |  </a:t>
          </a:r>
          <a:r>
            <a:rPr lang="en-US" i="1">
              <a:hlinkClick xmlns:r="http://schemas.openxmlformats.org/officeDocument/2006/relationships" r:id="rId1"/>
            </a:rPr>
            <a:t>https://doi.org/10.1016/j.ejor.2021.06.053</a:t>
          </a:r>
          <a:endParaRPr lang="en-US"/>
        </a:p>
      </dgm:t>
    </dgm:pt>
    <dgm:pt modelId="{141872C8-1AAC-4DDE-82E5-59AFAF93CE2B}" type="parTrans" cxnId="{432626F6-C94E-49D7-A4D4-86613FDD61C0}">
      <dgm:prSet/>
      <dgm:spPr/>
      <dgm:t>
        <a:bodyPr/>
        <a:lstStyle/>
        <a:p>
          <a:endParaRPr lang="en-US"/>
        </a:p>
      </dgm:t>
    </dgm:pt>
    <dgm:pt modelId="{0F48A3AE-5D91-4226-95AC-5BBA9553F340}" type="sibTrans" cxnId="{432626F6-C94E-49D7-A4D4-86613FDD61C0}">
      <dgm:prSet/>
      <dgm:spPr/>
      <dgm:t>
        <a:bodyPr/>
        <a:lstStyle/>
        <a:p>
          <a:endParaRPr lang="en-US"/>
        </a:p>
      </dgm:t>
    </dgm:pt>
    <dgm:pt modelId="{9C3A6313-6451-4E60-BD14-CE7A48480CEC}">
      <dgm:prSet/>
      <dgm:spPr/>
      <dgm:t>
        <a:bodyPr/>
        <a:lstStyle/>
        <a:p>
          <a:r>
            <a:rPr lang="en-US"/>
            <a:t>Zhu, X., Chu, Q., Song, X., Hu, P., &amp; Peng, L. (2023). Explainable prediction of loan default based on machine learning models. </a:t>
          </a:r>
          <a:r>
            <a:rPr lang="en-US" i="1"/>
            <a:t>Data Science and Management, 6(3), 123–133.  |  </a:t>
          </a:r>
          <a:r>
            <a:rPr lang="en-US" i="1">
              <a:hlinkClick xmlns:r="http://schemas.openxmlformats.org/officeDocument/2006/relationships" r:id="rId2"/>
            </a:rPr>
            <a:t>https://doi.org/10.1016/j.dsm.2023.04.003</a:t>
          </a:r>
          <a:endParaRPr lang="en-US"/>
        </a:p>
      </dgm:t>
    </dgm:pt>
    <dgm:pt modelId="{1022CF01-E08A-4B5B-9AD4-6AF2A644A6A8}" type="parTrans" cxnId="{E4D484D6-5F4A-4514-AC5A-CCA7E36B522A}">
      <dgm:prSet/>
      <dgm:spPr/>
      <dgm:t>
        <a:bodyPr/>
        <a:lstStyle/>
        <a:p>
          <a:endParaRPr lang="en-US"/>
        </a:p>
      </dgm:t>
    </dgm:pt>
    <dgm:pt modelId="{906B9D99-82AE-4D06-A83D-CDBC691B68E3}" type="sibTrans" cxnId="{E4D484D6-5F4A-4514-AC5A-CCA7E36B522A}">
      <dgm:prSet/>
      <dgm:spPr/>
      <dgm:t>
        <a:bodyPr/>
        <a:lstStyle/>
        <a:p>
          <a:endParaRPr lang="en-US"/>
        </a:p>
      </dgm:t>
    </dgm:pt>
    <dgm:pt modelId="{09B65229-2AF6-4BC2-9E4C-34649AC15AC5}">
      <dgm:prSet/>
      <dgm:spPr/>
      <dgm:t>
        <a:bodyPr/>
        <a:lstStyle/>
        <a:p>
          <a:r>
            <a:rPr lang="en-US"/>
            <a:t>FinRegLab. (2023). Machine learning explainability and fairness: Insights from consumer lending. </a:t>
          </a:r>
          <a:r>
            <a:rPr lang="en-US" i="1"/>
            <a:t>FinRegLab Whitepaper.  |  </a:t>
          </a:r>
          <a:r>
            <a:rPr lang="en-US" i="1">
              <a:hlinkClick xmlns:r="http://schemas.openxmlformats.org/officeDocument/2006/relationships" r:id="rId3"/>
            </a:rPr>
            <a:t>https://finreglab.org</a:t>
          </a:r>
          <a:endParaRPr lang="en-US"/>
        </a:p>
      </dgm:t>
    </dgm:pt>
    <dgm:pt modelId="{2AECE2A0-52F3-4B2E-AB2E-BCB0433C8BBB}" type="parTrans" cxnId="{87B0C2C4-25F2-4AFF-98A2-BEEFEC45D381}">
      <dgm:prSet/>
      <dgm:spPr/>
      <dgm:t>
        <a:bodyPr/>
        <a:lstStyle/>
        <a:p>
          <a:endParaRPr lang="en-US"/>
        </a:p>
      </dgm:t>
    </dgm:pt>
    <dgm:pt modelId="{78AD112A-E4BF-459C-8A9A-24C4F3859367}" type="sibTrans" cxnId="{87B0C2C4-25F2-4AFF-98A2-BEEFEC45D381}">
      <dgm:prSet/>
      <dgm:spPr/>
      <dgm:t>
        <a:bodyPr/>
        <a:lstStyle/>
        <a:p>
          <a:endParaRPr lang="en-US"/>
        </a:p>
      </dgm:t>
    </dgm:pt>
    <dgm:pt modelId="{4243F134-4356-464A-8BBE-B4A60AECBC6B}">
      <dgm:prSet/>
      <dgm:spPr/>
      <dgm:t>
        <a:bodyPr/>
        <a:lstStyle/>
        <a:p>
          <a:r>
            <a:rPr lang="en-US"/>
            <a:t>Federal Trade Commission. (2025). Understanding your credit.</a:t>
          </a:r>
          <a:r>
            <a:rPr lang="en-US" i="1"/>
            <a:t> FTC Consumer Information.  |  </a:t>
          </a:r>
          <a:r>
            <a:rPr lang="en-US" i="1">
              <a:hlinkClick xmlns:r="http://schemas.openxmlformats.org/officeDocument/2006/relationships" r:id="rId4"/>
            </a:rPr>
            <a:t>https://consumer.ftc.gov/articles/understanding-your-credit</a:t>
          </a:r>
          <a:endParaRPr lang="en-US"/>
        </a:p>
      </dgm:t>
    </dgm:pt>
    <dgm:pt modelId="{A547F7BE-3A7C-4AB6-A598-766F8F9CCF59}" type="parTrans" cxnId="{E04A9968-ABA1-4671-B536-BFCA8AD01B66}">
      <dgm:prSet/>
      <dgm:spPr/>
      <dgm:t>
        <a:bodyPr/>
        <a:lstStyle/>
        <a:p>
          <a:endParaRPr lang="en-US"/>
        </a:p>
      </dgm:t>
    </dgm:pt>
    <dgm:pt modelId="{EE21E21D-8B92-4F1E-8CFD-B900AC25EBFA}" type="sibTrans" cxnId="{E04A9968-ABA1-4671-B536-BFCA8AD01B66}">
      <dgm:prSet/>
      <dgm:spPr/>
      <dgm:t>
        <a:bodyPr/>
        <a:lstStyle/>
        <a:p>
          <a:endParaRPr lang="en-US"/>
        </a:p>
      </dgm:t>
    </dgm:pt>
    <dgm:pt modelId="{C2334FEE-0532-4B8A-B9E2-C4154F6B4708}">
      <dgm:prSet/>
      <dgm:spPr/>
      <dgm:t>
        <a:bodyPr/>
        <a:lstStyle/>
        <a:p>
          <a:r>
            <a:rPr lang="en-US"/>
            <a:t>Lundberg, S. M., &amp; Lee, S. I. (2017). A unified approach to interpreting model predictions. </a:t>
          </a:r>
          <a:r>
            <a:rPr lang="en-US" i="1"/>
            <a:t>Advances in Neural Information Processing Systems, 30 (NIPS 2017).  |  </a:t>
          </a:r>
          <a:r>
            <a:rPr lang="en-US" i="1">
              <a:hlinkClick xmlns:r="http://schemas.openxmlformats.org/officeDocument/2006/relationships" r:id="rId5"/>
            </a:rPr>
            <a:t>https://proceedings.neurips.cc/paper/2017/hash/8a20a8621978632d76c43dfd28b67767-Abstract.html</a:t>
          </a:r>
          <a:endParaRPr lang="en-US"/>
        </a:p>
      </dgm:t>
    </dgm:pt>
    <dgm:pt modelId="{39F5C351-D0A1-444E-97DB-BFB6F1829804}" type="parTrans" cxnId="{3AB9E5C7-CC04-4C49-B1EB-2DCFB82EE2F2}">
      <dgm:prSet/>
      <dgm:spPr/>
      <dgm:t>
        <a:bodyPr/>
        <a:lstStyle/>
        <a:p>
          <a:endParaRPr lang="en-US"/>
        </a:p>
      </dgm:t>
    </dgm:pt>
    <dgm:pt modelId="{DF3AC6BE-087B-4352-A851-AEEF423EB074}" type="sibTrans" cxnId="{3AB9E5C7-CC04-4C49-B1EB-2DCFB82EE2F2}">
      <dgm:prSet/>
      <dgm:spPr/>
      <dgm:t>
        <a:bodyPr/>
        <a:lstStyle/>
        <a:p>
          <a:endParaRPr lang="en-US"/>
        </a:p>
      </dgm:t>
    </dgm:pt>
    <dgm:pt modelId="{FDC3EFAE-87FD-3248-A4CB-7670405BA569}" type="pres">
      <dgm:prSet presAssocID="{D48D5C14-1C2C-4EF0-9471-7F58DAE44DF7}" presName="vert0" presStyleCnt="0">
        <dgm:presLayoutVars>
          <dgm:dir/>
          <dgm:animOne val="branch"/>
          <dgm:animLvl val="lvl"/>
        </dgm:presLayoutVars>
      </dgm:prSet>
      <dgm:spPr/>
    </dgm:pt>
    <dgm:pt modelId="{D15E8392-FB1D-B742-81B8-EA4C3F3C88EC}" type="pres">
      <dgm:prSet presAssocID="{721193FD-3254-4E18-861C-81FDC026185A}" presName="thickLine" presStyleLbl="alignNode1" presStyleIdx="0" presStyleCnt="5"/>
      <dgm:spPr/>
    </dgm:pt>
    <dgm:pt modelId="{440CB650-CDA6-A04F-8305-F53818DB4F76}" type="pres">
      <dgm:prSet presAssocID="{721193FD-3254-4E18-861C-81FDC026185A}" presName="horz1" presStyleCnt="0"/>
      <dgm:spPr/>
    </dgm:pt>
    <dgm:pt modelId="{4C003166-9573-BC4D-9F58-041109C47082}" type="pres">
      <dgm:prSet presAssocID="{721193FD-3254-4E18-861C-81FDC026185A}" presName="tx1" presStyleLbl="revTx" presStyleIdx="0" presStyleCnt="5"/>
      <dgm:spPr/>
    </dgm:pt>
    <dgm:pt modelId="{D848AF80-C1BF-6F48-AE09-716589B04826}" type="pres">
      <dgm:prSet presAssocID="{721193FD-3254-4E18-861C-81FDC026185A}" presName="vert1" presStyleCnt="0"/>
      <dgm:spPr/>
    </dgm:pt>
    <dgm:pt modelId="{F609FC78-7FB4-274D-96D3-760BDF0F82ED}" type="pres">
      <dgm:prSet presAssocID="{9C3A6313-6451-4E60-BD14-CE7A48480CEC}" presName="thickLine" presStyleLbl="alignNode1" presStyleIdx="1" presStyleCnt="5"/>
      <dgm:spPr/>
    </dgm:pt>
    <dgm:pt modelId="{95ACADB0-6C21-3847-A88A-CB71B08E2C03}" type="pres">
      <dgm:prSet presAssocID="{9C3A6313-6451-4E60-BD14-CE7A48480CEC}" presName="horz1" presStyleCnt="0"/>
      <dgm:spPr/>
    </dgm:pt>
    <dgm:pt modelId="{B59F48F1-237C-844A-A8A9-280EE2AC9351}" type="pres">
      <dgm:prSet presAssocID="{9C3A6313-6451-4E60-BD14-CE7A48480CEC}" presName="tx1" presStyleLbl="revTx" presStyleIdx="1" presStyleCnt="5"/>
      <dgm:spPr/>
    </dgm:pt>
    <dgm:pt modelId="{173275F1-242E-8B40-B361-0875A4D0F243}" type="pres">
      <dgm:prSet presAssocID="{9C3A6313-6451-4E60-BD14-CE7A48480CEC}" presName="vert1" presStyleCnt="0"/>
      <dgm:spPr/>
    </dgm:pt>
    <dgm:pt modelId="{D989FAD7-A2CB-0E4C-8847-368B6ED08CA3}" type="pres">
      <dgm:prSet presAssocID="{09B65229-2AF6-4BC2-9E4C-34649AC15AC5}" presName="thickLine" presStyleLbl="alignNode1" presStyleIdx="2" presStyleCnt="5"/>
      <dgm:spPr/>
    </dgm:pt>
    <dgm:pt modelId="{FEADFA45-8A7C-514E-8269-C04AE6F30845}" type="pres">
      <dgm:prSet presAssocID="{09B65229-2AF6-4BC2-9E4C-34649AC15AC5}" presName="horz1" presStyleCnt="0"/>
      <dgm:spPr/>
    </dgm:pt>
    <dgm:pt modelId="{A98E0529-0A33-5147-8E99-49478948E6C0}" type="pres">
      <dgm:prSet presAssocID="{09B65229-2AF6-4BC2-9E4C-34649AC15AC5}" presName="tx1" presStyleLbl="revTx" presStyleIdx="2" presStyleCnt="5"/>
      <dgm:spPr/>
    </dgm:pt>
    <dgm:pt modelId="{35870A48-66D1-5C43-B7EE-F8CED6A983C4}" type="pres">
      <dgm:prSet presAssocID="{09B65229-2AF6-4BC2-9E4C-34649AC15AC5}" presName="vert1" presStyleCnt="0"/>
      <dgm:spPr/>
    </dgm:pt>
    <dgm:pt modelId="{80CA53BB-EC84-9949-86AD-10C0DD2D1A09}" type="pres">
      <dgm:prSet presAssocID="{4243F134-4356-464A-8BBE-B4A60AECBC6B}" presName="thickLine" presStyleLbl="alignNode1" presStyleIdx="3" presStyleCnt="5"/>
      <dgm:spPr/>
    </dgm:pt>
    <dgm:pt modelId="{EC75E698-D9D6-F343-88BF-2C09CB5B653E}" type="pres">
      <dgm:prSet presAssocID="{4243F134-4356-464A-8BBE-B4A60AECBC6B}" presName="horz1" presStyleCnt="0"/>
      <dgm:spPr/>
    </dgm:pt>
    <dgm:pt modelId="{6D464575-C518-B54F-8A04-A2FCF1FB3A3F}" type="pres">
      <dgm:prSet presAssocID="{4243F134-4356-464A-8BBE-B4A60AECBC6B}" presName="tx1" presStyleLbl="revTx" presStyleIdx="3" presStyleCnt="5"/>
      <dgm:spPr/>
    </dgm:pt>
    <dgm:pt modelId="{D41A8F5C-3A0A-CF4B-97E4-8A56AAEB856F}" type="pres">
      <dgm:prSet presAssocID="{4243F134-4356-464A-8BBE-B4A60AECBC6B}" presName="vert1" presStyleCnt="0"/>
      <dgm:spPr/>
    </dgm:pt>
    <dgm:pt modelId="{D865FD8E-E7D3-944D-9448-9A1726439075}" type="pres">
      <dgm:prSet presAssocID="{C2334FEE-0532-4B8A-B9E2-C4154F6B4708}" presName="thickLine" presStyleLbl="alignNode1" presStyleIdx="4" presStyleCnt="5"/>
      <dgm:spPr/>
    </dgm:pt>
    <dgm:pt modelId="{D1BDD19B-E415-454C-9FB3-02197B8CA136}" type="pres">
      <dgm:prSet presAssocID="{C2334FEE-0532-4B8A-B9E2-C4154F6B4708}" presName="horz1" presStyleCnt="0"/>
      <dgm:spPr/>
    </dgm:pt>
    <dgm:pt modelId="{11E19F11-C446-5E48-9C13-E09ABF4E9F5A}" type="pres">
      <dgm:prSet presAssocID="{C2334FEE-0532-4B8A-B9E2-C4154F6B4708}" presName="tx1" presStyleLbl="revTx" presStyleIdx="4" presStyleCnt="5"/>
      <dgm:spPr/>
    </dgm:pt>
    <dgm:pt modelId="{2722D16A-270B-9F48-BA6F-F0A5C505CC76}" type="pres">
      <dgm:prSet presAssocID="{C2334FEE-0532-4B8A-B9E2-C4154F6B4708}" presName="vert1" presStyleCnt="0"/>
      <dgm:spPr/>
    </dgm:pt>
  </dgm:ptLst>
  <dgm:cxnLst>
    <dgm:cxn modelId="{3831C50B-7215-E745-9306-9D1A0EA81D02}" type="presOf" srcId="{09B65229-2AF6-4BC2-9E4C-34649AC15AC5}" destId="{A98E0529-0A33-5147-8E99-49478948E6C0}" srcOrd="0" destOrd="0" presId="urn:microsoft.com/office/officeart/2008/layout/LinedList"/>
    <dgm:cxn modelId="{5FB69E13-CEBF-0549-AC26-0EC6ACAF0D3E}" type="presOf" srcId="{9C3A6313-6451-4E60-BD14-CE7A48480CEC}" destId="{B59F48F1-237C-844A-A8A9-280EE2AC9351}" srcOrd="0" destOrd="0" presId="urn:microsoft.com/office/officeart/2008/layout/LinedList"/>
    <dgm:cxn modelId="{1D29684E-D8BC-0C47-94B9-D4C5C8D21FE3}" type="presOf" srcId="{C2334FEE-0532-4B8A-B9E2-C4154F6B4708}" destId="{11E19F11-C446-5E48-9C13-E09ABF4E9F5A}" srcOrd="0" destOrd="0" presId="urn:microsoft.com/office/officeart/2008/layout/LinedList"/>
    <dgm:cxn modelId="{E04A9968-ABA1-4671-B536-BFCA8AD01B66}" srcId="{D48D5C14-1C2C-4EF0-9471-7F58DAE44DF7}" destId="{4243F134-4356-464A-8BBE-B4A60AECBC6B}" srcOrd="3" destOrd="0" parTransId="{A547F7BE-3A7C-4AB6-A598-766F8F9CCF59}" sibTransId="{EE21E21D-8B92-4F1E-8CFD-B900AC25EBFA}"/>
    <dgm:cxn modelId="{D6BB6378-BD68-804A-A1A2-2E73229CA50D}" type="presOf" srcId="{D48D5C14-1C2C-4EF0-9471-7F58DAE44DF7}" destId="{FDC3EFAE-87FD-3248-A4CB-7670405BA569}" srcOrd="0" destOrd="0" presId="urn:microsoft.com/office/officeart/2008/layout/LinedList"/>
    <dgm:cxn modelId="{87B0C2C4-25F2-4AFF-98A2-BEEFEC45D381}" srcId="{D48D5C14-1C2C-4EF0-9471-7F58DAE44DF7}" destId="{09B65229-2AF6-4BC2-9E4C-34649AC15AC5}" srcOrd="2" destOrd="0" parTransId="{2AECE2A0-52F3-4B2E-AB2E-BCB0433C8BBB}" sibTransId="{78AD112A-E4BF-459C-8A9A-24C4F3859367}"/>
    <dgm:cxn modelId="{2FC8D8C5-F9DD-B344-B088-7AFD74125923}" type="presOf" srcId="{4243F134-4356-464A-8BBE-B4A60AECBC6B}" destId="{6D464575-C518-B54F-8A04-A2FCF1FB3A3F}" srcOrd="0" destOrd="0" presId="urn:microsoft.com/office/officeart/2008/layout/LinedList"/>
    <dgm:cxn modelId="{3AB9E5C7-CC04-4C49-B1EB-2DCFB82EE2F2}" srcId="{D48D5C14-1C2C-4EF0-9471-7F58DAE44DF7}" destId="{C2334FEE-0532-4B8A-B9E2-C4154F6B4708}" srcOrd="4" destOrd="0" parTransId="{39F5C351-D0A1-444E-97DB-BFB6F1829804}" sibTransId="{DF3AC6BE-087B-4352-A851-AEEF423EB074}"/>
    <dgm:cxn modelId="{12733AD5-1BF7-C147-A01B-A05D098C44B2}" type="presOf" srcId="{721193FD-3254-4E18-861C-81FDC026185A}" destId="{4C003166-9573-BC4D-9F58-041109C47082}" srcOrd="0" destOrd="0" presId="urn:microsoft.com/office/officeart/2008/layout/LinedList"/>
    <dgm:cxn modelId="{E4D484D6-5F4A-4514-AC5A-CCA7E36B522A}" srcId="{D48D5C14-1C2C-4EF0-9471-7F58DAE44DF7}" destId="{9C3A6313-6451-4E60-BD14-CE7A48480CEC}" srcOrd="1" destOrd="0" parTransId="{1022CF01-E08A-4B5B-9AD4-6AF2A644A6A8}" sibTransId="{906B9D99-82AE-4D06-A83D-CDBC691B68E3}"/>
    <dgm:cxn modelId="{432626F6-C94E-49D7-A4D4-86613FDD61C0}" srcId="{D48D5C14-1C2C-4EF0-9471-7F58DAE44DF7}" destId="{721193FD-3254-4E18-861C-81FDC026185A}" srcOrd="0" destOrd="0" parTransId="{141872C8-1AAC-4DDE-82E5-59AFAF93CE2B}" sibTransId="{0F48A3AE-5D91-4226-95AC-5BBA9553F340}"/>
    <dgm:cxn modelId="{8E00DC6C-7E3B-4949-9596-CE862B32F275}" type="presParOf" srcId="{FDC3EFAE-87FD-3248-A4CB-7670405BA569}" destId="{D15E8392-FB1D-B742-81B8-EA4C3F3C88EC}" srcOrd="0" destOrd="0" presId="urn:microsoft.com/office/officeart/2008/layout/LinedList"/>
    <dgm:cxn modelId="{D72FF6F7-6D87-A443-8101-F9F5A70C5066}" type="presParOf" srcId="{FDC3EFAE-87FD-3248-A4CB-7670405BA569}" destId="{440CB650-CDA6-A04F-8305-F53818DB4F76}" srcOrd="1" destOrd="0" presId="urn:microsoft.com/office/officeart/2008/layout/LinedList"/>
    <dgm:cxn modelId="{C7B99CCD-E022-0D4E-942A-5EBC30CF9AC1}" type="presParOf" srcId="{440CB650-CDA6-A04F-8305-F53818DB4F76}" destId="{4C003166-9573-BC4D-9F58-041109C47082}" srcOrd="0" destOrd="0" presId="urn:microsoft.com/office/officeart/2008/layout/LinedList"/>
    <dgm:cxn modelId="{7090F248-35EA-F64F-A582-BAAFFAD673AA}" type="presParOf" srcId="{440CB650-CDA6-A04F-8305-F53818DB4F76}" destId="{D848AF80-C1BF-6F48-AE09-716589B04826}" srcOrd="1" destOrd="0" presId="urn:microsoft.com/office/officeart/2008/layout/LinedList"/>
    <dgm:cxn modelId="{97DD05A9-AB53-944D-8A54-ACAF06536873}" type="presParOf" srcId="{FDC3EFAE-87FD-3248-A4CB-7670405BA569}" destId="{F609FC78-7FB4-274D-96D3-760BDF0F82ED}" srcOrd="2" destOrd="0" presId="urn:microsoft.com/office/officeart/2008/layout/LinedList"/>
    <dgm:cxn modelId="{AC3A7E9C-BEA1-F34C-B4B2-B4D1B36B780D}" type="presParOf" srcId="{FDC3EFAE-87FD-3248-A4CB-7670405BA569}" destId="{95ACADB0-6C21-3847-A88A-CB71B08E2C03}" srcOrd="3" destOrd="0" presId="urn:microsoft.com/office/officeart/2008/layout/LinedList"/>
    <dgm:cxn modelId="{782C3787-6BCE-5442-B021-A1F78B157A68}" type="presParOf" srcId="{95ACADB0-6C21-3847-A88A-CB71B08E2C03}" destId="{B59F48F1-237C-844A-A8A9-280EE2AC9351}" srcOrd="0" destOrd="0" presId="urn:microsoft.com/office/officeart/2008/layout/LinedList"/>
    <dgm:cxn modelId="{E7995B56-CD6C-1942-BD40-C46095F4C06A}" type="presParOf" srcId="{95ACADB0-6C21-3847-A88A-CB71B08E2C03}" destId="{173275F1-242E-8B40-B361-0875A4D0F243}" srcOrd="1" destOrd="0" presId="urn:microsoft.com/office/officeart/2008/layout/LinedList"/>
    <dgm:cxn modelId="{2A1FD92C-59CD-6E45-8685-46F05E3174D0}" type="presParOf" srcId="{FDC3EFAE-87FD-3248-A4CB-7670405BA569}" destId="{D989FAD7-A2CB-0E4C-8847-368B6ED08CA3}" srcOrd="4" destOrd="0" presId="urn:microsoft.com/office/officeart/2008/layout/LinedList"/>
    <dgm:cxn modelId="{D2E93A0C-318F-1D4A-9CE1-1710CBCD752A}" type="presParOf" srcId="{FDC3EFAE-87FD-3248-A4CB-7670405BA569}" destId="{FEADFA45-8A7C-514E-8269-C04AE6F30845}" srcOrd="5" destOrd="0" presId="urn:microsoft.com/office/officeart/2008/layout/LinedList"/>
    <dgm:cxn modelId="{F9A5639E-629A-CE49-9565-492965CE3143}" type="presParOf" srcId="{FEADFA45-8A7C-514E-8269-C04AE6F30845}" destId="{A98E0529-0A33-5147-8E99-49478948E6C0}" srcOrd="0" destOrd="0" presId="urn:microsoft.com/office/officeart/2008/layout/LinedList"/>
    <dgm:cxn modelId="{3AAC9564-D108-4341-9A17-80097D864D77}" type="presParOf" srcId="{FEADFA45-8A7C-514E-8269-C04AE6F30845}" destId="{35870A48-66D1-5C43-B7EE-F8CED6A983C4}" srcOrd="1" destOrd="0" presId="urn:microsoft.com/office/officeart/2008/layout/LinedList"/>
    <dgm:cxn modelId="{7E71DAD5-63C3-8A49-AAB7-12F7B8190218}" type="presParOf" srcId="{FDC3EFAE-87FD-3248-A4CB-7670405BA569}" destId="{80CA53BB-EC84-9949-86AD-10C0DD2D1A09}" srcOrd="6" destOrd="0" presId="urn:microsoft.com/office/officeart/2008/layout/LinedList"/>
    <dgm:cxn modelId="{0B3382E9-423F-0943-884F-66535D6CBBB0}" type="presParOf" srcId="{FDC3EFAE-87FD-3248-A4CB-7670405BA569}" destId="{EC75E698-D9D6-F343-88BF-2C09CB5B653E}" srcOrd="7" destOrd="0" presId="urn:microsoft.com/office/officeart/2008/layout/LinedList"/>
    <dgm:cxn modelId="{6003D119-4EB5-1F41-A8CF-A3640346B666}" type="presParOf" srcId="{EC75E698-D9D6-F343-88BF-2C09CB5B653E}" destId="{6D464575-C518-B54F-8A04-A2FCF1FB3A3F}" srcOrd="0" destOrd="0" presId="urn:microsoft.com/office/officeart/2008/layout/LinedList"/>
    <dgm:cxn modelId="{D455B26C-0F4B-3B44-BD87-AAC377D948EA}" type="presParOf" srcId="{EC75E698-D9D6-F343-88BF-2C09CB5B653E}" destId="{D41A8F5C-3A0A-CF4B-97E4-8A56AAEB856F}" srcOrd="1" destOrd="0" presId="urn:microsoft.com/office/officeart/2008/layout/LinedList"/>
    <dgm:cxn modelId="{B2B781FC-59C7-CC41-810C-636F41B11352}" type="presParOf" srcId="{FDC3EFAE-87FD-3248-A4CB-7670405BA569}" destId="{D865FD8E-E7D3-944D-9448-9A1726439075}" srcOrd="8" destOrd="0" presId="urn:microsoft.com/office/officeart/2008/layout/LinedList"/>
    <dgm:cxn modelId="{31CA1F06-A9CB-C74A-AA7D-6649B0458700}" type="presParOf" srcId="{FDC3EFAE-87FD-3248-A4CB-7670405BA569}" destId="{D1BDD19B-E415-454C-9FB3-02197B8CA136}" srcOrd="9" destOrd="0" presId="urn:microsoft.com/office/officeart/2008/layout/LinedList"/>
    <dgm:cxn modelId="{FFB5411A-A9B2-D44C-AA39-A50DE0BBFC89}" type="presParOf" srcId="{D1BDD19B-E415-454C-9FB3-02197B8CA136}" destId="{11E19F11-C446-5E48-9C13-E09ABF4E9F5A}" srcOrd="0" destOrd="0" presId="urn:microsoft.com/office/officeart/2008/layout/LinedList"/>
    <dgm:cxn modelId="{6D4EDA99-4CF6-C149-9EF9-1617D983313B}" type="presParOf" srcId="{D1BDD19B-E415-454C-9FB3-02197B8CA136}" destId="{2722D16A-270B-9F48-BA6F-F0A5C505CC76}"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5E8392-FB1D-B742-81B8-EA4C3F3C88EC}">
      <dsp:nvSpPr>
        <dsp:cNvPr id="0" name=""/>
        <dsp:cNvSpPr/>
      </dsp:nvSpPr>
      <dsp:spPr>
        <a:xfrm>
          <a:off x="0" y="594"/>
          <a:ext cx="10716126" cy="0"/>
        </a:xfrm>
        <a:prstGeom prst="line">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003166-9573-BC4D-9F58-041109C47082}">
      <dsp:nvSpPr>
        <dsp:cNvPr id="0" name=""/>
        <dsp:cNvSpPr/>
      </dsp:nvSpPr>
      <dsp:spPr>
        <a:xfrm>
          <a:off x="0" y="594"/>
          <a:ext cx="10716126" cy="973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Dumitrescu, E., Hué, S., Hurlin, C., &amp; Tokpavi, S. (2022). Machine learning for credit scoring: Improving logistic regression with non-linear decision-tree effects.</a:t>
          </a:r>
          <a:r>
            <a:rPr lang="en-US" sz="1600" i="1" kern="1200"/>
            <a:t> European Journal of Operational Research, 297(3), 1178–1192.  |  </a:t>
          </a:r>
          <a:r>
            <a:rPr lang="en-US" sz="1600" i="1" kern="1200">
              <a:hlinkClick xmlns:r="http://schemas.openxmlformats.org/officeDocument/2006/relationships" r:id="rId1"/>
            </a:rPr>
            <a:t>https://doi.org/10.1016/j.ejor.2021.06.053</a:t>
          </a:r>
          <a:endParaRPr lang="en-US" sz="1600" kern="1200"/>
        </a:p>
      </dsp:txBody>
      <dsp:txXfrm>
        <a:off x="0" y="594"/>
        <a:ext cx="10716126" cy="973824"/>
      </dsp:txXfrm>
    </dsp:sp>
    <dsp:sp modelId="{F609FC78-7FB4-274D-96D3-760BDF0F82ED}">
      <dsp:nvSpPr>
        <dsp:cNvPr id="0" name=""/>
        <dsp:cNvSpPr/>
      </dsp:nvSpPr>
      <dsp:spPr>
        <a:xfrm>
          <a:off x="0" y="974418"/>
          <a:ext cx="10716126" cy="0"/>
        </a:xfrm>
        <a:prstGeom prst="line">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9F48F1-237C-844A-A8A9-280EE2AC9351}">
      <dsp:nvSpPr>
        <dsp:cNvPr id="0" name=""/>
        <dsp:cNvSpPr/>
      </dsp:nvSpPr>
      <dsp:spPr>
        <a:xfrm>
          <a:off x="0" y="974418"/>
          <a:ext cx="10716126" cy="973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Zhu, X., Chu, Q., Song, X., Hu, P., &amp; Peng, L. (2023). Explainable prediction of loan default based on machine learning models. </a:t>
          </a:r>
          <a:r>
            <a:rPr lang="en-US" sz="1600" i="1" kern="1200"/>
            <a:t>Data Science and Management, 6(3), 123–133.  |  </a:t>
          </a:r>
          <a:r>
            <a:rPr lang="en-US" sz="1600" i="1" kern="1200">
              <a:hlinkClick xmlns:r="http://schemas.openxmlformats.org/officeDocument/2006/relationships" r:id="rId2"/>
            </a:rPr>
            <a:t>https://doi.org/10.1016/j.dsm.2023.04.003</a:t>
          </a:r>
          <a:endParaRPr lang="en-US" sz="1600" kern="1200"/>
        </a:p>
      </dsp:txBody>
      <dsp:txXfrm>
        <a:off x="0" y="974418"/>
        <a:ext cx="10716126" cy="973824"/>
      </dsp:txXfrm>
    </dsp:sp>
    <dsp:sp modelId="{D989FAD7-A2CB-0E4C-8847-368B6ED08CA3}">
      <dsp:nvSpPr>
        <dsp:cNvPr id="0" name=""/>
        <dsp:cNvSpPr/>
      </dsp:nvSpPr>
      <dsp:spPr>
        <a:xfrm>
          <a:off x="0" y="1948243"/>
          <a:ext cx="10716126" cy="0"/>
        </a:xfrm>
        <a:prstGeom prst="line">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98E0529-0A33-5147-8E99-49478948E6C0}">
      <dsp:nvSpPr>
        <dsp:cNvPr id="0" name=""/>
        <dsp:cNvSpPr/>
      </dsp:nvSpPr>
      <dsp:spPr>
        <a:xfrm>
          <a:off x="0" y="1948243"/>
          <a:ext cx="10716126" cy="973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FinRegLab. (2023). Machine learning explainability and fairness: Insights from consumer lending. </a:t>
          </a:r>
          <a:r>
            <a:rPr lang="en-US" sz="1600" i="1" kern="1200"/>
            <a:t>FinRegLab Whitepaper.  |  </a:t>
          </a:r>
          <a:r>
            <a:rPr lang="en-US" sz="1600" i="1" kern="1200">
              <a:hlinkClick xmlns:r="http://schemas.openxmlformats.org/officeDocument/2006/relationships" r:id="rId3"/>
            </a:rPr>
            <a:t>https://finreglab.org</a:t>
          </a:r>
          <a:endParaRPr lang="en-US" sz="1600" kern="1200"/>
        </a:p>
      </dsp:txBody>
      <dsp:txXfrm>
        <a:off x="0" y="1948243"/>
        <a:ext cx="10716126" cy="973824"/>
      </dsp:txXfrm>
    </dsp:sp>
    <dsp:sp modelId="{80CA53BB-EC84-9949-86AD-10C0DD2D1A09}">
      <dsp:nvSpPr>
        <dsp:cNvPr id="0" name=""/>
        <dsp:cNvSpPr/>
      </dsp:nvSpPr>
      <dsp:spPr>
        <a:xfrm>
          <a:off x="0" y="2922067"/>
          <a:ext cx="10716126" cy="0"/>
        </a:xfrm>
        <a:prstGeom prst="line">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D464575-C518-B54F-8A04-A2FCF1FB3A3F}">
      <dsp:nvSpPr>
        <dsp:cNvPr id="0" name=""/>
        <dsp:cNvSpPr/>
      </dsp:nvSpPr>
      <dsp:spPr>
        <a:xfrm>
          <a:off x="0" y="2922067"/>
          <a:ext cx="10716126" cy="973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Federal Trade Commission. (2025). Understanding your credit.</a:t>
          </a:r>
          <a:r>
            <a:rPr lang="en-US" sz="1600" i="1" kern="1200"/>
            <a:t> FTC Consumer Information.  |  </a:t>
          </a:r>
          <a:r>
            <a:rPr lang="en-US" sz="1600" i="1" kern="1200">
              <a:hlinkClick xmlns:r="http://schemas.openxmlformats.org/officeDocument/2006/relationships" r:id="rId4"/>
            </a:rPr>
            <a:t>https://consumer.ftc.gov/articles/understanding-your-credit</a:t>
          </a:r>
          <a:endParaRPr lang="en-US" sz="1600" kern="1200"/>
        </a:p>
      </dsp:txBody>
      <dsp:txXfrm>
        <a:off x="0" y="2922067"/>
        <a:ext cx="10716126" cy="973824"/>
      </dsp:txXfrm>
    </dsp:sp>
    <dsp:sp modelId="{D865FD8E-E7D3-944D-9448-9A1726439075}">
      <dsp:nvSpPr>
        <dsp:cNvPr id="0" name=""/>
        <dsp:cNvSpPr/>
      </dsp:nvSpPr>
      <dsp:spPr>
        <a:xfrm>
          <a:off x="0" y="3895892"/>
          <a:ext cx="10716126" cy="0"/>
        </a:xfrm>
        <a:prstGeom prst="line">
          <a:avLst/>
        </a:prstGeom>
        <a:solidFill>
          <a:schemeClr val="accent1">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1E19F11-C446-5E48-9C13-E09ABF4E9F5A}">
      <dsp:nvSpPr>
        <dsp:cNvPr id="0" name=""/>
        <dsp:cNvSpPr/>
      </dsp:nvSpPr>
      <dsp:spPr>
        <a:xfrm>
          <a:off x="0" y="3895892"/>
          <a:ext cx="10716126" cy="973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n-US" sz="1600" kern="1200"/>
            <a:t>Lundberg, S. M., &amp; Lee, S. I. (2017). A unified approach to interpreting model predictions. </a:t>
          </a:r>
          <a:r>
            <a:rPr lang="en-US" sz="1600" i="1" kern="1200"/>
            <a:t>Advances in Neural Information Processing Systems, 30 (NIPS 2017).  |  </a:t>
          </a:r>
          <a:r>
            <a:rPr lang="en-US" sz="1600" i="1" kern="1200">
              <a:hlinkClick xmlns:r="http://schemas.openxmlformats.org/officeDocument/2006/relationships" r:id="rId5"/>
            </a:rPr>
            <a:t>https://proceedings.neurips.cc/paper/2017/hash/8a20a8621978632d76c43dfd28b67767-Abstract.html</a:t>
          </a:r>
          <a:endParaRPr lang="en-US" sz="1600" kern="1200"/>
        </a:p>
      </dsp:txBody>
      <dsp:txXfrm>
        <a:off x="0" y="3895892"/>
        <a:ext cx="10716126" cy="973824"/>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F0A905-C50B-7E4D-B483-856A4240BC80}" type="datetimeFigureOut">
              <a:rPr lang="en-US" smtClean="0"/>
              <a:t>5/14/26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A5B61-80C3-B440-A8F3-891094A90805}" type="slidenum">
              <a:rPr lang="en-US" smtClean="0"/>
              <a:t>‹#›</a:t>
            </a:fld>
            <a:endParaRPr lang="en-US"/>
          </a:p>
        </p:txBody>
      </p:sp>
    </p:spTree>
    <p:extLst>
      <p:ext uri="{BB962C8B-B14F-4D97-AF65-F5344CB8AC3E}">
        <p14:creationId xmlns:p14="http://schemas.microsoft.com/office/powerpoint/2010/main" val="23190428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a:t>
            </a:fld>
            <a:endParaRPr lang="en-US"/>
          </a:p>
        </p:txBody>
      </p:sp>
    </p:spTree>
    <p:extLst>
      <p:ext uri="{BB962C8B-B14F-4D97-AF65-F5344CB8AC3E}">
        <p14:creationId xmlns:p14="http://schemas.microsoft.com/office/powerpoint/2010/main" val="27266084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First, I will check the basic overview of the data. This includes the data size, data types, missing values, loan approval counts, and common categories like gender, education, and property area.</a:t>
            </a:r>
          </a:p>
          <a:p>
            <a:endParaRPr lang="en-US" dirty="0"/>
          </a:p>
          <a:p>
            <a:r>
              <a:rPr lang="en-US" dirty="0"/>
              <a:t>2. Next, I will compare loan approval rates by different categories, such as gender, married status, education, self-employment, property area, credit history, and dependents.</a:t>
            </a:r>
          </a:p>
          <a:p>
            <a:endParaRPr lang="en-US" dirty="0"/>
          </a:p>
          <a:p>
            <a:r>
              <a:rPr lang="en-US" sz="1200" b="0" i="0" kern="1200" dirty="0">
                <a:solidFill>
                  <a:schemeClr val="tx1"/>
                </a:solidFill>
                <a:effectLst/>
                <a:latin typeface="+mn-lt"/>
                <a:ea typeface="+mn-ea"/>
                <a:cs typeface="+mn-cs"/>
              </a:rPr>
              <a:t>3. After that I will look at income patterns, loan amounts and loan terms. This includes the applicants income, the co-applicants income, the total income, how much the loan is for and how long the loan is, for.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4. Finally, I will see which features are closely related to loan approval by checking their correlations.</a:t>
            </a:r>
          </a:p>
        </p:txBody>
      </p:sp>
      <p:sp>
        <p:nvSpPr>
          <p:cNvPr id="4" name="Slide Number Placeholder 3"/>
          <p:cNvSpPr>
            <a:spLocks noGrp="1"/>
          </p:cNvSpPr>
          <p:nvPr>
            <p:ph type="sldNum" sz="quarter" idx="5"/>
          </p:nvPr>
        </p:nvSpPr>
        <p:spPr/>
        <p:txBody>
          <a:bodyPr/>
          <a:lstStyle/>
          <a:p>
            <a:fld id="{BCEA5B61-80C3-B440-A8F3-891094A90805}" type="slidenum">
              <a:rPr lang="en-US" smtClean="0"/>
              <a:t>2</a:t>
            </a:fld>
            <a:endParaRPr lang="en-US"/>
          </a:p>
        </p:txBody>
      </p:sp>
    </p:spTree>
    <p:extLst>
      <p:ext uri="{BB962C8B-B14F-4D97-AF65-F5344CB8AC3E}">
        <p14:creationId xmlns:p14="http://schemas.microsoft.com/office/powerpoint/2010/main" val="923499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sz="1200" b="0" i="0" kern="1200" dirty="0">
                <a:solidFill>
                  <a:schemeClr val="tx1"/>
                </a:solidFill>
                <a:effectLst/>
                <a:latin typeface="+mn-lt"/>
                <a:ea typeface="+mn-ea"/>
                <a:cs typeface="+mn-cs"/>
              </a:rPr>
              <a:t>First, I will identify which applicant factors are the best indicators of loan approval. I will use feature importance charts and a correlation heatmap to understand which variables have the strongest impact.</a:t>
            </a:r>
          </a:p>
          <a:p>
            <a:pPr marL="228600" indent="-228600">
              <a:buAutoNum type="arabicPeriod"/>
            </a:pPr>
            <a:br>
              <a:rPr lang="en-US" dirty="0"/>
            </a:br>
            <a:r>
              <a:rPr lang="en-US" sz="1200" b="0" i="0" kern="1200" dirty="0">
                <a:solidFill>
                  <a:schemeClr val="tx1"/>
                </a:solidFill>
                <a:effectLst/>
                <a:latin typeface="+mn-lt"/>
                <a:ea typeface="+mn-ea"/>
                <a:cs typeface="+mn-cs"/>
              </a:rPr>
              <a:t>Second, I will examine whether credit history is the most important factor in loan approval prediction. The credit history approval rate chart will help show how approval changes based on credit records.</a:t>
            </a:r>
          </a:p>
          <a:p>
            <a:pPr marL="228600" indent="-228600">
              <a:buAutoNum type="arabicPeriod"/>
            </a:pPr>
            <a:r>
              <a:rPr lang="en-US" sz="1200" b="0" i="0" kern="1200" dirty="0">
                <a:solidFill>
                  <a:schemeClr val="tx1"/>
                </a:solidFill>
                <a:effectLst/>
                <a:latin typeface="+mn-lt"/>
                <a:ea typeface="+mn-ea"/>
                <a:cs typeface="+mn-cs"/>
              </a:rPr>
              <a:t>Third I will look at how the income and the loan amount impact the chances of getting a loan approved. I will use scatter plots and histograms to see how the income and the loan amount are connected to the approval decisions.</a:t>
            </a:r>
          </a:p>
          <a:p>
            <a:pPr marL="228600" indent="-228600">
              <a:buAutoNum type="arabicPeriod"/>
            </a:pPr>
            <a:r>
              <a:rPr lang="en-US" sz="1200" b="0" i="0" kern="1200" dirty="0">
                <a:solidFill>
                  <a:schemeClr val="tx1"/>
                </a:solidFill>
                <a:effectLst/>
                <a:latin typeface="+mn-lt"/>
                <a:ea typeface="+mn-ea"/>
                <a:cs typeface="+mn-cs"/>
              </a:rPr>
              <a:t>Finally I will see if the gender and the education of the applicant have an effect, on the loan approval decisions. Side-by-side approval rate charts will compare approval patterns across different demographic groups.</a:t>
            </a:r>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3</a:t>
            </a:fld>
            <a:endParaRPr lang="en-US"/>
          </a:p>
        </p:txBody>
      </p:sp>
    </p:spTree>
    <p:extLst>
      <p:ext uri="{BB962C8B-B14F-4D97-AF65-F5344CB8AC3E}">
        <p14:creationId xmlns:p14="http://schemas.microsoft.com/office/powerpoint/2010/main" val="4259462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Banks receive thousands of loan applications every month. Manual review takes a lot of time, costs money, and may produce inconsistent decisions.</a:t>
            </a:r>
          </a:p>
          <a:p>
            <a:pPr marL="228600" indent="-228600">
              <a:buAutoNum type="arabicPeriod"/>
            </a:pPr>
            <a:r>
              <a:rPr lang="en-US" dirty="0"/>
              <a:t>Human decisions can also include bias, which may affect qualified applicants based on demographic factors such as gender or location.</a:t>
            </a:r>
          </a:p>
          <a:p>
            <a:pPr marL="228600" indent="-228600">
              <a:buAutoNum type="arabicPeriod"/>
            </a:pPr>
            <a:r>
              <a:rPr lang="en-US" dirty="0"/>
              <a:t>At the same time, rejecting good borrowers can reduce business revenue, while approving risky applicants can increase loan default losses.</a:t>
            </a:r>
          </a:p>
          <a:p>
            <a:pPr marL="228600" indent="-228600">
              <a:buAutoNum type="arabicPeriod"/>
            </a:pPr>
            <a:r>
              <a:rPr lang="en-US" dirty="0"/>
              <a:t>Financial institutions also face regulatory pressure to make fair, explainable, and auditable decisions.</a:t>
            </a:r>
          </a:p>
          <a:p>
            <a:pPr marL="228600" indent="-228600">
              <a:buAutoNum type="arabicPeriod"/>
            </a:pPr>
            <a:r>
              <a:rPr lang="en-US" dirty="0"/>
              <a:t>To solve these problems, this project uses a predictive machine learning model trained on historical loan data to predict loan approval probability.</a:t>
            </a:r>
          </a:p>
          <a:p>
            <a:pPr marL="228600" indent="-228600">
              <a:buAutoNum type="arabicPeriod"/>
            </a:pPr>
            <a:r>
              <a:rPr lang="en-US" dirty="0"/>
              <a:t>The project also focuses on feature discovery to identify which applicant factors most influence approval or rejection decisions.</a:t>
            </a:r>
          </a:p>
          <a:p>
            <a:pPr marL="228600" indent="-228600">
              <a:buAutoNum type="arabicPeriod"/>
            </a:pPr>
            <a:r>
              <a:rPr lang="en-US" dirty="0"/>
              <a:t>Another important goal is fairness auditing using explainable AI techniques like SHAP to detect possible demographic bias.</a:t>
            </a:r>
          </a:p>
        </p:txBody>
      </p:sp>
      <p:sp>
        <p:nvSpPr>
          <p:cNvPr id="4" name="Slide Number Placeholder 3"/>
          <p:cNvSpPr>
            <a:spLocks noGrp="1"/>
          </p:cNvSpPr>
          <p:nvPr>
            <p:ph type="sldNum" sz="quarter" idx="5"/>
          </p:nvPr>
        </p:nvSpPr>
        <p:spPr/>
        <p:txBody>
          <a:bodyPr/>
          <a:lstStyle/>
          <a:p>
            <a:fld id="{BCEA5B61-80C3-B440-A8F3-891094A90805}" type="slidenum">
              <a:rPr lang="en-US" smtClean="0"/>
              <a:t>4</a:t>
            </a:fld>
            <a:endParaRPr lang="en-US"/>
          </a:p>
        </p:txBody>
      </p:sp>
    </p:spTree>
    <p:extLst>
      <p:ext uri="{BB962C8B-B14F-4D97-AF65-F5344CB8AC3E}">
        <p14:creationId xmlns:p14="http://schemas.microsoft.com/office/powerpoint/2010/main" val="1206855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1. The dataset has 598 loan records with information about people and their money and credit history.</a:t>
            </a:r>
          </a:p>
          <a:p>
            <a:r>
              <a:rPr lang="en-US" sz="1200" b="0" i="0" kern="1200" dirty="0">
                <a:solidFill>
                  <a:schemeClr val="tx1"/>
                </a:solidFill>
                <a:effectLst/>
                <a:latin typeface="+mn-lt"/>
                <a:ea typeface="+mn-ea"/>
                <a:cs typeface="+mn-cs"/>
              </a:rPr>
              <a:t>2. First we fix the data by dealing with missing information putting categories into numbers and finding values that do not make sense.</a:t>
            </a:r>
          </a:p>
          <a:p>
            <a:r>
              <a:rPr lang="en-US" sz="1200" b="0" i="0" kern="1200" dirty="0">
                <a:solidFill>
                  <a:schemeClr val="tx1"/>
                </a:solidFill>
                <a:effectLst/>
                <a:latin typeface="+mn-lt"/>
                <a:ea typeface="+mn-ea"/>
                <a:cs typeface="+mn-cs"/>
              </a:rPr>
              <a:t>3. Next we look at the data to see what it tells us using pictures and heatmaps to understand what is going on in the data.</a:t>
            </a:r>
          </a:p>
          <a:p>
            <a:r>
              <a:rPr lang="en-US" sz="1200" b="0" i="0" kern="1200" dirty="0">
                <a:solidFill>
                  <a:schemeClr val="tx1"/>
                </a:solidFill>
                <a:effectLst/>
                <a:latin typeface="+mn-lt"/>
                <a:ea typeface="+mn-ea"/>
                <a:cs typeface="+mn-cs"/>
              </a:rPr>
              <a:t>4. We make new information like income and how much money people make compared to how much they want to borrow to make our predictions better.</a:t>
            </a:r>
          </a:p>
          <a:p>
            <a:r>
              <a:rPr lang="en-US" sz="1200" b="0" i="0" kern="1200" dirty="0">
                <a:solidFill>
                  <a:schemeClr val="tx1"/>
                </a:solidFill>
                <a:effectLst/>
                <a:latin typeface="+mn-lt"/>
                <a:ea typeface="+mn-ea"/>
                <a:cs typeface="+mn-cs"/>
              </a:rPr>
              <a:t>5. We try ways to make predictions, like Logistic Regression, Decision Tree, Random Forest and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6. Finally we see how good our predictions are by looking at how we are right how precise we are, how well we find all the right answers how good our predictions are overall and how well we can tell the difference between yes and no using things, like accuracy, precision, recall, F1-score and ROC-AUC to evaluate the loan records predictions.</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5</a:t>
            </a:fld>
            <a:endParaRPr lang="en-US"/>
          </a:p>
        </p:txBody>
      </p:sp>
    </p:spTree>
    <p:extLst>
      <p:ext uri="{BB962C8B-B14F-4D97-AF65-F5344CB8AC3E}">
        <p14:creationId xmlns:p14="http://schemas.microsoft.com/office/powerpoint/2010/main" val="33192683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slide is about the missing values in the dataset.</a:t>
            </a:r>
          </a:p>
          <a:p>
            <a:r>
              <a:rPr lang="en-US" sz="1200" b="0" i="0" kern="1200" dirty="0">
                <a:solidFill>
                  <a:schemeClr val="tx1"/>
                </a:solidFill>
                <a:effectLst/>
                <a:latin typeface="+mn-lt"/>
                <a:ea typeface="+mn-ea"/>
                <a:cs typeface="+mn-cs"/>
              </a:rPr>
              <a:t>1. The chart says that Credit History has the missing values, with 50 records missing. This really matters because Credit History is a part of predicting loan approval.</a:t>
            </a:r>
          </a:p>
          <a:p>
            <a:r>
              <a:rPr lang="en-US" sz="1200" b="0" i="0" kern="1200" dirty="0">
                <a:solidFill>
                  <a:schemeClr val="tx1"/>
                </a:solidFill>
                <a:effectLst/>
                <a:latin typeface="+mn-lt"/>
                <a:ea typeface="+mn-ea"/>
                <a:cs typeface="+mn-cs"/>
              </a:rPr>
              <a:t>2. Credit History is very important. It has a lot of missing values. </a:t>
            </a:r>
            <a:r>
              <a:rPr lang="en-US" sz="1200" b="0" i="0" kern="1200" dirty="0" err="1">
                <a:solidFill>
                  <a:schemeClr val="tx1"/>
                </a:solidFill>
                <a:effectLst/>
                <a:latin typeface="+mn-lt"/>
                <a:ea typeface="+mn-ea"/>
                <a:cs typeface="+mn-cs"/>
              </a:rPr>
              <a:t>Self_Employed</a:t>
            </a:r>
            <a:r>
              <a:rPr lang="en-US" sz="1200" b="0" i="0" kern="1200" dirty="0">
                <a:solidFill>
                  <a:schemeClr val="tx1"/>
                </a:solidFill>
                <a:effectLst/>
                <a:latin typeface="+mn-lt"/>
                <a:ea typeface="+mn-ea"/>
                <a:cs typeface="+mn-cs"/>
              </a:rPr>
              <a:t> also has a lot of missing values with 32 records missing.</a:t>
            </a:r>
          </a:p>
          <a:p>
            <a:r>
              <a:rPr lang="en-US" sz="1200" b="0" i="0" kern="1200" dirty="0">
                <a:solidFill>
                  <a:schemeClr val="tx1"/>
                </a:solidFill>
                <a:effectLst/>
                <a:latin typeface="+mn-lt"/>
                <a:ea typeface="+mn-ea"/>
                <a:cs typeface="+mn-cs"/>
              </a:rPr>
              <a:t>3. </a:t>
            </a:r>
            <a:r>
              <a:rPr lang="en-US" sz="1200" b="0" i="0" kern="1200" dirty="0" err="1">
                <a:solidFill>
                  <a:schemeClr val="tx1"/>
                </a:solidFill>
                <a:effectLst/>
                <a:latin typeface="+mn-lt"/>
                <a:ea typeface="+mn-ea"/>
                <a:cs typeface="+mn-cs"/>
              </a:rPr>
              <a:t>LoanAmount</a:t>
            </a:r>
            <a:r>
              <a:rPr lang="en-US" sz="1200" b="0" i="0" kern="1200" dirty="0">
                <a:solidFill>
                  <a:schemeClr val="tx1"/>
                </a:solidFill>
                <a:effectLst/>
                <a:latin typeface="+mn-lt"/>
                <a:ea typeface="+mn-ea"/>
                <a:cs typeface="+mn-cs"/>
              </a:rPr>
              <a:t> is missing 22 values and Dependents and Loan Amount Term and Gender are missing a values.</a:t>
            </a:r>
          </a:p>
          <a:p>
            <a:r>
              <a:rPr lang="en-US" sz="1200" b="0" i="0" kern="1200" dirty="0">
                <a:solidFill>
                  <a:schemeClr val="tx1"/>
                </a:solidFill>
                <a:effectLst/>
                <a:latin typeface="+mn-lt"/>
                <a:ea typeface="+mn-ea"/>
                <a:cs typeface="+mn-cs"/>
              </a:rPr>
              <a:t>4. Some parts of the dataset like Education and </a:t>
            </a:r>
            <a:r>
              <a:rPr lang="en-US" sz="1200" b="0" i="0" kern="1200" dirty="0" err="1">
                <a:solidFill>
                  <a:schemeClr val="tx1"/>
                </a:solidFill>
                <a:effectLst/>
                <a:latin typeface="+mn-lt"/>
                <a:ea typeface="+mn-ea"/>
                <a:cs typeface="+mn-cs"/>
              </a:rPr>
              <a:t>ApplicantIncome</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CoapplicantIncome</a:t>
            </a:r>
            <a:r>
              <a:rPr lang="en-US" sz="1200" b="0" i="0" kern="1200" dirty="0">
                <a:solidFill>
                  <a:schemeClr val="tx1"/>
                </a:solidFill>
                <a:effectLst/>
                <a:latin typeface="+mn-lt"/>
                <a:ea typeface="+mn-ea"/>
                <a:cs typeface="+mn-cs"/>
              </a:rPr>
              <a:t> and Property Area and Loan Status do not have any values.</a:t>
            </a:r>
          </a:p>
          <a:p>
            <a:r>
              <a:rPr lang="en-US" sz="1200" b="0" i="0" kern="1200" dirty="0">
                <a:solidFill>
                  <a:schemeClr val="tx1"/>
                </a:solidFill>
                <a:effectLst/>
                <a:latin typeface="+mn-lt"/>
                <a:ea typeface="+mn-ea"/>
                <a:cs typeface="+mn-cs"/>
              </a:rPr>
              <a:t>5. To get the data ready for modeling we fill in the missing values using methods like mode or median or special imputation techniques, for the Credit History and other parts of the dataset.</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6</a:t>
            </a:fld>
            <a:endParaRPr lang="en-US"/>
          </a:p>
        </p:txBody>
      </p:sp>
    </p:spTree>
    <p:extLst>
      <p:ext uri="{BB962C8B-B14F-4D97-AF65-F5344CB8AC3E}">
        <p14:creationId xmlns:p14="http://schemas.microsoft.com/office/powerpoint/2010/main" val="4224437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latin typeface="Century Gothic" panose="020B0502020202020204" pitchFamily="34" charset="0"/>
              </a:rPr>
              <a:t>This slide is about the loan approval distribution.</a:t>
            </a:r>
          </a:p>
          <a:p>
            <a:endParaRPr lang="en-US" b="0" i="0" dirty="0">
              <a:latin typeface="Century Gothic" panose="020B0502020202020204" pitchFamily="34" charset="0"/>
            </a:endParaRPr>
          </a:p>
          <a:p>
            <a:r>
              <a:rPr lang="en-US" b="0" i="0" dirty="0">
                <a:latin typeface="Century Gothic" panose="020B0502020202020204" pitchFamily="34" charset="0"/>
              </a:rPr>
              <a:t>It tells us how many loans were approved and how many were rejected.</a:t>
            </a:r>
          </a:p>
          <a:p>
            <a:endParaRPr lang="en-US" b="0" i="0" dirty="0">
              <a:latin typeface="Century Gothic" panose="020B0502020202020204" pitchFamily="34" charset="0"/>
            </a:endParaRPr>
          </a:p>
          <a:p>
            <a:r>
              <a:rPr lang="en-US" b="0" i="0" dirty="0">
                <a:latin typeface="Century Gothic" panose="020B0502020202020204" pitchFamily="34" charset="0"/>
              </a:rPr>
              <a:t>There are 422 loans that were approved this is 71 percent of all the loans we have.</a:t>
            </a:r>
          </a:p>
          <a:p>
            <a:endParaRPr lang="en-US" b="0" i="0" dirty="0">
              <a:latin typeface="Century Gothic" panose="020B0502020202020204" pitchFamily="34" charset="0"/>
            </a:endParaRPr>
          </a:p>
          <a:p>
            <a:r>
              <a:rPr lang="en-US" b="0" i="0" dirty="0">
                <a:latin typeface="Century Gothic" panose="020B0502020202020204" pitchFamily="34" charset="0"/>
              </a:rPr>
              <a:t>On the hand there are 176 loans that were rejected this is 29 percent of all the loans we have.</a:t>
            </a:r>
          </a:p>
          <a:p>
            <a:endParaRPr lang="en-US" b="0" i="0" dirty="0">
              <a:latin typeface="Century Gothic" panose="020B0502020202020204" pitchFamily="34" charset="0"/>
            </a:endParaRPr>
          </a:p>
          <a:p>
            <a:r>
              <a:rPr lang="en-US" b="0" i="0" dirty="0">
                <a:latin typeface="Century Gothic" panose="020B0502020202020204" pitchFamily="34" charset="0"/>
              </a:rPr>
              <a:t>Loan approvals are more common than loan rejections.</a:t>
            </a:r>
          </a:p>
          <a:p>
            <a:endParaRPr lang="en-US" b="0" i="0" dirty="0">
              <a:latin typeface="Century Gothic" panose="020B0502020202020204" pitchFamily="34" charset="0"/>
            </a:endParaRPr>
          </a:p>
          <a:p>
            <a:r>
              <a:rPr lang="en-US" b="0" i="0" dirty="0">
                <a:latin typeface="Century Gothic" panose="020B0502020202020204" pitchFamily="34" charset="0"/>
              </a:rPr>
              <a:t>When we know this information about loan approvals and loan rejections it helps us understand the loan data before we build the prediction model, for loan approvals and loan rejections.</a:t>
            </a:r>
          </a:p>
        </p:txBody>
      </p:sp>
      <p:sp>
        <p:nvSpPr>
          <p:cNvPr id="4" name="Slide Number Placeholder 3"/>
          <p:cNvSpPr>
            <a:spLocks noGrp="1"/>
          </p:cNvSpPr>
          <p:nvPr>
            <p:ph type="sldNum" sz="quarter" idx="5"/>
          </p:nvPr>
        </p:nvSpPr>
        <p:spPr/>
        <p:txBody>
          <a:bodyPr/>
          <a:lstStyle/>
          <a:p>
            <a:fld id="{BCEA5B61-80C3-B440-A8F3-891094A90805}" type="slidenum">
              <a:rPr lang="en-US" smtClean="0"/>
              <a:t>7</a:t>
            </a:fld>
            <a:endParaRPr lang="en-US"/>
          </a:p>
        </p:txBody>
      </p:sp>
    </p:spTree>
    <p:extLst>
      <p:ext uri="{BB962C8B-B14F-4D97-AF65-F5344CB8AC3E}">
        <p14:creationId xmlns:p14="http://schemas.microsoft.com/office/powerpoint/2010/main" val="20507743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latin typeface="Century Gothic" panose="020B0502020202020204" pitchFamily="34" charset="0"/>
              </a:rPr>
              <a:t>This slide shows us how many loans get approved for kinds of people.</a:t>
            </a:r>
          </a:p>
          <a:p>
            <a:endParaRPr lang="en-US" b="0" i="0" dirty="0">
              <a:latin typeface="Century Gothic" panose="020B0502020202020204" pitchFamily="34" charset="0"/>
            </a:endParaRPr>
          </a:p>
          <a:p>
            <a:r>
              <a:rPr lang="en-US" b="0" i="0" dirty="0">
                <a:latin typeface="Century Gothic" panose="020B0502020202020204" pitchFamily="34" charset="0"/>
              </a:rPr>
              <a:t>The chart looks at how loans are approved for different groups like men and women married or single people, how much education someone has what kind of job they have and where they live.</a:t>
            </a:r>
          </a:p>
          <a:p>
            <a:endParaRPr lang="en-US" b="0" i="0" dirty="0">
              <a:latin typeface="Century Gothic" panose="020B0502020202020204" pitchFamily="34" charset="0"/>
            </a:endParaRPr>
          </a:p>
          <a:p>
            <a:r>
              <a:rPr lang="en-US" b="0" i="0" dirty="0">
                <a:latin typeface="Century Gothic" panose="020B0502020202020204" pitchFamily="34" charset="0"/>
              </a:rPr>
              <a:t>Men who apply for loans get approved a little often than women who apply.</a:t>
            </a:r>
          </a:p>
          <a:p>
            <a:endParaRPr lang="en-US" b="0" i="0" dirty="0">
              <a:latin typeface="Century Gothic" panose="020B0502020202020204" pitchFamily="34" charset="0"/>
            </a:endParaRPr>
          </a:p>
          <a:p>
            <a:r>
              <a:rPr lang="en-US" b="0" i="0" dirty="0">
                <a:latin typeface="Century Gothic" panose="020B0502020202020204" pitchFamily="34" charset="0"/>
              </a:rPr>
              <a:t>Looking at this information helps us figure out which groups of people are more or less likely to get a loan approved.</a:t>
            </a:r>
          </a:p>
          <a:p>
            <a:endParaRPr lang="en-US" b="0" i="0" dirty="0">
              <a:latin typeface="Century Gothic" panose="020B0502020202020204" pitchFamily="34" charset="0"/>
            </a:endParaRPr>
          </a:p>
          <a:p>
            <a:r>
              <a:rPr lang="en-US" b="0" i="0" dirty="0">
                <a:latin typeface="Century Gothic" panose="020B0502020202020204" pitchFamily="34" charset="0"/>
              </a:rPr>
              <a:t>This information is really useful for understanding what our customers are like and for making our predictions, about loans better.</a:t>
            </a:r>
          </a:p>
        </p:txBody>
      </p:sp>
      <p:sp>
        <p:nvSpPr>
          <p:cNvPr id="4" name="Slide Number Placeholder 3"/>
          <p:cNvSpPr>
            <a:spLocks noGrp="1"/>
          </p:cNvSpPr>
          <p:nvPr>
            <p:ph type="sldNum" sz="quarter" idx="5"/>
          </p:nvPr>
        </p:nvSpPr>
        <p:spPr/>
        <p:txBody>
          <a:bodyPr/>
          <a:lstStyle/>
          <a:p>
            <a:fld id="{BCEA5B61-80C3-B440-A8F3-891094A90805}" type="slidenum">
              <a:rPr lang="en-US" smtClean="0"/>
              <a:t>8</a:t>
            </a:fld>
            <a:endParaRPr lang="en-US"/>
          </a:p>
        </p:txBody>
      </p:sp>
    </p:spTree>
    <p:extLst>
      <p:ext uri="{BB962C8B-B14F-4D97-AF65-F5344CB8AC3E}">
        <p14:creationId xmlns:p14="http://schemas.microsoft.com/office/powerpoint/2010/main" val="21459577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latin typeface="Century Gothic" panose="020B0502020202020204" pitchFamily="34" charset="0"/>
              </a:rPr>
              <a:t>This slide is about loan approval rates for groups of people.</a:t>
            </a:r>
          </a:p>
          <a:p>
            <a:endParaRPr lang="en-US" b="0" i="0" dirty="0">
              <a:latin typeface="Century Gothic" panose="020B0502020202020204" pitchFamily="34" charset="0"/>
            </a:endParaRPr>
          </a:p>
          <a:p>
            <a:r>
              <a:rPr lang="en-US" b="0" i="0" dirty="0">
                <a:latin typeface="Century Gothic" panose="020B0502020202020204" pitchFamily="34" charset="0"/>
              </a:rPr>
              <a:t>Loan approval rates are a little higher for applicants than for female applicants.</a:t>
            </a:r>
          </a:p>
          <a:p>
            <a:endParaRPr lang="en-US" b="0" i="0" dirty="0">
              <a:latin typeface="Century Gothic" panose="020B0502020202020204" pitchFamily="34" charset="0"/>
            </a:endParaRPr>
          </a:p>
          <a:p>
            <a:r>
              <a:rPr lang="en-US" b="0" i="0" dirty="0">
                <a:latin typeface="Century Gothic" panose="020B0502020202020204" pitchFamily="34" charset="0"/>
              </a:rPr>
              <a:t>When we look at loan approval rates for people and single people we see that married people get approved more often.</a:t>
            </a:r>
          </a:p>
          <a:p>
            <a:endParaRPr lang="en-US" b="0" i="0" dirty="0">
              <a:latin typeface="Century Gothic" panose="020B0502020202020204" pitchFamily="34" charset="0"/>
            </a:endParaRPr>
          </a:p>
          <a:p>
            <a:r>
              <a:rPr lang="en-US" b="0" i="0" dirty="0">
                <a:latin typeface="Century Gothic" panose="020B0502020202020204" pitchFamily="34" charset="0"/>
              </a:rPr>
              <a:t>People who finished college have a chance of getting a loan than people who did not finish college.</a:t>
            </a:r>
          </a:p>
          <a:p>
            <a:endParaRPr lang="en-US" b="0" i="0" dirty="0">
              <a:latin typeface="Century Gothic" panose="020B0502020202020204" pitchFamily="34" charset="0"/>
            </a:endParaRPr>
          </a:p>
          <a:p>
            <a:r>
              <a:rPr lang="en-US" b="0" i="0" dirty="0">
                <a:latin typeface="Century Gothic" panose="020B0502020202020204" pitchFamily="34" charset="0"/>
              </a:rPr>
              <a:t>If we look at where people live we see that people who live in areas get approved the most.</a:t>
            </a:r>
          </a:p>
          <a:p>
            <a:endParaRPr lang="en-US" b="0" i="0" dirty="0">
              <a:latin typeface="Century Gothic" panose="020B0502020202020204" pitchFamily="34" charset="0"/>
            </a:endParaRPr>
          </a:p>
          <a:p>
            <a:r>
              <a:rPr lang="en-US" b="0" i="0" dirty="0">
                <a:latin typeface="Century Gothic" panose="020B0502020202020204" pitchFamily="34" charset="0"/>
              </a:rPr>
              <a:t>The thing that matters the most for loan approval is credit history.</a:t>
            </a:r>
          </a:p>
          <a:p>
            <a:endParaRPr lang="en-US" b="0" i="0" dirty="0">
              <a:latin typeface="Century Gothic" panose="020B0502020202020204" pitchFamily="34" charset="0"/>
            </a:endParaRPr>
          </a:p>
          <a:p>
            <a:r>
              <a:rPr lang="en-US" b="0" i="0" dirty="0">
                <a:latin typeface="Century Gothic" panose="020B0502020202020204" pitchFamily="34" charset="0"/>
              </a:rPr>
              <a:t>If you have a credit history it is much easier to get a loan because a good credit history really helps with loan approval, for loan applicants.</a:t>
            </a:r>
          </a:p>
        </p:txBody>
      </p:sp>
      <p:sp>
        <p:nvSpPr>
          <p:cNvPr id="4" name="Slide Number Placeholder 3"/>
          <p:cNvSpPr>
            <a:spLocks noGrp="1"/>
          </p:cNvSpPr>
          <p:nvPr>
            <p:ph type="sldNum" sz="quarter" idx="5"/>
          </p:nvPr>
        </p:nvSpPr>
        <p:spPr/>
        <p:txBody>
          <a:bodyPr/>
          <a:lstStyle/>
          <a:p>
            <a:fld id="{BCEA5B61-80C3-B440-A8F3-891094A90805}" type="slidenum">
              <a:rPr lang="en-US" smtClean="0"/>
              <a:t>9</a:t>
            </a:fld>
            <a:endParaRPr lang="en-US"/>
          </a:p>
        </p:txBody>
      </p:sp>
    </p:spTree>
    <p:extLst>
      <p:ext uri="{BB962C8B-B14F-4D97-AF65-F5344CB8AC3E}">
        <p14:creationId xmlns:p14="http://schemas.microsoft.com/office/powerpoint/2010/main" val="8874705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that credit history is the strongest factor in loan approval.</a:t>
            </a:r>
          </a:p>
          <a:p>
            <a:r>
              <a:rPr lang="en-US" dirty="0"/>
              <a:t>1. Applicants with good credit history have about an 80% approval rate.</a:t>
            </a:r>
          </a:p>
          <a:p>
            <a:r>
              <a:rPr lang="en-US" dirty="0"/>
              <a:t>2. Applicants with bad credit history have only about an 8% approval rate.</a:t>
            </a:r>
          </a:p>
          <a:p>
            <a:r>
              <a:rPr lang="en-US" dirty="0"/>
              <a:t>3. The second chart also shows that most approved loans come from applicants with good credit history.</a:t>
            </a:r>
          </a:p>
          <a:p>
            <a:r>
              <a:rPr lang="en-US" dirty="0"/>
              <a:t>4. This means credit history is the most important predictor in the loan approval model.</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10</a:t>
            </a:fld>
            <a:endParaRPr lang="en-US"/>
          </a:p>
        </p:txBody>
      </p:sp>
    </p:spTree>
    <p:extLst>
      <p:ext uri="{BB962C8B-B14F-4D97-AF65-F5344CB8AC3E}">
        <p14:creationId xmlns:p14="http://schemas.microsoft.com/office/powerpoint/2010/main" val="2066215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income, loan amount, and loan term patterns.</a:t>
            </a:r>
          </a:p>
          <a:p>
            <a:r>
              <a:rPr lang="en-US" dirty="0"/>
              <a:t>1. Approved applicants have slightly higher applicant income and total income than rejected applicants.</a:t>
            </a:r>
          </a:p>
          <a:p>
            <a:r>
              <a:rPr lang="en-US" dirty="0"/>
              <a:t>2. Rejected applicants have a slightly higher average loan amount.</a:t>
            </a:r>
          </a:p>
          <a:p>
            <a:r>
              <a:rPr lang="en-US" dirty="0"/>
              <a:t>3. Approved applicants also have slightly longer loan terms.</a:t>
            </a:r>
          </a:p>
          <a:p>
            <a:r>
              <a:rPr lang="en-US" dirty="0"/>
              <a:t>Overall, income and loan amount affect loan approval, but they are not the strongest factors in the model.</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11</a:t>
            </a:fld>
            <a:endParaRPr lang="en-US"/>
          </a:p>
        </p:txBody>
      </p:sp>
    </p:spTree>
    <p:extLst>
      <p:ext uri="{BB962C8B-B14F-4D97-AF65-F5344CB8AC3E}">
        <p14:creationId xmlns:p14="http://schemas.microsoft.com/office/powerpoint/2010/main" val="121160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correlation between features and loan approval.</a:t>
            </a:r>
          </a:p>
          <a:p>
            <a:r>
              <a:rPr lang="en-US" dirty="0"/>
              <a:t>1. Credit history has the strongest positive relationship with loan approval.</a:t>
            </a:r>
          </a:p>
          <a:p>
            <a:r>
              <a:rPr lang="en-US" dirty="0"/>
              <a:t>2. Total income and applicant income have a small positive effect.</a:t>
            </a:r>
          </a:p>
          <a:p>
            <a:r>
              <a:rPr lang="en-US" dirty="0"/>
              <a:t>3. Loan amount and dependents have a slight negative effect on approval.</a:t>
            </a:r>
          </a:p>
          <a:p>
            <a:r>
              <a:rPr lang="en-US" dirty="0"/>
              <a:t>Overall, credit history is the most important feature in predicting loan approval.</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12</a:t>
            </a:fld>
            <a:endParaRPr lang="en-US"/>
          </a:p>
        </p:txBody>
      </p:sp>
    </p:spTree>
    <p:extLst>
      <p:ext uri="{BB962C8B-B14F-4D97-AF65-F5344CB8AC3E}">
        <p14:creationId xmlns:p14="http://schemas.microsoft.com/office/powerpoint/2010/main" val="41708907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main findings of the project.</a:t>
            </a:r>
          </a:p>
          <a:p>
            <a:r>
              <a:rPr lang="en-US" dirty="0"/>
              <a:t>1. Credit history is the most important factor in loan approval.</a:t>
            </a:r>
          </a:p>
          <a:p>
            <a:r>
              <a:rPr lang="en-US" dirty="0"/>
              <a:t>2. Semiurban applicants have the highest approval rates.</a:t>
            </a:r>
          </a:p>
          <a:p>
            <a:r>
              <a:rPr lang="en-US" dirty="0"/>
              <a:t>3. The dataset has more approved loans than rejected loans.</a:t>
            </a:r>
          </a:p>
          <a:p>
            <a:r>
              <a:rPr lang="en-US" dirty="0"/>
              <a:t>4. Some columns have missing values and need data cleaning.</a:t>
            </a:r>
          </a:p>
          <a:p>
            <a:r>
              <a:rPr lang="en-US" dirty="0"/>
              <a:t>5. Income has only a small effect on loan approval.</a:t>
            </a:r>
          </a:p>
          <a:p>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13</a:t>
            </a:fld>
            <a:endParaRPr lang="en-US"/>
          </a:p>
        </p:txBody>
      </p:sp>
    </p:spTree>
    <p:extLst>
      <p:ext uri="{BB962C8B-B14F-4D97-AF65-F5344CB8AC3E}">
        <p14:creationId xmlns:p14="http://schemas.microsoft.com/office/powerpoint/2010/main" val="42482462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references include research papers</a:t>
            </a:r>
          </a:p>
        </p:txBody>
      </p:sp>
      <p:sp>
        <p:nvSpPr>
          <p:cNvPr id="4" name="Slide Number Placeholder 3"/>
          <p:cNvSpPr>
            <a:spLocks noGrp="1"/>
          </p:cNvSpPr>
          <p:nvPr>
            <p:ph type="sldNum" sz="quarter" idx="5"/>
          </p:nvPr>
        </p:nvSpPr>
        <p:spPr/>
        <p:txBody>
          <a:bodyPr/>
          <a:lstStyle/>
          <a:p>
            <a:fld id="{BCEA5B61-80C3-B440-A8F3-891094A90805}" type="slidenum">
              <a:rPr lang="en-US" smtClean="0"/>
              <a:t>14</a:t>
            </a:fld>
            <a:endParaRPr lang="en-US"/>
          </a:p>
        </p:txBody>
      </p:sp>
    </p:spTree>
    <p:extLst>
      <p:ext uri="{BB962C8B-B14F-4D97-AF65-F5344CB8AC3E}">
        <p14:creationId xmlns:p14="http://schemas.microsoft.com/office/powerpoint/2010/main" val="35439746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BCEA5B61-80C3-B440-A8F3-891094A90805}" type="slidenum">
              <a:rPr lang="en-US" smtClean="0"/>
              <a:t>15</a:t>
            </a:fld>
            <a:endParaRPr lang="en-US"/>
          </a:p>
        </p:txBody>
      </p:sp>
    </p:spTree>
    <p:extLst>
      <p:ext uri="{BB962C8B-B14F-4D97-AF65-F5344CB8AC3E}">
        <p14:creationId xmlns:p14="http://schemas.microsoft.com/office/powerpoint/2010/main" val="731014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4.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6.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7.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8.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9.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0.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4.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_rels/slideLayout16.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slideMaster" Target="../slideMasters/slideMaster1.xml"/><Relationship Id="rId1" Type="http://schemas.openxmlformats.org/officeDocument/2006/relationships/audio" Target="../media/audio1.wav"/></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62774CF-355E-664A-83A7-6E515976E4EF}"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CFD4BE-574A-D14F-8EA6-41E544A14C1B}"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39C5EF6-74A8-7F41-AE0C-D4F49985B047}"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CE6667D-2535-2A40-91A1-21C699D024F7}"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A418CC9-4844-4344-9CEB-21DC9B71E74E}" type="datetime1">
              <a:rPr lang="en-US" smtClean="0"/>
              <a:t>5/14/26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71957E0-4091-C247-B5C1-B9719208972D}" type="datetime1">
              <a:rPr lang="en-US" smtClean="0"/>
              <a:t>5/14/26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3BB0B2C-743F-564A-920B-06226665FF07}" type="datetime1">
              <a:rPr lang="en-US" smtClean="0"/>
              <a:t>5/14/26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2C1174F-99B4-744D-8271-D2ABE4C61E85}"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B15A3F3-B1E0-684C-9A56-1EF06001CCF5}"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08ECC-3142-2647-83D9-BC46F84D9017}"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6F029D-03DE-F943-9D1C-B57CE3456C32}"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dirty="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3FEDB3FE-4D4A-134A-BAB4-3DB2BE842C2C}"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BE3427A-C66A-A848-A742-147020146026}"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008A5A2A-E926-724B-AB77-945E09D7C778}" type="datetime1">
              <a:rPr lang="en-US" smtClean="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36A747F-6766-1947-9B6F-0E9D8F308429}"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77BDDB2-5836-0E4F-BE1D-843103DDDD26}" type="datetime1">
              <a:rPr lang="en-US" smtClean="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mc:AlternateContent xmlns:mc="http://schemas.openxmlformats.org/markup-compatibility/2006" xmlns:p14="http://schemas.microsoft.com/office/powerpoint/2010/main">
    <mc:Choice Requires="p14">
      <p:transition p14:dur="50" advClick="0" advTm="2000">
        <p:sndAc>
          <p:stSnd>
            <p:snd r:embed="rId1" name="arrow.wav"/>
          </p:stSnd>
        </p:sndAc>
      </p:transition>
    </mc:Choice>
    <mc:Fallback xmlns="">
      <p:transition advClick="0" advTm="2000">
        <p:sndAc>
          <p:stSnd>
            <p:snd r:embed="rId3" name="arrow.wav"/>
          </p:stSnd>
        </p:sndAc>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audio" Target="../media/audio1.wav"/><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audio" Target="../media/audio1.wav"/><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A8E8AD6-97B3-7C44-9B0E-05E3AA9D53BA}" type="datetime1">
              <a:rPr lang="en-US" smtClean="0"/>
              <a:t>5/14/26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2" r:id="rId12"/>
    <p:sldLayoutId id="2147483663" r:id="rId13"/>
    <p:sldLayoutId id="2147483664" r:id="rId14"/>
    <p:sldLayoutId id="2147483658" r:id="rId15"/>
    <p:sldLayoutId id="2147483659" r:id="rId16"/>
  </p:sldLayoutIdLst>
  <mc:AlternateContent xmlns:mc="http://schemas.openxmlformats.org/markup-compatibility/2006" xmlns:p14="http://schemas.microsoft.com/office/powerpoint/2010/main">
    <mc:Choice Requires="p14">
      <p:transition p14:dur="50" advClick="0" advTm="2000">
        <p:sndAc>
          <p:stSnd>
            <p:snd r:embed="rId18" name="arrow.wav"/>
          </p:stSnd>
        </p:sndAc>
      </p:transition>
    </mc:Choice>
    <mc:Fallback xmlns="">
      <p:transition advClick="0" advTm="2000">
        <p:sndAc>
          <p:stSnd>
            <p:snd r:embed="rId19" name="arrow.wav"/>
          </p:stSnd>
        </p:sndAc>
      </p:transition>
    </mc:Fallback>
  </mc:AlternateConten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audio" Target="../media/audio1.wav"/><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audio" Target="../media/audio1.wav"/></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audio" Target="../media/audio1.wav"/></Relationships>
</file>

<file path=ppt/slides/_rels/slide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3.svg"/></Relationships>
</file>

<file path=ppt/slides/_rels/slide6.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audio" Target="../media/audio1.wav"/><Relationship Id="rId5" Type="http://schemas.openxmlformats.org/officeDocument/2006/relationships/image" Target="../media/image4.png"/><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audio" Target="../media/audio1.wav"/><Relationship Id="rId5" Type="http://schemas.openxmlformats.org/officeDocument/2006/relationships/image" Target="../media/image5.png"/><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audio" Target="../media/audio1.wav"/><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audio" Target="../media/audio1.wav"/><Relationship Id="rId7" Type="http://schemas.openxmlformats.org/officeDocument/2006/relationships/diagramColors" Target="../diagrams/colors1.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audio" Target="../media/audio1.wav"/></Relationships>
</file>

<file path=ppt/slides/_rels/slide15.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audio" Target="../media/audio1.wav"/></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23DB63C-C78F-E422-81D0-FF438567129F}"/>
              </a:ext>
            </a:extLst>
          </p:cNvPr>
          <p:cNvSpPr txBox="1"/>
          <p:nvPr/>
        </p:nvSpPr>
        <p:spPr>
          <a:xfrm>
            <a:off x="1248957" y="435634"/>
            <a:ext cx="9264792" cy="3785652"/>
          </a:xfrm>
          <a:prstGeom prst="rect">
            <a:avLst/>
          </a:prstGeom>
          <a:noFill/>
        </p:spPr>
        <p:txBody>
          <a:bodyPr wrap="square">
            <a:spAutoFit/>
          </a:bodyPr>
          <a:lstStyle/>
          <a:p>
            <a:pPr marL="457200" algn="ctr">
              <a:lnSpc>
                <a:spcPct val="150000"/>
              </a:lnSpc>
            </a:pPr>
            <a:r>
              <a:rPr lang="en-US" sz="2400" b="1" dirty="0">
                <a:latin typeface="Arial" panose="020B0604020202020204" pitchFamily="34" charset="0"/>
                <a:ea typeface="Calibri" pitchFamily="34" charset="-122"/>
                <a:cs typeface="Arial" panose="020B0604020202020204" pitchFamily="34" charset="0"/>
              </a:rPr>
              <a:t>Loan Approval Prediction</a:t>
            </a:r>
            <a:endParaRPr lang="en-US" sz="2400" b="1" u="sng" dirty="0">
              <a:latin typeface="Arial" panose="020B0604020202020204" pitchFamily="34" charset="0"/>
              <a:cs typeface="Arial" panose="020B0604020202020204" pitchFamily="34" charset="0"/>
            </a:endParaRPr>
          </a:p>
          <a:p>
            <a:pPr marL="457200" algn="ctr">
              <a:lnSpc>
                <a:spcPct val="150000"/>
              </a:lnSpc>
            </a:pPr>
            <a:r>
              <a:rPr lang="en-US" sz="2400" b="1" dirty="0">
                <a:latin typeface="Arial" panose="020B0604020202020204" pitchFamily="34" charset="0"/>
                <a:cs typeface="Arial" panose="020B0604020202020204" pitchFamily="34" charset="0"/>
              </a:rPr>
              <a:t>Prakash Ghatani</a:t>
            </a:r>
          </a:p>
          <a:p>
            <a:pPr marL="457200" algn="ctr">
              <a:lnSpc>
                <a:spcPct val="150000"/>
              </a:lnSpc>
            </a:pPr>
            <a:r>
              <a:rPr lang="en-US" sz="2400" b="1" dirty="0">
                <a:latin typeface="Arial" panose="020B0604020202020204" pitchFamily="34" charset="0"/>
                <a:cs typeface="Arial" panose="020B0604020202020204" pitchFamily="34" charset="0"/>
              </a:rPr>
              <a:t>Regis University</a:t>
            </a:r>
          </a:p>
          <a:p>
            <a:pPr marL="457200" algn="ctr">
              <a:lnSpc>
                <a:spcPct val="150000"/>
              </a:lnSpc>
            </a:pPr>
            <a:r>
              <a:rPr lang="en-US" sz="2400" b="1" dirty="0">
                <a:latin typeface="Arial" panose="020B0604020202020204" pitchFamily="34" charset="0"/>
                <a:cs typeface="Arial" panose="020B0604020202020204" pitchFamily="34" charset="0"/>
              </a:rPr>
              <a:t>MSDS692_S40_Data Science Practicum</a:t>
            </a:r>
          </a:p>
          <a:p>
            <a:pPr marL="457200" algn="ctr">
              <a:lnSpc>
                <a:spcPct val="150000"/>
              </a:lnSpc>
            </a:pPr>
            <a:r>
              <a:rPr lang="en-US" sz="2400" b="1" dirty="0">
                <a:latin typeface="Arial" panose="020B0604020202020204" pitchFamily="34" charset="0"/>
                <a:cs typeface="Arial" panose="020B0604020202020204" pitchFamily="34" charset="0"/>
              </a:rPr>
              <a:t>May 14, 2026</a:t>
            </a:r>
          </a:p>
          <a:p>
            <a:pPr marL="457200" algn="ctr">
              <a:lnSpc>
                <a:spcPct val="150000"/>
              </a:lnSpc>
            </a:pPr>
            <a:r>
              <a:rPr lang="en-US" sz="2400" b="1" dirty="0" err="1">
                <a:latin typeface="Arial" panose="020B0604020202020204" pitchFamily="34" charset="0"/>
                <a:cs typeface="Arial" panose="020B0604020202020204" pitchFamily="34" charset="0"/>
              </a:rPr>
              <a:t>pghatani@regis.edu</a:t>
            </a:r>
            <a:endParaRPr lang="en-US" sz="2400" b="1" dirty="0">
              <a:latin typeface="Arial" panose="020B0604020202020204" pitchFamily="34" charset="0"/>
              <a:cs typeface="Arial" panose="020B0604020202020204" pitchFamily="34" charset="0"/>
            </a:endParaRPr>
          </a:p>
          <a:p>
            <a:pPr algn="ctr"/>
            <a:endParaRPr lang="en-US" sz="24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84B8E1EB-1F88-BC35-93D4-1AC4DBD049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905" y="3973669"/>
            <a:ext cx="7134896" cy="2357913"/>
          </a:xfrm>
          <a:prstGeom prst="rect">
            <a:avLst/>
          </a:prstGeom>
        </p:spPr>
      </p:pic>
      <p:sp>
        <p:nvSpPr>
          <p:cNvPr id="2" name="Slide Number Placeholder 1">
            <a:extLst>
              <a:ext uri="{FF2B5EF4-FFF2-40B4-BE49-F238E27FC236}">
                <a16:creationId xmlns:a16="http://schemas.microsoft.com/office/drawing/2014/main" id="{E69A8329-9943-74FB-9BF4-AEC8A694EB5C}"/>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5" name="Rectangle 2">
            <a:extLst>
              <a:ext uri="{FF2B5EF4-FFF2-40B4-BE49-F238E27FC236}">
                <a16:creationId xmlns:a16="http://schemas.microsoft.com/office/drawing/2014/main" id="{C2CAE098-B971-05C6-1BD3-0013D67D783D}"/>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Rectangle 4">
            <a:extLst>
              <a:ext uri="{FF2B5EF4-FFF2-40B4-BE49-F238E27FC236}">
                <a16:creationId xmlns:a16="http://schemas.microsoft.com/office/drawing/2014/main" id="{39AECABE-E4C1-FC78-2B63-280A82C02A00}"/>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06910246"/>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12210-50E9-B1ED-0BD5-DC8046BB4967}"/>
              </a:ext>
            </a:extLst>
          </p:cNvPr>
          <p:cNvSpPr>
            <a:spLocks noGrp="1"/>
          </p:cNvSpPr>
          <p:nvPr>
            <p:ph type="title"/>
          </p:nvPr>
        </p:nvSpPr>
        <p:spPr/>
        <p:txBody>
          <a:bodyPr/>
          <a:lstStyle/>
          <a:p>
            <a:r>
              <a:rPr lang="en-US" b="1" dirty="0">
                <a:solidFill>
                  <a:schemeClr val="tx1"/>
                </a:solidFill>
                <a:latin typeface="Calibri" pitchFamily="34" charset="0"/>
                <a:ea typeface="Calibri" pitchFamily="34" charset="-122"/>
                <a:cs typeface="Calibri" pitchFamily="34" charset="-120"/>
              </a:rPr>
              <a:t>Notebook Structure &amp; Analysis Sections</a:t>
            </a:r>
            <a:br>
              <a:rPr lang="en-US" dirty="0">
                <a:solidFill>
                  <a:schemeClr val="tx1"/>
                </a:solidFill>
              </a:rPr>
            </a:br>
            <a:endParaRPr lang="en-US" dirty="0">
              <a:solidFill>
                <a:schemeClr val="tx1"/>
              </a:solidFill>
            </a:endParaRPr>
          </a:p>
        </p:txBody>
      </p:sp>
      <p:sp>
        <p:nvSpPr>
          <p:cNvPr id="3" name="Content Placeholder 2">
            <a:extLst>
              <a:ext uri="{FF2B5EF4-FFF2-40B4-BE49-F238E27FC236}">
                <a16:creationId xmlns:a16="http://schemas.microsoft.com/office/drawing/2014/main" id="{62F612E8-7FF6-44A6-410D-701349368FDD}"/>
              </a:ext>
            </a:extLst>
          </p:cNvPr>
          <p:cNvSpPr>
            <a:spLocks noGrp="1"/>
          </p:cNvSpPr>
          <p:nvPr>
            <p:ph idx="1"/>
          </p:nvPr>
        </p:nvSpPr>
        <p:spPr>
          <a:xfrm>
            <a:off x="1122947" y="1540189"/>
            <a:ext cx="10250906" cy="3777622"/>
          </a:xfrm>
        </p:spPr>
        <p:txBody>
          <a:bodyPr>
            <a:normAutofit/>
          </a:bodyPr>
          <a:lstStyle/>
          <a:p>
            <a:r>
              <a:rPr lang="en-US" b="1" dirty="0">
                <a:solidFill>
                  <a:srgbClr val="12274F"/>
                </a:solidFill>
                <a:latin typeface="Calibri" pitchFamily="34" charset="0"/>
                <a:ea typeface="Calibri" pitchFamily="34" charset="-122"/>
                <a:cs typeface="Calibri" pitchFamily="34" charset="-120"/>
              </a:rPr>
              <a:t>Basic Overview : </a:t>
            </a:r>
            <a:r>
              <a:rPr lang="en-US" dirty="0"/>
              <a:t>Check the data size, data types, missing values, loan approval counts, and data distributions like gender, education, and property area.</a:t>
            </a:r>
          </a:p>
          <a:p>
            <a:r>
              <a:rPr lang="en-US" b="1" dirty="0">
                <a:solidFill>
                  <a:srgbClr val="12274F"/>
                </a:solidFill>
                <a:latin typeface="Calibri" pitchFamily="34" charset="0"/>
                <a:ea typeface="Calibri" pitchFamily="34" charset="-122"/>
                <a:cs typeface="Calibri" pitchFamily="34" charset="-120"/>
              </a:rPr>
              <a:t>Approval Rate by Category : </a:t>
            </a:r>
            <a:r>
              <a:rPr lang="en-US" dirty="0"/>
              <a:t>Compare loan approval rates by gender, married status, education, self-employment, property area, credit history, and dependents.</a:t>
            </a:r>
            <a:endParaRPr lang="en-US" dirty="0">
              <a:latin typeface="Calibri" panose="020F0502020204030204" pitchFamily="34" charset="0"/>
              <a:cs typeface="Calibri" panose="020F0502020204030204" pitchFamily="34" charset="0"/>
            </a:endParaRPr>
          </a:p>
          <a:p>
            <a:r>
              <a:rPr lang="en-US" b="1" dirty="0">
                <a:solidFill>
                  <a:srgbClr val="12274F"/>
                </a:solidFill>
                <a:latin typeface="Calibri" pitchFamily="34" charset="0"/>
                <a:ea typeface="Calibri" pitchFamily="34" charset="-122"/>
                <a:cs typeface="Calibri" pitchFamily="34" charset="-120"/>
              </a:rPr>
              <a:t>Credit History Deep Dive : </a:t>
            </a:r>
            <a:r>
              <a:rPr lang="en-US" dirty="0"/>
              <a:t>Study how credit history affects loan approval. Credit history is an important factor in this project.</a:t>
            </a:r>
          </a:p>
          <a:p>
            <a:r>
              <a:rPr lang="en-US" b="1" dirty="0">
                <a:solidFill>
                  <a:srgbClr val="12274F"/>
                </a:solidFill>
                <a:latin typeface="Calibri" pitchFamily="34" charset="0"/>
                <a:ea typeface="Calibri" pitchFamily="34" charset="-122"/>
                <a:cs typeface="Calibri" pitchFamily="34" charset="-120"/>
              </a:rPr>
              <a:t>Income, Loan &amp; Term Patterns : </a:t>
            </a:r>
            <a:r>
              <a:rPr lang="en-US" dirty="0"/>
              <a:t>Analyze applicant income, co applicant income, total income, loan amount, and loan term.</a:t>
            </a:r>
          </a:p>
          <a:p>
            <a:r>
              <a:rPr lang="en-US" b="1" dirty="0">
                <a:solidFill>
                  <a:srgbClr val="12274F"/>
                </a:solidFill>
                <a:latin typeface="Calibri" pitchFamily="34" charset="0"/>
                <a:ea typeface="Calibri" pitchFamily="34" charset="-122"/>
                <a:cs typeface="Calibri" pitchFamily="34" charset="-120"/>
              </a:rPr>
              <a:t>Feature Correlations : </a:t>
            </a:r>
            <a:r>
              <a:rPr lang="en-US" dirty="0"/>
              <a:t>Check which features have the strongest relationship with loan approval. </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130102B9-CFF8-94DC-C25F-37392A7785A0}"/>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667843170"/>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4" name="arrow.wav"/>
          </p:stSnd>
        </p:sndAc>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7E42047-F7E7-4687-BBE0-D4BDC8E77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20" y="-1"/>
            <a:ext cx="1220724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8D6F839A-C8D9-4FBC-8EFD-9E56D12F4C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906785" y="228600"/>
            <a:ext cx="2851523" cy="6638625"/>
            <a:chOff x="2487613" y="285750"/>
            <a:chExt cx="2428875" cy="5654676"/>
          </a:xfrm>
        </p:grpSpPr>
        <p:sp>
          <p:nvSpPr>
            <p:cNvPr id="13" name="Freeform 11">
              <a:extLst>
                <a:ext uri="{FF2B5EF4-FFF2-40B4-BE49-F238E27FC236}">
                  <a16:creationId xmlns:a16="http://schemas.microsoft.com/office/drawing/2014/main" id="{D1F0D09B-BA85-41B1-A8DE-73728B72E5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4" name="Freeform 12">
              <a:extLst>
                <a:ext uri="{FF2B5EF4-FFF2-40B4-BE49-F238E27FC236}">
                  <a16:creationId xmlns:a16="http://schemas.microsoft.com/office/drawing/2014/main" id="{FB2D0F0C-3A27-4FC3-A6A3-D2095D9B24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5" name="Freeform 13">
              <a:extLst>
                <a:ext uri="{FF2B5EF4-FFF2-40B4-BE49-F238E27FC236}">
                  <a16:creationId xmlns:a16="http://schemas.microsoft.com/office/drawing/2014/main" id="{FA1C69EF-E6E6-4BDD-B62F-637FC9F3C3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6" name="Freeform 14">
              <a:extLst>
                <a:ext uri="{FF2B5EF4-FFF2-40B4-BE49-F238E27FC236}">
                  <a16:creationId xmlns:a16="http://schemas.microsoft.com/office/drawing/2014/main" id="{75B4F36E-07F6-4E6F-A9D9-A7F6D9585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7" name="Freeform 15">
              <a:extLst>
                <a:ext uri="{FF2B5EF4-FFF2-40B4-BE49-F238E27FC236}">
                  <a16:creationId xmlns:a16="http://schemas.microsoft.com/office/drawing/2014/main" id="{7D9136C7-12F1-4F21-A438-ED7668DDFA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8" name="Freeform 16">
              <a:extLst>
                <a:ext uri="{FF2B5EF4-FFF2-40B4-BE49-F238E27FC236}">
                  <a16:creationId xmlns:a16="http://schemas.microsoft.com/office/drawing/2014/main" id="{C718EF12-B769-45D9-9B6E-7AEAA3108A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9" name="Freeform 17">
              <a:extLst>
                <a:ext uri="{FF2B5EF4-FFF2-40B4-BE49-F238E27FC236}">
                  <a16:creationId xmlns:a16="http://schemas.microsoft.com/office/drawing/2014/main" id="{534EAD53-3968-459E-B27C-09126A0FE3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20" name="Freeform 18">
              <a:extLst>
                <a:ext uri="{FF2B5EF4-FFF2-40B4-BE49-F238E27FC236}">
                  <a16:creationId xmlns:a16="http://schemas.microsoft.com/office/drawing/2014/main" id="{67658BFE-59E2-4A2D-9E8A-18F81C350B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21" name="Freeform 19">
              <a:extLst>
                <a:ext uri="{FF2B5EF4-FFF2-40B4-BE49-F238E27FC236}">
                  <a16:creationId xmlns:a16="http://schemas.microsoft.com/office/drawing/2014/main" id="{3FEC8A9E-385D-4407-9671-E302380229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22" name="Freeform 20">
              <a:extLst>
                <a:ext uri="{FF2B5EF4-FFF2-40B4-BE49-F238E27FC236}">
                  <a16:creationId xmlns:a16="http://schemas.microsoft.com/office/drawing/2014/main" id="{EFC82234-632C-4B76-A8FF-2C9C0DCA68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23" name="Freeform 21">
              <a:extLst>
                <a:ext uri="{FF2B5EF4-FFF2-40B4-BE49-F238E27FC236}">
                  <a16:creationId xmlns:a16="http://schemas.microsoft.com/office/drawing/2014/main" id="{662A4DB3-C195-4230-953D-307E4100FE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24" name="Freeform 22">
              <a:extLst>
                <a:ext uri="{FF2B5EF4-FFF2-40B4-BE49-F238E27FC236}">
                  <a16:creationId xmlns:a16="http://schemas.microsoft.com/office/drawing/2014/main" id="{94D310CF-9541-4CD7-855B-E2E1EF3437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26" name="Group 25">
            <a:extLst>
              <a:ext uri="{FF2B5EF4-FFF2-40B4-BE49-F238E27FC236}">
                <a16:creationId xmlns:a16="http://schemas.microsoft.com/office/drawing/2014/main" id="{70EDA856-A216-4EEC-9AB6-A59FFC70361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47733" y="-786"/>
            <a:ext cx="2356675" cy="6854040"/>
            <a:chOff x="6627813" y="194833"/>
            <a:chExt cx="1952625" cy="5678918"/>
          </a:xfrm>
        </p:grpSpPr>
        <p:sp>
          <p:nvSpPr>
            <p:cNvPr id="27" name="Freeform 27">
              <a:extLst>
                <a:ext uri="{FF2B5EF4-FFF2-40B4-BE49-F238E27FC236}">
                  <a16:creationId xmlns:a16="http://schemas.microsoft.com/office/drawing/2014/main" id="{36F815B8-AFA8-45E9-A3D1-977F2D1921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28" name="Freeform 28">
              <a:extLst>
                <a:ext uri="{FF2B5EF4-FFF2-40B4-BE49-F238E27FC236}">
                  <a16:creationId xmlns:a16="http://schemas.microsoft.com/office/drawing/2014/main" id="{5D8FF653-8B3F-4B96-904D-1A4482EAEE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29" name="Freeform 29">
              <a:extLst>
                <a:ext uri="{FF2B5EF4-FFF2-40B4-BE49-F238E27FC236}">
                  <a16:creationId xmlns:a16="http://schemas.microsoft.com/office/drawing/2014/main" id="{4DD2E775-AB45-4AF1-B5B7-54948CFB9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30" name="Freeform 30">
              <a:extLst>
                <a:ext uri="{FF2B5EF4-FFF2-40B4-BE49-F238E27FC236}">
                  <a16:creationId xmlns:a16="http://schemas.microsoft.com/office/drawing/2014/main" id="{7BDE7E7B-E3AA-4A24-8F9D-CE77C96CA2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31" name="Freeform 31">
              <a:extLst>
                <a:ext uri="{FF2B5EF4-FFF2-40B4-BE49-F238E27FC236}">
                  <a16:creationId xmlns:a16="http://schemas.microsoft.com/office/drawing/2014/main" id="{D129CAA9-35E5-48CE-88AE-9806695CB8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32" name="Freeform 32">
              <a:extLst>
                <a:ext uri="{FF2B5EF4-FFF2-40B4-BE49-F238E27FC236}">
                  <a16:creationId xmlns:a16="http://schemas.microsoft.com/office/drawing/2014/main" id="{A73989FF-4EFF-4181-81A4-72EF2E67DB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33" name="Freeform 33">
              <a:extLst>
                <a:ext uri="{FF2B5EF4-FFF2-40B4-BE49-F238E27FC236}">
                  <a16:creationId xmlns:a16="http://schemas.microsoft.com/office/drawing/2014/main" id="{8C2C17BD-8FA0-4F42-B2CD-5E5A9F542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34" name="Freeform 34">
              <a:extLst>
                <a:ext uri="{FF2B5EF4-FFF2-40B4-BE49-F238E27FC236}">
                  <a16:creationId xmlns:a16="http://schemas.microsoft.com/office/drawing/2014/main" id="{EEE99CF3-AD71-46FB-8E7D-67825F7816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35" name="Freeform 35">
              <a:extLst>
                <a:ext uri="{FF2B5EF4-FFF2-40B4-BE49-F238E27FC236}">
                  <a16:creationId xmlns:a16="http://schemas.microsoft.com/office/drawing/2014/main" id="{D0F9D5ED-7591-4E88-9FDA-4C1DC47E9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36" name="Freeform 36">
              <a:extLst>
                <a:ext uri="{FF2B5EF4-FFF2-40B4-BE49-F238E27FC236}">
                  <a16:creationId xmlns:a16="http://schemas.microsoft.com/office/drawing/2014/main" id="{88FA7C13-D80D-4514-B9DB-87AE076ACE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37" name="Freeform 37">
              <a:extLst>
                <a:ext uri="{FF2B5EF4-FFF2-40B4-BE49-F238E27FC236}">
                  <a16:creationId xmlns:a16="http://schemas.microsoft.com/office/drawing/2014/main" id="{202C78DF-D842-450B-A87D-E035719E4E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38" name="Freeform 38">
              <a:extLst>
                <a:ext uri="{FF2B5EF4-FFF2-40B4-BE49-F238E27FC236}">
                  <a16:creationId xmlns:a16="http://schemas.microsoft.com/office/drawing/2014/main" id="{A4789F83-2423-47F8-8958-48E477BAE0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2" name="Title 1">
            <a:extLst>
              <a:ext uri="{FF2B5EF4-FFF2-40B4-BE49-F238E27FC236}">
                <a16:creationId xmlns:a16="http://schemas.microsoft.com/office/drawing/2014/main" id="{6A53E69A-2CC3-100B-F488-AE22CA122E51}"/>
              </a:ext>
            </a:extLst>
          </p:cNvPr>
          <p:cNvSpPr>
            <a:spLocks noGrp="1"/>
          </p:cNvSpPr>
          <p:nvPr>
            <p:ph type="title"/>
          </p:nvPr>
        </p:nvSpPr>
        <p:spPr>
          <a:xfrm>
            <a:off x="4332036" y="354871"/>
            <a:ext cx="7547397" cy="2025907"/>
          </a:xfrm>
        </p:spPr>
        <p:txBody>
          <a:bodyPr>
            <a:normAutofit fontScale="90000"/>
          </a:bodyPr>
          <a:lstStyle/>
          <a:p>
            <a:r>
              <a:rPr lang="en-US" b="1" dirty="0">
                <a:solidFill>
                  <a:srgbClr val="0D1B4B"/>
                </a:solidFill>
                <a:latin typeface="Calibri" pitchFamily="34" charset="0"/>
                <a:ea typeface="Calibri" pitchFamily="34" charset="-122"/>
                <a:cs typeface="Calibri" pitchFamily="34" charset="-120"/>
              </a:rPr>
              <a:t>Research Questions</a:t>
            </a:r>
            <a:br>
              <a:rPr lang="en-US" b="1" dirty="0">
                <a:solidFill>
                  <a:srgbClr val="0D1B4B"/>
                </a:solidFill>
                <a:latin typeface="Calibri" pitchFamily="34" charset="0"/>
                <a:ea typeface="Calibri" pitchFamily="34" charset="-122"/>
                <a:cs typeface="Calibri" pitchFamily="34" charset="-120"/>
              </a:rPr>
            </a:br>
            <a:br>
              <a:rPr lang="en-US" b="1" dirty="0">
                <a:solidFill>
                  <a:srgbClr val="0D1B4B"/>
                </a:solidFill>
                <a:latin typeface="Calibri" pitchFamily="34" charset="0"/>
                <a:ea typeface="Calibri" pitchFamily="34" charset="-122"/>
                <a:cs typeface="Calibri" pitchFamily="34" charset="-120"/>
              </a:rPr>
            </a:br>
            <a:r>
              <a:rPr lang="en-US" sz="2200" b="1" dirty="0">
                <a:solidFill>
                  <a:schemeClr val="tx1"/>
                </a:solidFill>
                <a:latin typeface="Calibri" panose="020F0502020204030204" pitchFamily="34" charset="0"/>
                <a:cs typeface="Calibri" panose="020F0502020204030204" pitchFamily="34" charset="0"/>
              </a:rPr>
              <a:t>Core Question: Can we predict loan approval using applicant demographics and financial data?</a:t>
            </a:r>
            <a:br>
              <a:rPr lang="en-US" sz="2200" dirty="0">
                <a:solidFill>
                  <a:schemeClr val="tx1"/>
                </a:solidFill>
                <a:latin typeface="Calibri" panose="020F0502020204030204" pitchFamily="34" charset="0"/>
                <a:cs typeface="Calibri" panose="020F0502020204030204" pitchFamily="34" charset="0"/>
              </a:rPr>
            </a:br>
            <a:endParaRPr lang="en-US" sz="2200" dirty="0">
              <a:solidFill>
                <a:schemeClr val="tx1"/>
              </a:solidFill>
              <a:latin typeface="Calibri" panose="020F0502020204030204" pitchFamily="34" charset="0"/>
              <a:cs typeface="Calibri" panose="020F0502020204030204" pitchFamily="34" charset="0"/>
            </a:endParaRPr>
          </a:p>
        </p:txBody>
      </p:sp>
      <p:sp>
        <p:nvSpPr>
          <p:cNvPr id="40" name="Rectangle 39">
            <a:extLst>
              <a:ext uri="{FF2B5EF4-FFF2-40B4-BE49-F238E27FC236}">
                <a16:creationId xmlns:a16="http://schemas.microsoft.com/office/drawing/2014/main" id="{2C509E7A-337A-4664-BEC2-03F9BCA0A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1632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2" name="Freeform 11">
            <a:extLst>
              <a:ext uri="{FF2B5EF4-FFF2-40B4-BE49-F238E27FC236}">
                <a16:creationId xmlns:a16="http://schemas.microsoft.com/office/drawing/2014/main" id="{D9AB99AB-E300-4B19-97C3-9A12EA3C7B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V="1">
            <a:off x="2716320"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pic>
        <p:nvPicPr>
          <p:cNvPr id="7" name="Picture 6" descr="Computer script on a screen">
            <a:extLst>
              <a:ext uri="{FF2B5EF4-FFF2-40B4-BE49-F238E27FC236}">
                <a16:creationId xmlns:a16="http://schemas.microsoft.com/office/drawing/2014/main" id="{950DD2C7-9F14-DEEB-0CCC-0DED85A9817D}"/>
              </a:ext>
            </a:extLst>
          </p:cNvPr>
          <p:cNvPicPr>
            <a:picLocks noChangeAspect="1"/>
          </p:cNvPicPr>
          <p:nvPr/>
        </p:nvPicPr>
        <p:blipFill>
          <a:blip r:embed="rId4"/>
          <a:srcRect l="16874" r="56646" b="-2"/>
          <a:stretch>
            <a:fillRect/>
          </a:stretch>
        </p:blipFill>
        <p:spPr>
          <a:xfrm>
            <a:off x="20" y="1730"/>
            <a:ext cx="2720524" cy="6858000"/>
          </a:xfrm>
          <a:prstGeom prst="rect">
            <a:avLst/>
          </a:prstGeom>
        </p:spPr>
      </p:pic>
      <p:sp>
        <p:nvSpPr>
          <p:cNvPr id="4" name="Slide Number Placeholder 3">
            <a:extLst>
              <a:ext uri="{FF2B5EF4-FFF2-40B4-BE49-F238E27FC236}">
                <a16:creationId xmlns:a16="http://schemas.microsoft.com/office/drawing/2014/main" id="{6BF3E63F-D05F-2D84-E733-F21D53060D33}"/>
              </a:ext>
            </a:extLst>
          </p:cNvPr>
          <p:cNvSpPr>
            <a:spLocks noGrp="1"/>
          </p:cNvSpPr>
          <p:nvPr>
            <p:ph type="sldNum" sz="quarter" idx="12"/>
          </p:nvPr>
        </p:nvSpPr>
        <p:spPr>
          <a:xfrm>
            <a:off x="3252321" y="787782"/>
            <a:ext cx="779767" cy="365125"/>
          </a:xfrm>
        </p:spPr>
        <p:txBody>
          <a:bodyPr>
            <a:normAutofit/>
          </a:bodyPr>
          <a:lstStyle/>
          <a:p>
            <a:pPr>
              <a:lnSpc>
                <a:spcPct val="90000"/>
              </a:lnSpc>
              <a:spcAft>
                <a:spcPts val="600"/>
              </a:spcAft>
            </a:pPr>
            <a:fld id="{D57F1E4F-1CFF-5643-939E-217C01CDF565}" type="slidenum">
              <a:rPr lang="en-US" sz="1900" smtClean="0"/>
              <a:pPr>
                <a:lnSpc>
                  <a:spcPct val="90000"/>
                </a:lnSpc>
                <a:spcAft>
                  <a:spcPts val="600"/>
                </a:spcAft>
              </a:pPr>
              <a:t>3</a:t>
            </a:fld>
            <a:endParaRPr lang="en-US" sz="1900"/>
          </a:p>
        </p:txBody>
      </p:sp>
      <p:sp>
        <p:nvSpPr>
          <p:cNvPr id="3" name="Content Placeholder 2">
            <a:extLst>
              <a:ext uri="{FF2B5EF4-FFF2-40B4-BE49-F238E27FC236}">
                <a16:creationId xmlns:a16="http://schemas.microsoft.com/office/drawing/2014/main" id="{5D329FFB-441D-D22F-05D6-60334F7921F5}"/>
              </a:ext>
            </a:extLst>
          </p:cNvPr>
          <p:cNvSpPr>
            <a:spLocks noGrp="1"/>
          </p:cNvSpPr>
          <p:nvPr>
            <p:ph idx="1"/>
          </p:nvPr>
        </p:nvSpPr>
        <p:spPr>
          <a:xfrm>
            <a:off x="3476693" y="2620699"/>
            <a:ext cx="8430697" cy="4343755"/>
          </a:xfrm>
        </p:spPr>
        <p:txBody>
          <a:bodyPr>
            <a:normAutofit/>
          </a:bodyPr>
          <a:lstStyle/>
          <a:p>
            <a:pPr>
              <a:buFont typeface="Wingdings 3" charset="2"/>
              <a:buAutoNum type="arabicPeriod"/>
            </a:pPr>
            <a:r>
              <a:rPr lang="en-US" b="1" dirty="0">
                <a:solidFill>
                  <a:srgbClr val="0D1B4B"/>
                </a:solidFill>
              </a:rPr>
              <a:t>Which Applicant Factors are the best indicators of loan approval? </a:t>
            </a:r>
          </a:p>
          <a:p>
            <a:pPr marL="0" indent="0">
              <a:buNone/>
            </a:pPr>
            <a:r>
              <a:rPr lang="en-US" i="1" dirty="0">
                <a:solidFill>
                  <a:srgbClr val="028090"/>
                </a:solidFill>
              </a:rPr>
              <a:t>📊 Feature importance bar chart, correlation heatmap</a:t>
            </a:r>
            <a:endParaRPr lang="en-US" dirty="0"/>
          </a:p>
          <a:p>
            <a:pPr marL="0" indent="0">
              <a:buNone/>
            </a:pPr>
            <a:r>
              <a:rPr lang="en-US" dirty="0"/>
              <a:t>2. </a:t>
            </a:r>
            <a:r>
              <a:rPr lang="en-US" b="1" dirty="0"/>
              <a:t>Is credit history the most important factor in loan approval prediction?</a:t>
            </a:r>
          </a:p>
          <a:p>
            <a:pPr marL="0" indent="0">
              <a:buNone/>
            </a:pPr>
            <a:r>
              <a:rPr lang="en-US" i="1" dirty="0">
                <a:solidFill>
                  <a:srgbClr val="028090"/>
                </a:solidFill>
              </a:rPr>
              <a:t>📊 Credit history approval rate bar chart</a:t>
            </a:r>
            <a:endParaRPr lang="en-US" dirty="0"/>
          </a:p>
          <a:p>
            <a:pPr marL="0" indent="0">
              <a:buNone/>
            </a:pPr>
            <a:r>
              <a:rPr lang="en-US" dirty="0"/>
              <a:t>3. </a:t>
            </a:r>
            <a:r>
              <a:rPr lang="en-US" b="1" dirty="0"/>
              <a:t>Do income or loan amounts affect the chances of loan approval?</a:t>
            </a:r>
          </a:p>
          <a:p>
            <a:pPr marL="0" indent="0">
              <a:buNone/>
            </a:pPr>
            <a:r>
              <a:rPr lang="en-US" i="1" dirty="0">
                <a:solidFill>
                  <a:srgbClr val="028090"/>
                </a:solidFill>
              </a:rPr>
              <a:t>📊 Scatter plot, histogram of </a:t>
            </a:r>
            <a:r>
              <a:rPr lang="en-US" i="1" dirty="0" err="1">
                <a:solidFill>
                  <a:srgbClr val="028090"/>
                </a:solidFill>
              </a:rPr>
              <a:t>ApplicantIncome</a:t>
            </a:r>
            <a:r>
              <a:rPr lang="en-US" i="1" dirty="0">
                <a:solidFill>
                  <a:srgbClr val="028090"/>
                </a:solidFill>
              </a:rPr>
              <a:t> vs. </a:t>
            </a:r>
            <a:r>
              <a:rPr lang="en-US" i="1" dirty="0" err="1">
                <a:solidFill>
                  <a:srgbClr val="028090"/>
                </a:solidFill>
              </a:rPr>
              <a:t>LoanAmount</a:t>
            </a:r>
            <a:endParaRPr lang="en-US" i="1" dirty="0">
              <a:solidFill>
                <a:srgbClr val="028090"/>
              </a:solidFill>
            </a:endParaRPr>
          </a:p>
          <a:p>
            <a:pPr marL="0" indent="0">
              <a:buNone/>
            </a:pPr>
            <a:r>
              <a:rPr lang="en-US" dirty="0"/>
              <a:t>4. </a:t>
            </a:r>
            <a:r>
              <a:rPr lang="en-US" b="1" dirty="0"/>
              <a:t>Do gender and education affect loan approval decisions?</a:t>
            </a:r>
          </a:p>
          <a:p>
            <a:pPr marL="0" indent="0">
              <a:buNone/>
            </a:pPr>
            <a:r>
              <a:rPr lang="en-US" i="1" dirty="0">
                <a:solidFill>
                  <a:srgbClr val="028090"/>
                </a:solidFill>
              </a:rPr>
              <a:t>📊 Side-by-side approval rate charts per demographic group</a:t>
            </a: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1005021336"/>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2B1BC-33AA-A3A4-981B-9E8E1166F43C}"/>
              </a:ext>
            </a:extLst>
          </p:cNvPr>
          <p:cNvSpPr>
            <a:spLocks noGrp="1"/>
          </p:cNvSpPr>
          <p:nvPr>
            <p:ph type="title"/>
          </p:nvPr>
        </p:nvSpPr>
        <p:spPr>
          <a:xfrm>
            <a:off x="1604211" y="147337"/>
            <a:ext cx="9817767" cy="640445"/>
          </a:xfrm>
        </p:spPr>
        <p:txBody>
          <a:bodyPr>
            <a:normAutofit fontScale="90000"/>
          </a:bodyPr>
          <a:lstStyle/>
          <a:p>
            <a:r>
              <a:rPr lang="en-US" b="1" dirty="0">
                <a:solidFill>
                  <a:srgbClr val="0F1F5C"/>
                </a:solidFill>
                <a:latin typeface="Calibri" pitchFamily="34" charset="0"/>
                <a:ea typeface="Calibri" pitchFamily="34" charset="-122"/>
                <a:cs typeface="Calibri" pitchFamily="34" charset="-120"/>
              </a:rPr>
              <a:t>The Loan Approval Problem</a:t>
            </a:r>
            <a:br>
              <a:rPr lang="en-US" b="1" dirty="0">
                <a:solidFill>
                  <a:srgbClr val="0F1F5C"/>
                </a:solidFill>
                <a:latin typeface="Calibri" pitchFamily="34" charset="0"/>
                <a:ea typeface="Calibri" pitchFamily="34" charset="-122"/>
                <a:cs typeface="Calibri" pitchFamily="34" charset="-120"/>
              </a:rPr>
            </a:br>
            <a:r>
              <a:rPr lang="en-US" b="1" dirty="0">
                <a:solidFill>
                  <a:srgbClr val="0F1F5C"/>
                </a:solidFill>
                <a:latin typeface="Calibri" pitchFamily="34" charset="0"/>
                <a:ea typeface="Calibri" pitchFamily="34" charset="-122"/>
                <a:cs typeface="Calibri" pitchFamily="34" charset="-120"/>
              </a:rPr>
              <a:t>The Challenge</a:t>
            </a:r>
            <a:endParaRPr lang="en-US" dirty="0"/>
          </a:p>
        </p:txBody>
      </p:sp>
      <p:sp>
        <p:nvSpPr>
          <p:cNvPr id="3" name="Content Placeholder 2">
            <a:extLst>
              <a:ext uri="{FF2B5EF4-FFF2-40B4-BE49-F238E27FC236}">
                <a16:creationId xmlns:a16="http://schemas.microsoft.com/office/drawing/2014/main" id="{909C1BBA-E477-0095-DBBC-2E425DEB080A}"/>
              </a:ext>
            </a:extLst>
          </p:cNvPr>
          <p:cNvSpPr>
            <a:spLocks noGrp="1"/>
          </p:cNvSpPr>
          <p:nvPr>
            <p:ph idx="1"/>
          </p:nvPr>
        </p:nvSpPr>
        <p:spPr>
          <a:xfrm>
            <a:off x="921695" y="1428227"/>
            <a:ext cx="5174305" cy="3777622"/>
          </a:xfrm>
        </p:spPr>
        <p:txBody>
          <a:bodyPr>
            <a:normAutofit fontScale="92500" lnSpcReduction="20000"/>
          </a:bodyPr>
          <a:lstStyle/>
          <a:p>
            <a:pPr>
              <a:spcAft>
                <a:spcPts val="400"/>
              </a:spcAft>
              <a:buSzPct val="100000"/>
              <a:buChar char="•"/>
            </a:pPr>
            <a:r>
              <a:rPr lang="en-US" sz="1900" dirty="0">
                <a:solidFill>
                  <a:schemeClr val="tx1"/>
                </a:solidFill>
              </a:rPr>
              <a:t>Banks manually review thousands of applications monthly — slow, costly, and inconsistent</a:t>
            </a:r>
          </a:p>
          <a:p>
            <a:pPr>
              <a:spcAft>
                <a:spcPts val="400"/>
              </a:spcAft>
              <a:buSzPct val="100000"/>
              <a:buChar char="•"/>
            </a:pPr>
            <a:r>
              <a:rPr lang="en-US" sz="1900" dirty="0">
                <a:solidFill>
                  <a:schemeClr val="tx1"/>
                </a:solidFill>
              </a:rPr>
              <a:t>Human bias can disadvantage qualified applicants based on demographic factors</a:t>
            </a:r>
          </a:p>
          <a:p>
            <a:pPr>
              <a:spcAft>
                <a:spcPts val="400"/>
              </a:spcAft>
              <a:buSzPct val="100000"/>
              <a:buChar char="•"/>
            </a:pPr>
            <a:r>
              <a:rPr lang="en-US" sz="1900" dirty="0">
                <a:solidFill>
                  <a:schemeClr val="tx1"/>
                </a:solidFill>
              </a:rPr>
              <a:t>Rejecting creditworthy borrowers = lost revenue; approving risky ones = default losses</a:t>
            </a:r>
          </a:p>
          <a:p>
            <a:pPr>
              <a:spcAft>
                <a:spcPts val="400"/>
              </a:spcAft>
              <a:buSzPct val="100000"/>
              <a:buChar char="•"/>
            </a:pPr>
            <a:r>
              <a:rPr lang="en-US" sz="1900" dirty="0">
                <a:solidFill>
                  <a:schemeClr val="tx1"/>
                </a:solidFill>
              </a:rPr>
              <a:t>Regulatory pressure demands fair, explainable, and auditable decisions</a:t>
            </a:r>
          </a:p>
          <a:p>
            <a:pPr>
              <a:spcAft>
                <a:spcPts val="400"/>
              </a:spcAft>
              <a:buSzPct val="100000"/>
              <a:buChar char="•"/>
            </a:pPr>
            <a:r>
              <a:rPr lang="en-US" sz="1900" dirty="0">
                <a:solidFill>
                  <a:schemeClr val="tx1"/>
                </a:solidFill>
              </a:rPr>
              <a:t>Financial institutions need a faster, data-driven, and consistent scoring system</a:t>
            </a:r>
          </a:p>
          <a:p>
            <a:endParaRPr lang="en-US" b="1" dirty="0">
              <a:solidFill>
                <a:schemeClr val="tx1"/>
              </a:solidFill>
            </a:endParaRPr>
          </a:p>
        </p:txBody>
      </p:sp>
      <p:sp>
        <p:nvSpPr>
          <p:cNvPr id="4" name="Slide Number Placeholder 3">
            <a:extLst>
              <a:ext uri="{FF2B5EF4-FFF2-40B4-BE49-F238E27FC236}">
                <a16:creationId xmlns:a16="http://schemas.microsoft.com/office/drawing/2014/main" id="{A6085D1F-557D-4368-5B57-FF7C8D226B62}"/>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5" name="Content Placeholder 2">
            <a:extLst>
              <a:ext uri="{FF2B5EF4-FFF2-40B4-BE49-F238E27FC236}">
                <a16:creationId xmlns:a16="http://schemas.microsoft.com/office/drawing/2014/main" id="{8F7FAE39-6BAD-BF48-9631-F2A3EE996FDC}"/>
              </a:ext>
            </a:extLst>
          </p:cNvPr>
          <p:cNvSpPr txBox="1">
            <a:spLocks/>
          </p:cNvSpPr>
          <p:nvPr/>
        </p:nvSpPr>
        <p:spPr>
          <a:xfrm>
            <a:off x="6453070" y="1215431"/>
            <a:ext cx="5738930" cy="4020378"/>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b="1" dirty="0">
                <a:solidFill>
                  <a:srgbClr val="00A8B5"/>
                </a:solidFill>
              </a:rPr>
              <a:t>Predictive Model</a:t>
            </a:r>
            <a:endParaRPr lang="en-US" dirty="0"/>
          </a:p>
          <a:p>
            <a:r>
              <a:rPr lang="en-US" dirty="0">
                <a:solidFill>
                  <a:srgbClr val="A0BDD8"/>
                </a:solidFill>
              </a:rPr>
              <a:t>Train ML algorithms on 598 historical loan records to predict approval probability</a:t>
            </a:r>
          </a:p>
          <a:p>
            <a:pPr marL="0" indent="0">
              <a:buNone/>
            </a:pPr>
            <a:r>
              <a:rPr lang="en-US" b="1" dirty="0">
                <a:solidFill>
                  <a:srgbClr val="00A8B5"/>
                </a:solidFill>
              </a:rPr>
              <a:t>Feature Discovery</a:t>
            </a:r>
            <a:endParaRPr lang="en-US" dirty="0"/>
          </a:p>
          <a:p>
            <a:r>
              <a:rPr lang="en-US" dirty="0">
                <a:solidFill>
                  <a:srgbClr val="A0BDD8"/>
                </a:solidFill>
              </a:rPr>
              <a:t>Identify which applicant attributes drive approval vs. rejection decisions</a:t>
            </a:r>
          </a:p>
          <a:p>
            <a:r>
              <a:rPr lang="en-US" b="1" dirty="0">
                <a:solidFill>
                  <a:srgbClr val="00A8B5"/>
                </a:solidFill>
              </a:rPr>
              <a:t>Fairness Audit</a:t>
            </a:r>
            <a:endParaRPr lang="en-US" b="1" dirty="0"/>
          </a:p>
          <a:p>
            <a:pPr marL="0" indent="0">
              <a:buNone/>
            </a:pPr>
            <a:r>
              <a:rPr lang="en-US" dirty="0">
                <a:solidFill>
                  <a:srgbClr val="A0BDD8"/>
                </a:solidFill>
              </a:rPr>
              <a:t>Detect and mitigate demographic bias using SHAP-based explainability</a:t>
            </a:r>
            <a:endParaRPr lang="en-US" dirty="0"/>
          </a:p>
          <a:p>
            <a:r>
              <a:rPr lang="en-US" b="1" dirty="0">
                <a:solidFill>
                  <a:srgbClr val="00A8B5"/>
                </a:solidFill>
              </a:rPr>
              <a:t>Business Value</a:t>
            </a:r>
            <a:endParaRPr lang="en-US" dirty="0"/>
          </a:p>
          <a:p>
            <a:pPr marL="0" indent="0">
              <a:buNone/>
            </a:pPr>
            <a:r>
              <a:rPr lang="en-US" dirty="0">
                <a:solidFill>
                  <a:srgbClr val="A0BDD8"/>
                </a:solidFill>
              </a:rPr>
              <a:t>Reduce processing time, improve consistency, lower default risk</a:t>
            </a: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426744561"/>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4" name="arrow.wav"/>
          </p:stSnd>
        </p:sndAc>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sp useBgFill="1">
        <p:nvSpPr>
          <p:cNvPr id="56" name="Rectangle 55">
            <a:extLst>
              <a:ext uri="{FF2B5EF4-FFF2-40B4-BE49-F238E27FC236}">
                <a16:creationId xmlns:a16="http://schemas.microsoft.com/office/drawing/2014/main" id="{3F4C104D-5F30-4811-9376-566B26E47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BD3900-C6FE-F05D-D662-E65972EA55B5}"/>
              </a:ext>
            </a:extLst>
          </p:cNvPr>
          <p:cNvSpPr>
            <a:spLocks noGrp="1"/>
          </p:cNvSpPr>
          <p:nvPr>
            <p:ph type="title"/>
          </p:nvPr>
        </p:nvSpPr>
        <p:spPr>
          <a:xfrm>
            <a:off x="649224" y="645106"/>
            <a:ext cx="3650279" cy="1259894"/>
          </a:xfrm>
        </p:spPr>
        <p:txBody>
          <a:bodyPr vert="horz" lIns="91440" tIns="45720" rIns="91440" bIns="45720" rtlCol="0" anchor="t">
            <a:normAutofit/>
          </a:bodyPr>
          <a:lstStyle/>
          <a:p>
            <a:pPr>
              <a:lnSpc>
                <a:spcPct val="90000"/>
              </a:lnSpc>
            </a:pPr>
            <a:r>
              <a:rPr lang="en-US" sz="2800" b="1"/>
              <a:t>Methodology &amp; Approach</a:t>
            </a:r>
            <a:br>
              <a:rPr lang="en-US" sz="2800"/>
            </a:br>
            <a:endParaRPr lang="en-US" sz="2800"/>
          </a:p>
        </p:txBody>
      </p:sp>
      <p:sp>
        <p:nvSpPr>
          <p:cNvPr id="58" name="Rectangle 57">
            <a:extLst>
              <a:ext uri="{FF2B5EF4-FFF2-40B4-BE49-F238E27FC236}">
                <a16:creationId xmlns:a16="http://schemas.microsoft.com/office/drawing/2014/main" id="{0815E34B-5D02-4E01-A936-E8E1C0AB6F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Shape 5">
            <a:extLst>
              <a:ext uri="{FF2B5EF4-FFF2-40B4-BE49-F238E27FC236}">
                <a16:creationId xmlns:a16="http://schemas.microsoft.com/office/drawing/2014/main" id="{34D788A5-650A-66BC-21DA-618C9E50F21D}"/>
              </a:ext>
            </a:extLst>
          </p:cNvPr>
          <p:cNvSpPr/>
          <p:nvPr/>
        </p:nvSpPr>
        <p:spPr>
          <a:xfrm>
            <a:off x="649225" y="2133601"/>
            <a:ext cx="3008375" cy="1876926"/>
          </a:xfrm>
          <a:prstGeom prst="rect">
            <a:avLst/>
          </a:prstGeom>
        </p:spPr>
        <p:txBody>
          <a:bodyPr vert="horz" lIns="91440" tIns="45720" rIns="91440" bIns="45720" rtlCol="0">
            <a:normAutofit/>
          </a:bodyPr>
          <a:lstStyle/>
          <a:p>
            <a:pPr>
              <a:spcBef>
                <a:spcPts val="1000"/>
              </a:spcBef>
              <a:buClr>
                <a:schemeClr val="accent1"/>
              </a:buClr>
              <a:buFont typeface="Wingdings 3" charset="2"/>
              <a:buChar char=""/>
            </a:pPr>
            <a:r>
              <a:rPr lang="en-US" b="1" dirty="0">
                <a:solidFill>
                  <a:schemeClr val="tx1">
                    <a:lumMod val="75000"/>
                    <a:lumOff val="25000"/>
                  </a:schemeClr>
                </a:solidFill>
              </a:rPr>
              <a:t>Data Collection</a:t>
            </a:r>
          </a:p>
          <a:p>
            <a:pPr>
              <a:spcBef>
                <a:spcPts val="1000"/>
              </a:spcBef>
              <a:buClr>
                <a:schemeClr val="accent1"/>
              </a:buClr>
              <a:buFont typeface="Wingdings 3" charset="2"/>
              <a:buChar char=""/>
            </a:pPr>
            <a:r>
              <a:rPr lang="en-US" dirty="0">
                <a:solidFill>
                  <a:schemeClr val="tx1">
                    <a:lumMod val="75000"/>
                    <a:lumOff val="25000"/>
                  </a:schemeClr>
                </a:solidFill>
              </a:rPr>
              <a:t>598-record CSV — demographics, financials, credit history, loan status</a:t>
            </a:r>
          </a:p>
          <a:p>
            <a:pPr>
              <a:spcBef>
                <a:spcPts val="1000"/>
              </a:spcBef>
              <a:buClr>
                <a:schemeClr val="accent1"/>
              </a:buClr>
              <a:buFont typeface="Wingdings 3" charset="2"/>
              <a:buChar char=""/>
            </a:pPr>
            <a:endParaRPr lang="en-US" dirty="0">
              <a:solidFill>
                <a:schemeClr val="tx1">
                  <a:lumMod val="75000"/>
                  <a:lumOff val="25000"/>
                </a:schemeClr>
              </a:solidFill>
            </a:endParaRPr>
          </a:p>
        </p:txBody>
      </p:sp>
      <p:pic>
        <p:nvPicPr>
          <p:cNvPr id="53" name="Graphic 52" descr="Magnifying glass">
            <a:extLst>
              <a:ext uri="{FF2B5EF4-FFF2-40B4-BE49-F238E27FC236}">
                <a16:creationId xmlns:a16="http://schemas.microsoft.com/office/drawing/2014/main" id="{0EF6BAA6-11FE-7501-BA8C-588FDDC1A80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749383" y="-262447"/>
            <a:ext cx="9442617" cy="7377359"/>
          </a:xfrm>
          <a:prstGeom prst="rect">
            <a:avLst/>
          </a:prstGeom>
        </p:spPr>
      </p:pic>
      <p:sp>
        <p:nvSpPr>
          <p:cNvPr id="60" name="Freeform 11">
            <a:extLst>
              <a:ext uri="{FF2B5EF4-FFF2-40B4-BE49-F238E27FC236}">
                <a16:creationId xmlns:a16="http://schemas.microsoft.com/office/drawing/2014/main" id="{7DE3414B-B032-4710-A468-D3285E38C5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061223"/>
            <a:ext cx="1038036" cy="506277"/>
          </a:xfrm>
          <a:custGeom>
            <a:avLst/>
            <a:gdLst>
              <a:gd name="connsiteX0" fmla="*/ 0 w 1038036"/>
              <a:gd name="connsiteY0" fmla="*/ 0 h 506277"/>
              <a:gd name="connsiteX1" fmla="*/ 182880 w 1038036"/>
              <a:gd name="connsiteY1" fmla="*/ 0 h 506277"/>
              <a:gd name="connsiteX2" fmla="*/ 291705 w 1038036"/>
              <a:gd name="connsiteY2" fmla="*/ 0 h 506277"/>
              <a:gd name="connsiteX3" fmla="*/ 291705 w 1038036"/>
              <a:gd name="connsiteY3" fmla="*/ 151 h 506277"/>
              <a:gd name="connsiteX4" fmla="*/ 692049 w 1038036"/>
              <a:gd name="connsiteY4" fmla="*/ 705 h 506277"/>
              <a:gd name="connsiteX5" fmla="*/ 782744 w 1038036"/>
              <a:gd name="connsiteY5" fmla="*/ 705 h 506277"/>
              <a:gd name="connsiteX6" fmla="*/ 797001 w 1038036"/>
              <a:gd name="connsiteY6" fmla="*/ 5473 h 506277"/>
              <a:gd name="connsiteX7" fmla="*/ 801982 w 1038036"/>
              <a:gd name="connsiteY7" fmla="*/ 10242 h 506277"/>
              <a:gd name="connsiteX8" fmla="*/ 1030951 w 1038036"/>
              <a:gd name="connsiteY8" fmla="*/ 239185 h 506277"/>
              <a:gd name="connsiteX9" fmla="*/ 1030951 w 1038036"/>
              <a:gd name="connsiteY9" fmla="*/ 267797 h 506277"/>
              <a:gd name="connsiteX10" fmla="*/ 801982 w 1038036"/>
              <a:gd name="connsiteY10" fmla="*/ 496740 h 506277"/>
              <a:gd name="connsiteX11" fmla="*/ 797001 w 1038036"/>
              <a:gd name="connsiteY11" fmla="*/ 501508 h 506277"/>
              <a:gd name="connsiteX12" fmla="*/ 782744 w 1038036"/>
              <a:gd name="connsiteY12" fmla="*/ 506277 h 506277"/>
              <a:gd name="connsiteX13" fmla="*/ 692049 w 1038036"/>
              <a:gd name="connsiteY13" fmla="*/ 506277 h 506277"/>
              <a:gd name="connsiteX14" fmla="*/ 291705 w 1038036"/>
              <a:gd name="connsiteY14" fmla="*/ 505140 h 506277"/>
              <a:gd name="connsiteX15" fmla="*/ 291705 w 1038036"/>
              <a:gd name="connsiteY15" fmla="*/ 506277 h 506277"/>
              <a:gd name="connsiteX16" fmla="*/ 0 w 1038036"/>
              <a:gd name="connsiteY16" fmla="*/ 506277 h 506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38036" h="506277">
                <a:moveTo>
                  <a:pt x="0" y="0"/>
                </a:moveTo>
                <a:lnTo>
                  <a:pt x="182880" y="0"/>
                </a:lnTo>
                <a:lnTo>
                  <a:pt x="291705" y="0"/>
                </a:lnTo>
                <a:lnTo>
                  <a:pt x="291705" y="151"/>
                </a:lnTo>
                <a:lnTo>
                  <a:pt x="692049" y="705"/>
                </a:lnTo>
                <a:lnTo>
                  <a:pt x="782744" y="705"/>
                </a:lnTo>
                <a:cubicBezTo>
                  <a:pt x="787553" y="705"/>
                  <a:pt x="792363" y="5473"/>
                  <a:pt x="797001" y="5473"/>
                </a:cubicBezTo>
                <a:cubicBezTo>
                  <a:pt x="797001" y="10242"/>
                  <a:pt x="801982" y="10242"/>
                  <a:pt x="801982" y="10242"/>
                </a:cubicBezTo>
                <a:lnTo>
                  <a:pt x="1030951" y="239185"/>
                </a:lnTo>
                <a:cubicBezTo>
                  <a:pt x="1040398" y="248722"/>
                  <a:pt x="1040398" y="258259"/>
                  <a:pt x="1030951" y="267797"/>
                </a:cubicBezTo>
                <a:lnTo>
                  <a:pt x="801982" y="496740"/>
                </a:lnTo>
                <a:cubicBezTo>
                  <a:pt x="800436" y="498363"/>
                  <a:pt x="798547" y="499885"/>
                  <a:pt x="797001" y="501508"/>
                </a:cubicBezTo>
                <a:cubicBezTo>
                  <a:pt x="792363" y="506277"/>
                  <a:pt x="787553" y="506277"/>
                  <a:pt x="782744" y="506277"/>
                </a:cubicBezTo>
                <a:lnTo>
                  <a:pt x="692049" y="506277"/>
                </a:lnTo>
                <a:lnTo>
                  <a:pt x="291705" y="505140"/>
                </a:lnTo>
                <a:lnTo>
                  <a:pt x="291705" y="506277"/>
                </a:lnTo>
                <a:lnTo>
                  <a:pt x="0" y="50627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767A6FC4-78EE-9893-E383-4CC62E16131D}"/>
              </a:ext>
            </a:extLst>
          </p:cNvPr>
          <p:cNvSpPr>
            <a:spLocks noGrp="1"/>
          </p:cNvSpPr>
          <p:nvPr>
            <p:ph type="sldNum" sz="quarter" idx="12"/>
          </p:nvPr>
        </p:nvSpPr>
        <p:spPr>
          <a:xfrm>
            <a:off x="121514" y="6133610"/>
            <a:ext cx="779767" cy="365125"/>
          </a:xfrm>
        </p:spPr>
        <p:txBody>
          <a:bodyPr vert="horz" lIns="91440" tIns="45720" rIns="91440" bIns="45720" rtlCol="0" anchor="ctr">
            <a:normAutofit/>
          </a:bodyPr>
          <a:lstStyle/>
          <a:p>
            <a:pPr defTabSz="914400">
              <a:lnSpc>
                <a:spcPct val="90000"/>
              </a:lnSpc>
              <a:spcAft>
                <a:spcPts val="600"/>
              </a:spcAft>
            </a:pPr>
            <a:fld id="{D57F1E4F-1CFF-5643-939E-217C01CDF565}" type="slidenum">
              <a:rPr lang="en-US" sz="1900" smtClean="0"/>
              <a:pPr defTabSz="914400">
                <a:lnSpc>
                  <a:spcPct val="90000"/>
                </a:lnSpc>
                <a:spcAft>
                  <a:spcPts val="600"/>
                </a:spcAft>
              </a:pPr>
              <a:t>5</a:t>
            </a:fld>
            <a:endParaRPr lang="en-US" sz="1900"/>
          </a:p>
        </p:txBody>
      </p:sp>
      <p:sp>
        <p:nvSpPr>
          <p:cNvPr id="48" name="Shape 5">
            <a:extLst>
              <a:ext uri="{FF2B5EF4-FFF2-40B4-BE49-F238E27FC236}">
                <a16:creationId xmlns:a16="http://schemas.microsoft.com/office/drawing/2014/main" id="{35328D8D-108B-FBF7-A521-F0ABAE228FC5}"/>
              </a:ext>
            </a:extLst>
          </p:cNvPr>
          <p:cNvSpPr/>
          <p:nvPr/>
        </p:nvSpPr>
        <p:spPr>
          <a:xfrm>
            <a:off x="3828449" y="2007242"/>
            <a:ext cx="3146675" cy="1280890"/>
          </a:xfrm>
          <a:prstGeom prst="rect">
            <a:avLst/>
          </a:prstGeom>
          <a:solidFill>
            <a:srgbClr val="FFFFFF"/>
          </a:solidFill>
          <a:ln w="12700">
            <a:solidFill>
              <a:srgbClr val="D4E5F7"/>
            </a:solidFill>
            <a:prstDash val="solid"/>
          </a:ln>
          <a:effectLst>
            <a:outerShdw blurRad="76200" dist="25400" dir="8100000" algn="bl" rotWithShape="0">
              <a:srgbClr val="000000">
                <a:alpha val="15000"/>
              </a:srgbClr>
            </a:outerShdw>
          </a:effectLst>
        </p:spPr>
        <p:txBody>
          <a:bodyPr/>
          <a:lstStyle/>
          <a:p>
            <a:pPr>
              <a:spcAft>
                <a:spcPts val="600"/>
              </a:spcAft>
            </a:pPr>
            <a:r>
              <a:rPr lang="en-US" b="1" dirty="0">
                <a:latin typeface="Calibri" pitchFamily="34" charset="0"/>
                <a:ea typeface="Calibri" pitchFamily="34" charset="-122"/>
                <a:cs typeface="Calibri" pitchFamily="34" charset="-120"/>
              </a:rPr>
              <a:t>Data Processing</a:t>
            </a:r>
          </a:p>
          <a:p>
            <a:pPr>
              <a:spcAft>
                <a:spcPts val="600"/>
              </a:spcAft>
            </a:pPr>
            <a:r>
              <a:rPr lang="en-US" dirty="0">
                <a:solidFill>
                  <a:srgbClr val="4A6080"/>
                </a:solidFill>
                <a:latin typeface="Calibri" pitchFamily="34" charset="0"/>
                <a:ea typeface="Calibri" pitchFamily="34" charset="-122"/>
                <a:cs typeface="Calibri" pitchFamily="34" charset="-120"/>
              </a:rPr>
              <a:t>Handle missing values · encode categories · </a:t>
            </a:r>
            <a:r>
              <a:rPr lang="en-US" dirty="0" err="1">
                <a:solidFill>
                  <a:srgbClr val="4A6080"/>
                </a:solidFill>
                <a:latin typeface="Calibri" pitchFamily="34" charset="0"/>
                <a:ea typeface="Calibri" pitchFamily="34" charset="-122"/>
                <a:cs typeface="Calibri" pitchFamily="34" charset="-120"/>
              </a:rPr>
              <a:t>normalise</a:t>
            </a:r>
            <a:r>
              <a:rPr lang="en-US" dirty="0">
                <a:solidFill>
                  <a:srgbClr val="4A6080"/>
                </a:solidFill>
                <a:latin typeface="Calibri" pitchFamily="34" charset="0"/>
                <a:ea typeface="Calibri" pitchFamily="34" charset="-122"/>
                <a:cs typeface="Calibri" pitchFamily="34" charset="-120"/>
              </a:rPr>
              <a:t> · detect outliers</a:t>
            </a:r>
            <a:endParaRPr lang="en-US" dirty="0"/>
          </a:p>
          <a:p>
            <a:pPr>
              <a:spcAft>
                <a:spcPts val="600"/>
              </a:spcAft>
            </a:pPr>
            <a:endParaRPr lang="en-US" dirty="0"/>
          </a:p>
        </p:txBody>
      </p:sp>
      <p:sp>
        <p:nvSpPr>
          <p:cNvPr id="49" name="Shape 5">
            <a:extLst>
              <a:ext uri="{FF2B5EF4-FFF2-40B4-BE49-F238E27FC236}">
                <a16:creationId xmlns:a16="http://schemas.microsoft.com/office/drawing/2014/main" id="{2E64EE9F-6955-1D05-01DC-EE3E21973EB9}"/>
              </a:ext>
            </a:extLst>
          </p:cNvPr>
          <p:cNvSpPr/>
          <p:nvPr/>
        </p:nvSpPr>
        <p:spPr>
          <a:xfrm>
            <a:off x="7597883" y="1985576"/>
            <a:ext cx="3859476" cy="1280890"/>
          </a:xfrm>
          <a:prstGeom prst="rect">
            <a:avLst/>
          </a:prstGeom>
          <a:solidFill>
            <a:srgbClr val="FFFFFF"/>
          </a:solidFill>
          <a:ln w="12700">
            <a:solidFill>
              <a:srgbClr val="D4E5F7"/>
            </a:solidFill>
            <a:prstDash val="solid"/>
          </a:ln>
          <a:effectLst>
            <a:outerShdw blurRad="76200" dist="25400" dir="8100000" algn="bl" rotWithShape="0">
              <a:srgbClr val="000000">
                <a:alpha val="15000"/>
              </a:srgbClr>
            </a:outerShdw>
          </a:effectLst>
        </p:spPr>
        <p:txBody>
          <a:bodyPr/>
          <a:lstStyle/>
          <a:p>
            <a:pPr>
              <a:spcAft>
                <a:spcPts val="600"/>
              </a:spcAft>
            </a:pPr>
            <a:r>
              <a:rPr lang="en-US" b="1" dirty="0">
                <a:latin typeface="Calibri" pitchFamily="34" charset="0"/>
                <a:ea typeface="Calibri" pitchFamily="34" charset="-122"/>
                <a:cs typeface="Calibri" pitchFamily="34" charset="-120"/>
              </a:rPr>
              <a:t>EDA</a:t>
            </a:r>
          </a:p>
          <a:p>
            <a:pPr>
              <a:spcAft>
                <a:spcPts val="600"/>
              </a:spcAft>
            </a:pPr>
            <a:r>
              <a:rPr lang="en-US" dirty="0">
                <a:solidFill>
                  <a:srgbClr val="4A6080"/>
                </a:solidFill>
                <a:latin typeface="Calibri" pitchFamily="34" charset="0"/>
                <a:ea typeface="Calibri" pitchFamily="34" charset="-122"/>
                <a:cs typeface="Calibri" pitchFamily="34" charset="-120"/>
              </a:rPr>
              <a:t>Histograms · box plots · heatmaps · count plots · correlation matrices</a:t>
            </a:r>
            <a:endParaRPr lang="en-US" dirty="0"/>
          </a:p>
          <a:p>
            <a:pPr>
              <a:spcAft>
                <a:spcPts val="600"/>
              </a:spcAft>
            </a:pPr>
            <a:endParaRPr lang="en-US" dirty="0"/>
          </a:p>
        </p:txBody>
      </p:sp>
      <p:sp>
        <p:nvSpPr>
          <p:cNvPr id="50" name="Shape 5">
            <a:extLst>
              <a:ext uri="{FF2B5EF4-FFF2-40B4-BE49-F238E27FC236}">
                <a16:creationId xmlns:a16="http://schemas.microsoft.com/office/drawing/2014/main" id="{3C5ADBA2-4E9A-8693-1EEB-B80E463CAF7E}"/>
              </a:ext>
            </a:extLst>
          </p:cNvPr>
          <p:cNvSpPr/>
          <p:nvPr/>
        </p:nvSpPr>
        <p:spPr>
          <a:xfrm>
            <a:off x="734649" y="3893797"/>
            <a:ext cx="3008375" cy="1876926"/>
          </a:xfrm>
          <a:prstGeom prst="rect">
            <a:avLst/>
          </a:prstGeom>
        </p:spPr>
        <p:txBody>
          <a:bodyPr vert="horz" lIns="91440" tIns="45720" rIns="91440" bIns="45720" rtlCol="0">
            <a:normAutofit/>
          </a:bodyPr>
          <a:lstStyle/>
          <a:p>
            <a:r>
              <a:rPr lang="en-US" b="1" dirty="0">
                <a:solidFill>
                  <a:srgbClr val="0F2044"/>
                </a:solidFill>
                <a:latin typeface="Calibri" pitchFamily="34" charset="0"/>
                <a:ea typeface="Calibri" pitchFamily="34" charset="-122"/>
                <a:cs typeface="Calibri" pitchFamily="34" charset="-120"/>
              </a:rPr>
              <a:t>Feature Engineering</a:t>
            </a:r>
            <a:endParaRPr lang="en-US" dirty="0"/>
          </a:p>
          <a:p>
            <a:pPr>
              <a:spcBef>
                <a:spcPts val="1000"/>
              </a:spcBef>
              <a:buClr>
                <a:schemeClr val="accent1"/>
              </a:buClr>
              <a:buFont typeface="Wingdings 3" charset="2"/>
              <a:buChar char=""/>
            </a:pPr>
            <a:r>
              <a:rPr lang="en-US" dirty="0">
                <a:solidFill>
                  <a:schemeClr val="tx1">
                    <a:lumMod val="75000"/>
                    <a:lumOff val="25000"/>
                  </a:schemeClr>
                </a:solidFill>
              </a:rPr>
              <a:t> </a:t>
            </a:r>
            <a:r>
              <a:rPr lang="en-US" dirty="0">
                <a:solidFill>
                  <a:srgbClr val="4A6080"/>
                </a:solidFill>
                <a:latin typeface="Calibri" pitchFamily="34" charset="0"/>
                <a:ea typeface="Calibri" pitchFamily="34" charset="-122"/>
                <a:cs typeface="Calibri" pitchFamily="34" charset="-120"/>
              </a:rPr>
              <a:t>Total Income · income-to-loan ratio · affordability &amp; risk metrics</a:t>
            </a:r>
            <a:endParaRPr lang="en-US" dirty="0"/>
          </a:p>
          <a:p>
            <a:pPr>
              <a:spcBef>
                <a:spcPts val="1000"/>
              </a:spcBef>
              <a:buClr>
                <a:schemeClr val="accent1"/>
              </a:buClr>
              <a:buFont typeface="Wingdings 3" charset="2"/>
              <a:buChar char=""/>
            </a:pPr>
            <a:endParaRPr lang="en-US" dirty="0">
              <a:solidFill>
                <a:schemeClr val="tx1">
                  <a:lumMod val="75000"/>
                  <a:lumOff val="25000"/>
                </a:schemeClr>
              </a:solidFill>
            </a:endParaRPr>
          </a:p>
          <a:p>
            <a:pPr>
              <a:spcBef>
                <a:spcPts val="1000"/>
              </a:spcBef>
              <a:buClr>
                <a:schemeClr val="accent1"/>
              </a:buClr>
              <a:buFont typeface="Wingdings 3" charset="2"/>
              <a:buChar char=""/>
            </a:pPr>
            <a:endParaRPr lang="en-US" dirty="0">
              <a:solidFill>
                <a:schemeClr val="tx1">
                  <a:lumMod val="75000"/>
                  <a:lumOff val="25000"/>
                </a:schemeClr>
              </a:solidFill>
            </a:endParaRPr>
          </a:p>
        </p:txBody>
      </p:sp>
      <p:sp>
        <p:nvSpPr>
          <p:cNvPr id="52" name="Shape 5">
            <a:extLst>
              <a:ext uri="{FF2B5EF4-FFF2-40B4-BE49-F238E27FC236}">
                <a16:creationId xmlns:a16="http://schemas.microsoft.com/office/drawing/2014/main" id="{858DAF40-F121-0845-0508-B7449351099D}"/>
              </a:ext>
            </a:extLst>
          </p:cNvPr>
          <p:cNvSpPr/>
          <p:nvPr/>
        </p:nvSpPr>
        <p:spPr>
          <a:xfrm>
            <a:off x="3861748" y="3973892"/>
            <a:ext cx="3146675" cy="1280890"/>
          </a:xfrm>
          <a:prstGeom prst="rect">
            <a:avLst/>
          </a:prstGeom>
          <a:solidFill>
            <a:srgbClr val="FFFFFF"/>
          </a:solidFill>
          <a:ln w="12700">
            <a:solidFill>
              <a:srgbClr val="D4E5F7"/>
            </a:solidFill>
            <a:prstDash val="solid"/>
          </a:ln>
          <a:effectLst>
            <a:outerShdw blurRad="76200" dist="25400" dir="8100000" algn="bl" rotWithShape="0">
              <a:srgbClr val="000000">
                <a:alpha val="15000"/>
              </a:srgbClr>
            </a:outerShdw>
          </a:effectLst>
        </p:spPr>
        <p:txBody>
          <a:bodyPr/>
          <a:lstStyle/>
          <a:p>
            <a:r>
              <a:rPr lang="en-US" b="1" dirty="0">
                <a:solidFill>
                  <a:srgbClr val="0F2044"/>
                </a:solidFill>
                <a:latin typeface="Calibri" pitchFamily="34" charset="0"/>
                <a:ea typeface="Calibri" pitchFamily="34" charset="-122"/>
                <a:cs typeface="Calibri" pitchFamily="34" charset="-120"/>
              </a:rPr>
              <a:t>Model Building</a:t>
            </a:r>
            <a:endParaRPr lang="en-US" dirty="0"/>
          </a:p>
          <a:p>
            <a:r>
              <a:rPr lang="en-US" dirty="0">
                <a:solidFill>
                  <a:srgbClr val="4A6080"/>
                </a:solidFill>
                <a:latin typeface="Calibri" pitchFamily="34" charset="0"/>
                <a:ea typeface="Calibri" pitchFamily="34" charset="-122"/>
                <a:cs typeface="Calibri" pitchFamily="34" charset="-120"/>
              </a:rPr>
              <a:t>Logistic Regression · Decision Tree · Random Forest · GB · </a:t>
            </a:r>
            <a:r>
              <a:rPr lang="en-US" dirty="0" err="1">
                <a:solidFill>
                  <a:srgbClr val="4A6080"/>
                </a:solidFill>
                <a:latin typeface="Calibri" pitchFamily="34" charset="0"/>
                <a:ea typeface="Calibri" pitchFamily="34" charset="-122"/>
                <a:cs typeface="Calibri" pitchFamily="34" charset="-120"/>
              </a:rPr>
              <a:t>XGBoost</a:t>
            </a:r>
            <a:endParaRPr lang="en-US" dirty="0"/>
          </a:p>
          <a:p>
            <a:pPr>
              <a:spcAft>
                <a:spcPts val="600"/>
              </a:spcAft>
            </a:pPr>
            <a:endParaRPr lang="en-US" dirty="0"/>
          </a:p>
        </p:txBody>
      </p:sp>
      <p:sp>
        <p:nvSpPr>
          <p:cNvPr id="54" name="Shape 5">
            <a:extLst>
              <a:ext uri="{FF2B5EF4-FFF2-40B4-BE49-F238E27FC236}">
                <a16:creationId xmlns:a16="http://schemas.microsoft.com/office/drawing/2014/main" id="{DEEF3D36-9AD8-F1B1-EBF6-38354F3ACB6A}"/>
              </a:ext>
            </a:extLst>
          </p:cNvPr>
          <p:cNvSpPr/>
          <p:nvPr/>
        </p:nvSpPr>
        <p:spPr>
          <a:xfrm>
            <a:off x="7683299" y="3955897"/>
            <a:ext cx="3859476" cy="1280890"/>
          </a:xfrm>
          <a:prstGeom prst="rect">
            <a:avLst/>
          </a:prstGeom>
          <a:solidFill>
            <a:srgbClr val="FFFFFF"/>
          </a:solidFill>
          <a:ln w="12700">
            <a:solidFill>
              <a:srgbClr val="D4E5F7"/>
            </a:solidFill>
            <a:prstDash val="solid"/>
          </a:ln>
          <a:effectLst>
            <a:outerShdw blurRad="76200" dist="25400" dir="8100000" algn="bl" rotWithShape="0">
              <a:srgbClr val="000000">
                <a:alpha val="15000"/>
              </a:srgbClr>
            </a:outerShdw>
          </a:effectLst>
        </p:spPr>
        <p:txBody>
          <a:bodyPr/>
          <a:lstStyle/>
          <a:p>
            <a:pPr>
              <a:spcAft>
                <a:spcPts val="600"/>
              </a:spcAft>
            </a:pPr>
            <a:r>
              <a:rPr lang="en-US" b="1" dirty="0">
                <a:solidFill>
                  <a:srgbClr val="0F2044"/>
                </a:solidFill>
                <a:latin typeface="Calibri" pitchFamily="34" charset="0"/>
                <a:ea typeface="Calibri" pitchFamily="34" charset="-122"/>
                <a:cs typeface="Calibri" pitchFamily="34" charset="-120"/>
              </a:rPr>
              <a:t>Evaluation </a:t>
            </a:r>
          </a:p>
          <a:p>
            <a:r>
              <a:rPr lang="en-US" dirty="0">
                <a:solidFill>
                  <a:srgbClr val="4A6080"/>
                </a:solidFill>
                <a:latin typeface="Calibri" pitchFamily="34" charset="0"/>
                <a:ea typeface="Calibri" pitchFamily="34" charset="-122"/>
                <a:cs typeface="Calibri" pitchFamily="34" charset="-120"/>
              </a:rPr>
              <a:t>Accuracy · Precision · Recall · F1 · ROC-AUC · Cross-Validation · Tuning</a:t>
            </a:r>
            <a:endParaRPr lang="en-US" dirty="0"/>
          </a:p>
          <a:p>
            <a:pPr>
              <a:spcAft>
                <a:spcPts val="600"/>
              </a:spcAft>
            </a:pPr>
            <a:endParaRPr lang="en-US" dirty="0"/>
          </a:p>
        </p:txBody>
      </p:sp>
    </p:spTree>
    <p:extLst>
      <p:ext uri="{BB962C8B-B14F-4D97-AF65-F5344CB8AC3E}">
        <p14:creationId xmlns:p14="http://schemas.microsoft.com/office/powerpoint/2010/main" val="4083249794"/>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EDED6-E840-D2E9-7264-A6EE067094A7}"/>
              </a:ext>
            </a:extLst>
          </p:cNvPr>
          <p:cNvSpPr>
            <a:spLocks noGrp="1"/>
          </p:cNvSpPr>
          <p:nvPr>
            <p:ph type="title"/>
          </p:nvPr>
        </p:nvSpPr>
        <p:spPr/>
        <p:txBody>
          <a:bodyPr/>
          <a:lstStyle/>
          <a:p>
            <a:r>
              <a:rPr lang="en-US" b="1" dirty="0">
                <a:solidFill>
                  <a:schemeClr val="tx1"/>
                </a:solidFill>
                <a:latin typeface="Calibri" pitchFamily="34" charset="0"/>
                <a:ea typeface="Calibri" pitchFamily="34" charset="-122"/>
                <a:cs typeface="Calibri" pitchFamily="34" charset="-120"/>
              </a:rPr>
              <a:t>Basic Overview — Missing Values</a:t>
            </a:r>
            <a:br>
              <a:rPr lang="en-US" dirty="0">
                <a:solidFill>
                  <a:schemeClr val="tx1"/>
                </a:solidFill>
              </a:rPr>
            </a:br>
            <a:endParaRPr lang="en-US" dirty="0">
              <a:solidFill>
                <a:schemeClr val="tx1"/>
              </a:solidFill>
            </a:endParaRPr>
          </a:p>
        </p:txBody>
      </p:sp>
      <p:sp>
        <p:nvSpPr>
          <p:cNvPr id="4" name="Slide Number Placeholder 3">
            <a:extLst>
              <a:ext uri="{FF2B5EF4-FFF2-40B4-BE49-F238E27FC236}">
                <a16:creationId xmlns:a16="http://schemas.microsoft.com/office/drawing/2014/main" id="{AA4ED11E-10F5-AE19-AE75-AB48F428F9F7}"/>
              </a:ext>
            </a:extLst>
          </p:cNvPr>
          <p:cNvSpPr>
            <a:spLocks noGrp="1"/>
          </p:cNvSpPr>
          <p:nvPr>
            <p:ph type="sldNum" sz="quarter" idx="12"/>
          </p:nvPr>
        </p:nvSpPr>
        <p:spPr/>
        <p:txBody>
          <a:bodyPr/>
          <a:lstStyle/>
          <a:p>
            <a:fld id="{D57F1E4F-1CFF-5643-939E-217C01CDF565}" type="slidenum">
              <a:rPr lang="en-US" smtClean="0"/>
              <a:pPr/>
              <a:t>6</a:t>
            </a:fld>
            <a:endParaRPr lang="en-US" dirty="0"/>
          </a:p>
        </p:txBody>
      </p:sp>
      <p:graphicFrame>
        <p:nvGraphicFramePr>
          <p:cNvPr id="5" name="Chart 0">
            <a:extLst>
              <a:ext uri="{FF2B5EF4-FFF2-40B4-BE49-F238E27FC236}">
                <a16:creationId xmlns:a16="http://schemas.microsoft.com/office/drawing/2014/main" id="{143C5704-8B0F-C08D-72FB-1ACB697A2EC0}"/>
              </a:ext>
            </a:extLst>
          </p:cNvPr>
          <p:cNvGraphicFramePr>
            <a:graphicFrameLocks noGrp="1"/>
          </p:cNvGraphicFramePr>
          <p:nvPr>
            <p:ph idx="1"/>
            <p:extLst>
              <p:ext uri="{D42A27DB-BD31-4B8C-83A1-F6EECF244321}">
                <p14:modId xmlns:p14="http://schemas.microsoft.com/office/powerpoint/2010/main" val="807695677"/>
              </p:ext>
            </p:extLst>
          </p:nvPr>
        </p:nvGraphicFramePr>
        <p:xfrm>
          <a:off x="921694" y="1469385"/>
          <a:ext cx="7083317" cy="5059752"/>
        </p:xfrm>
        <a:graphic>
          <a:graphicData uri="http://schemas.openxmlformats.org/drawingml/2006/chart">
            <c:chart xmlns:c="http://schemas.openxmlformats.org/drawingml/2006/chart" xmlns:r="http://schemas.openxmlformats.org/officeDocument/2006/relationships" r:id="rId4"/>
          </a:graphicData>
        </a:graphic>
      </p:graphicFrame>
      <p:pic>
        <p:nvPicPr>
          <p:cNvPr id="8" name="Picture 7">
            <a:extLst>
              <a:ext uri="{FF2B5EF4-FFF2-40B4-BE49-F238E27FC236}">
                <a16:creationId xmlns:a16="http://schemas.microsoft.com/office/drawing/2014/main" id="{578043A3-B4BF-084A-4E54-D9DD397C33E8}"/>
              </a:ext>
            </a:extLst>
          </p:cNvPr>
          <p:cNvPicPr>
            <a:picLocks noChangeAspect="1"/>
          </p:cNvPicPr>
          <p:nvPr/>
        </p:nvPicPr>
        <p:blipFill>
          <a:blip r:embed="rId5"/>
          <a:stretch>
            <a:fillRect/>
          </a:stretch>
        </p:blipFill>
        <p:spPr>
          <a:xfrm>
            <a:off x="8188492" y="1260544"/>
            <a:ext cx="3771900" cy="5524500"/>
          </a:xfrm>
          <a:prstGeom prst="rect">
            <a:avLst/>
          </a:prstGeom>
        </p:spPr>
      </p:pic>
    </p:spTree>
    <p:extLst>
      <p:ext uri="{BB962C8B-B14F-4D97-AF65-F5344CB8AC3E}">
        <p14:creationId xmlns:p14="http://schemas.microsoft.com/office/powerpoint/2010/main" val="2709262946"/>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6" name="arrow.wav"/>
          </p:stSnd>
        </p:sndAc>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grpSp>
        <p:nvGrpSpPr>
          <p:cNvPr id="122" name="Group 121">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123"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24"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25"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26"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27"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28"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29"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30"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31"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32"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33"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34"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6" name="Group 135">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137"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38"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9"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0"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41"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42"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43"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44"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45"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46"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47"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48"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50" name="Rectangle 149">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2"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154" name="Rectangle 153">
            <a:extLst>
              <a:ext uri="{FF2B5EF4-FFF2-40B4-BE49-F238E27FC236}">
                <a16:creationId xmlns:a16="http://schemas.microsoft.com/office/drawing/2014/main" id="{A692209D-B607-46C3-8560-07AF722916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Rectangle 155">
            <a:extLst>
              <a:ext uri="{FF2B5EF4-FFF2-40B4-BE49-F238E27FC236}">
                <a16:creationId xmlns:a16="http://schemas.microsoft.com/office/drawing/2014/main" id="{94874638-CF15-4908-BC4B-4908744D0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4639734"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Rectangle 1">
            <a:extLst>
              <a:ext uri="{FF2B5EF4-FFF2-40B4-BE49-F238E27FC236}">
                <a16:creationId xmlns:a16="http://schemas.microsoft.com/office/drawing/2014/main" id="{237E8941-BA29-28FB-1B0C-AA5B37B70DEF}"/>
              </a:ext>
            </a:extLst>
          </p:cNvPr>
          <p:cNvSpPr>
            <a:spLocks noGrp="1" noChangeArrowheads="1"/>
          </p:cNvSpPr>
          <p:nvPr>
            <p:ph type="title"/>
          </p:nvPr>
        </p:nvSpPr>
        <p:spPr bwMode="auto">
          <a:xfrm>
            <a:off x="540279" y="967417"/>
            <a:ext cx="3778870" cy="3943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rmAutofit/>
          </a:bodyPr>
          <a:lstStyle/>
          <a:p>
            <a:r>
              <a:rPr lang="en-US" sz="4000" b="1">
                <a:solidFill>
                  <a:srgbClr val="FEFFFF"/>
                </a:solidFill>
              </a:rPr>
              <a:t>Basic Overview — Loan Status Distribution</a:t>
            </a:r>
            <a:endParaRPr lang="en-US" sz="4000">
              <a:solidFill>
                <a:srgbClr val="FEFFFF"/>
              </a:solidFill>
            </a:endParaRPr>
          </a:p>
        </p:txBody>
      </p:sp>
      <p:sp>
        <p:nvSpPr>
          <p:cNvPr id="158" name="Freeform 5">
            <a:extLst>
              <a:ext uri="{FF2B5EF4-FFF2-40B4-BE49-F238E27FC236}">
                <a16:creationId xmlns:a16="http://schemas.microsoft.com/office/drawing/2014/main" id="{5F1B8348-CD6E-4561-A704-C232D9A2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5404022" cy="857047"/>
          </a:xfrm>
          <a:custGeom>
            <a:avLst/>
            <a:gdLst>
              <a:gd name="T0" fmla="*/ 1114 w 1117"/>
              <a:gd name="T1" fmla="*/ 77 h 163"/>
              <a:gd name="T2" fmla="*/ 1040 w 1117"/>
              <a:gd name="T3" fmla="*/ 3 h 163"/>
              <a:gd name="T4" fmla="*/ 1039 w 1117"/>
              <a:gd name="T5" fmla="*/ 2 h 163"/>
              <a:gd name="T6" fmla="*/ 1034 w 1117"/>
              <a:gd name="T7" fmla="*/ 0 h 163"/>
              <a:gd name="T8" fmla="*/ 578 w 1117"/>
              <a:gd name="T9" fmla="*/ 0 h 163"/>
              <a:gd name="T10" fmla="*/ 562 w 1117"/>
              <a:gd name="T11" fmla="*/ 0 h 163"/>
              <a:gd name="T12" fmla="*/ 440 w 1117"/>
              <a:gd name="T13" fmla="*/ 0 h 163"/>
              <a:gd name="T14" fmla="*/ 106 w 1117"/>
              <a:gd name="T15" fmla="*/ 0 h 163"/>
              <a:gd name="T16" fmla="*/ 0 w 1117"/>
              <a:gd name="T17" fmla="*/ 0 h 163"/>
              <a:gd name="T18" fmla="*/ 0 w 1117"/>
              <a:gd name="T19" fmla="*/ 163 h 163"/>
              <a:gd name="T20" fmla="*/ 106 w 1117"/>
              <a:gd name="T21" fmla="*/ 163 h 163"/>
              <a:gd name="T22" fmla="*/ 440 w 1117"/>
              <a:gd name="T23" fmla="*/ 163 h 163"/>
              <a:gd name="T24" fmla="*/ 562 w 1117"/>
              <a:gd name="T25" fmla="*/ 163 h 163"/>
              <a:gd name="T26" fmla="*/ 578 w 1117"/>
              <a:gd name="T27" fmla="*/ 163 h 163"/>
              <a:gd name="T28" fmla="*/ 1034 w 1117"/>
              <a:gd name="T29" fmla="*/ 163 h 163"/>
              <a:gd name="T30" fmla="*/ 1039 w 1117"/>
              <a:gd name="T31" fmla="*/ 161 h 163"/>
              <a:gd name="T32" fmla="*/ 1040 w 1117"/>
              <a:gd name="T33" fmla="*/ 160 h 163"/>
              <a:gd name="T34" fmla="*/ 1114 w 1117"/>
              <a:gd name="T35" fmla="*/ 86 h 163"/>
              <a:gd name="T36" fmla="*/ 1114 w 1117"/>
              <a:gd name="T37" fmla="*/ 77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17" h="163">
                <a:moveTo>
                  <a:pt x="1114" y="77"/>
                </a:moveTo>
                <a:cubicBezTo>
                  <a:pt x="1040" y="3"/>
                  <a:pt x="1040" y="3"/>
                  <a:pt x="1040" y="3"/>
                </a:cubicBezTo>
                <a:cubicBezTo>
                  <a:pt x="1040" y="2"/>
                  <a:pt x="1039" y="2"/>
                  <a:pt x="1039" y="2"/>
                </a:cubicBezTo>
                <a:cubicBezTo>
                  <a:pt x="1038" y="1"/>
                  <a:pt x="1036" y="0"/>
                  <a:pt x="1034" y="0"/>
                </a:cubicBezTo>
                <a:cubicBezTo>
                  <a:pt x="578" y="0"/>
                  <a:pt x="578" y="0"/>
                  <a:pt x="578" y="0"/>
                </a:cubicBezTo>
                <a:cubicBezTo>
                  <a:pt x="562" y="0"/>
                  <a:pt x="562" y="0"/>
                  <a:pt x="562" y="0"/>
                </a:cubicBezTo>
                <a:cubicBezTo>
                  <a:pt x="440" y="0"/>
                  <a:pt x="440" y="0"/>
                  <a:pt x="440" y="0"/>
                </a:cubicBezTo>
                <a:cubicBezTo>
                  <a:pt x="106" y="0"/>
                  <a:pt x="106" y="0"/>
                  <a:pt x="106" y="0"/>
                </a:cubicBezTo>
                <a:cubicBezTo>
                  <a:pt x="0" y="0"/>
                  <a:pt x="0" y="0"/>
                  <a:pt x="0" y="0"/>
                </a:cubicBezTo>
                <a:cubicBezTo>
                  <a:pt x="0" y="163"/>
                  <a:pt x="0" y="163"/>
                  <a:pt x="0" y="163"/>
                </a:cubicBezTo>
                <a:cubicBezTo>
                  <a:pt x="106" y="163"/>
                  <a:pt x="106" y="163"/>
                  <a:pt x="106" y="163"/>
                </a:cubicBezTo>
                <a:cubicBezTo>
                  <a:pt x="440" y="163"/>
                  <a:pt x="440" y="163"/>
                  <a:pt x="440" y="163"/>
                </a:cubicBezTo>
                <a:cubicBezTo>
                  <a:pt x="562" y="163"/>
                  <a:pt x="562" y="163"/>
                  <a:pt x="562" y="163"/>
                </a:cubicBezTo>
                <a:cubicBezTo>
                  <a:pt x="578" y="163"/>
                  <a:pt x="578" y="163"/>
                  <a:pt x="578" y="163"/>
                </a:cubicBezTo>
                <a:cubicBezTo>
                  <a:pt x="1034" y="163"/>
                  <a:pt x="1034" y="163"/>
                  <a:pt x="1034" y="163"/>
                </a:cubicBezTo>
                <a:cubicBezTo>
                  <a:pt x="1036" y="163"/>
                  <a:pt x="1038" y="162"/>
                  <a:pt x="1039" y="161"/>
                </a:cubicBezTo>
                <a:cubicBezTo>
                  <a:pt x="1039" y="160"/>
                  <a:pt x="1040" y="160"/>
                  <a:pt x="1040" y="160"/>
                </a:cubicBezTo>
                <a:cubicBezTo>
                  <a:pt x="1114" y="86"/>
                  <a:pt x="1114" y="86"/>
                  <a:pt x="1114" y="86"/>
                </a:cubicBezTo>
                <a:cubicBezTo>
                  <a:pt x="1117" y="83"/>
                  <a:pt x="1117" y="79"/>
                  <a:pt x="1114" y="7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 name="Slide Number Placeholder 1">
            <a:extLst>
              <a:ext uri="{FF2B5EF4-FFF2-40B4-BE49-F238E27FC236}">
                <a16:creationId xmlns:a16="http://schemas.microsoft.com/office/drawing/2014/main" id="{494C9E16-5562-B194-0477-FC7BA6359FA6}"/>
              </a:ext>
            </a:extLst>
          </p:cNvPr>
          <p:cNvSpPr>
            <a:spLocks noGrp="1"/>
          </p:cNvSpPr>
          <p:nvPr>
            <p:ph type="sldNum" sz="quarter" idx="12"/>
          </p:nvPr>
        </p:nvSpPr>
        <p:spPr>
          <a:xfrm>
            <a:off x="424248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7</a:t>
            </a:fld>
            <a:endParaRPr lang="en-US"/>
          </a:p>
        </p:txBody>
      </p:sp>
      <p:graphicFrame>
        <p:nvGraphicFramePr>
          <p:cNvPr id="5" name="Chart 0">
            <a:extLst>
              <a:ext uri="{FF2B5EF4-FFF2-40B4-BE49-F238E27FC236}">
                <a16:creationId xmlns:a16="http://schemas.microsoft.com/office/drawing/2014/main" id="{F2AAD91B-CF32-3BCA-17A0-59723403A0EE}"/>
              </a:ext>
            </a:extLst>
          </p:cNvPr>
          <p:cNvGraphicFramePr/>
          <p:nvPr>
            <p:extLst>
              <p:ext uri="{D42A27DB-BD31-4B8C-83A1-F6EECF244321}">
                <p14:modId xmlns:p14="http://schemas.microsoft.com/office/powerpoint/2010/main" val="2997299834"/>
              </p:ext>
            </p:extLst>
          </p:nvPr>
        </p:nvGraphicFramePr>
        <p:xfrm>
          <a:off x="4690794" y="672286"/>
          <a:ext cx="3554847" cy="3946915"/>
        </p:xfrm>
        <a:graphic>
          <a:graphicData uri="http://schemas.openxmlformats.org/drawingml/2006/chart">
            <c:chart xmlns:c="http://schemas.openxmlformats.org/drawingml/2006/chart" xmlns:r="http://schemas.openxmlformats.org/officeDocument/2006/relationships" r:id="rId4"/>
          </a:graphicData>
        </a:graphic>
      </p:graphicFrame>
      <p:pic>
        <p:nvPicPr>
          <p:cNvPr id="7" name="Picture 6">
            <a:extLst>
              <a:ext uri="{FF2B5EF4-FFF2-40B4-BE49-F238E27FC236}">
                <a16:creationId xmlns:a16="http://schemas.microsoft.com/office/drawing/2014/main" id="{DD822A74-148F-90D1-E34D-188DC0B428F5}"/>
              </a:ext>
            </a:extLst>
          </p:cNvPr>
          <p:cNvPicPr>
            <a:picLocks noChangeAspect="1"/>
          </p:cNvPicPr>
          <p:nvPr/>
        </p:nvPicPr>
        <p:blipFill>
          <a:blip r:embed="rId5"/>
          <a:stretch>
            <a:fillRect/>
          </a:stretch>
        </p:blipFill>
        <p:spPr>
          <a:xfrm>
            <a:off x="8646695" y="620388"/>
            <a:ext cx="3303717" cy="4092716"/>
          </a:xfrm>
          <a:prstGeom prst="rect">
            <a:avLst/>
          </a:prstGeom>
        </p:spPr>
      </p:pic>
    </p:spTree>
    <p:extLst>
      <p:ext uri="{BB962C8B-B14F-4D97-AF65-F5344CB8AC3E}">
        <p14:creationId xmlns:p14="http://schemas.microsoft.com/office/powerpoint/2010/main" val="4180393573"/>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6" name="arrow.wav"/>
          </p:stSnd>
        </p:sndAc>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49E8414E-D15E-68D2-9D23-1B4994F7BFC5}"/>
            </a:ext>
          </a:extLst>
        </p:cNvPr>
        <p:cNvGrpSpPr/>
        <p:nvPr/>
      </p:nvGrpSpPr>
      <p:grpSpPr>
        <a:xfrm>
          <a:off x="0" y="0"/>
          <a:ext cx="0" cy="0"/>
          <a:chOff x="0" y="0"/>
          <a:chExt cx="0" cy="0"/>
        </a:xfrm>
      </p:grpSpPr>
      <p:grpSp>
        <p:nvGrpSpPr>
          <p:cNvPr id="148" name="Group 147">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149"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50"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51"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52"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53"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54"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55"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56"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57"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58"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59"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60"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62" name="Group 161">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163"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64"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65"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66"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67"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8"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69"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70"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71"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72"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73"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74"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76" name="Rectangle 175">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8"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180" name="Rectangle 179">
            <a:extLst>
              <a:ext uri="{FF2B5EF4-FFF2-40B4-BE49-F238E27FC236}">
                <a16:creationId xmlns:a16="http://schemas.microsoft.com/office/drawing/2014/main" id="{22589B50-D615-4630-B6F7-29E99FF2C4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Rectangle 181">
            <a:extLst>
              <a:ext uri="{FF2B5EF4-FFF2-40B4-BE49-F238E27FC236}">
                <a16:creationId xmlns:a16="http://schemas.microsoft.com/office/drawing/2014/main" id="{B87A83DF-4E7A-4A81-867E-10E29C4BD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 y="0"/>
            <a:ext cx="6111243"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 name="Rectangle 3">
            <a:extLst>
              <a:ext uri="{FF2B5EF4-FFF2-40B4-BE49-F238E27FC236}">
                <a16:creationId xmlns:a16="http://schemas.microsoft.com/office/drawing/2014/main" id="{951A0FD8-2016-7E45-1231-C5B4FC65D80A}"/>
              </a:ext>
            </a:extLst>
          </p:cNvPr>
          <p:cNvSpPr>
            <a:spLocks noGrp="1" noChangeArrowheads="1"/>
          </p:cNvSpPr>
          <p:nvPr>
            <p:ph type="title"/>
          </p:nvPr>
        </p:nvSpPr>
        <p:spPr bwMode="auto">
          <a:xfrm>
            <a:off x="540279" y="967417"/>
            <a:ext cx="5280460" cy="3943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rmAutofit/>
          </a:bodyPr>
          <a:lstStyle/>
          <a:p>
            <a:r>
              <a:rPr lang="en-US" sz="4000" b="1">
                <a:solidFill>
                  <a:srgbClr val="FEFFFF"/>
                </a:solidFill>
              </a:rPr>
              <a:t>Approval Rate by Key  Categories</a:t>
            </a:r>
            <a:endParaRPr lang="en-US" sz="4000">
              <a:solidFill>
                <a:srgbClr val="FEFFFF"/>
              </a:solidFill>
            </a:endParaRPr>
          </a:p>
        </p:txBody>
      </p:sp>
      <p:sp>
        <p:nvSpPr>
          <p:cNvPr id="184" name="Freeform 27">
            <a:extLst>
              <a:ext uri="{FF2B5EF4-FFF2-40B4-BE49-F238E27FC236}">
                <a16:creationId xmlns:a16="http://schemas.microsoft.com/office/drawing/2014/main" id="{435515D7-4CE9-4558-BA93-E245EFB64C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6881206" cy="857047"/>
          </a:xfrm>
          <a:custGeom>
            <a:avLst/>
            <a:gdLst>
              <a:gd name="connsiteX0" fmla="*/ 0 w 6881206"/>
              <a:gd name="connsiteY0" fmla="*/ 0 h 857047"/>
              <a:gd name="connsiteX1" fmla="*/ 653445 w 6881206"/>
              <a:gd name="connsiteY1" fmla="*/ 0 h 857047"/>
              <a:gd name="connsiteX2" fmla="*/ 1156123 w 6881206"/>
              <a:gd name="connsiteY2" fmla="*/ 0 h 857047"/>
              <a:gd name="connsiteX3" fmla="*/ 1380221 w 6881206"/>
              <a:gd name="connsiteY3" fmla="*/ 0 h 857047"/>
              <a:gd name="connsiteX4" fmla="*/ 1444324 w 6881206"/>
              <a:gd name="connsiteY4" fmla="*/ 0 h 857047"/>
              <a:gd name="connsiteX5" fmla="*/ 1522072 w 6881206"/>
              <a:gd name="connsiteY5" fmla="*/ 0 h 857047"/>
              <a:gd name="connsiteX6" fmla="*/ 1596570 w 6881206"/>
              <a:gd name="connsiteY6" fmla="*/ 0 h 857047"/>
              <a:gd name="connsiteX7" fmla="*/ 1893047 w 6881206"/>
              <a:gd name="connsiteY7" fmla="*/ 0 h 857047"/>
              <a:gd name="connsiteX8" fmla="*/ 1978260 w 6881206"/>
              <a:gd name="connsiteY8" fmla="*/ 0 h 857047"/>
              <a:gd name="connsiteX9" fmla="*/ 2032793 w 6881206"/>
              <a:gd name="connsiteY9" fmla="*/ 0 h 857047"/>
              <a:gd name="connsiteX10" fmla="*/ 2095032 w 6881206"/>
              <a:gd name="connsiteY10" fmla="*/ 0 h 857047"/>
              <a:gd name="connsiteX11" fmla="*/ 2574748 w 6881206"/>
              <a:gd name="connsiteY11" fmla="*/ 0 h 857047"/>
              <a:gd name="connsiteX12" fmla="*/ 2712413 w 6881206"/>
              <a:gd name="connsiteY12" fmla="*/ 0 h 857047"/>
              <a:gd name="connsiteX13" fmla="*/ 2724164 w 6881206"/>
              <a:gd name="connsiteY13" fmla="*/ 0 h 857047"/>
              <a:gd name="connsiteX14" fmla="*/ 2806423 w 6881206"/>
              <a:gd name="connsiteY14" fmla="*/ 0 h 857047"/>
              <a:gd name="connsiteX15" fmla="*/ 2975563 w 6881206"/>
              <a:gd name="connsiteY15" fmla="*/ 0 h 857047"/>
              <a:gd name="connsiteX16" fmla="*/ 3029696 w 6881206"/>
              <a:gd name="connsiteY16" fmla="*/ 0 h 857047"/>
              <a:gd name="connsiteX17" fmla="*/ 3216247 w 6881206"/>
              <a:gd name="connsiteY17" fmla="*/ 0 h 857047"/>
              <a:gd name="connsiteX18" fmla="*/ 3464491 w 6881206"/>
              <a:gd name="connsiteY18" fmla="*/ 0 h 857047"/>
              <a:gd name="connsiteX19" fmla="*/ 3476820 w 6881206"/>
              <a:gd name="connsiteY19" fmla="*/ 0 h 857047"/>
              <a:gd name="connsiteX20" fmla="*/ 3508932 w 6881206"/>
              <a:gd name="connsiteY20" fmla="*/ 0 h 857047"/>
              <a:gd name="connsiteX21" fmla="*/ 3518154 w 6881206"/>
              <a:gd name="connsiteY21" fmla="*/ 0 h 857047"/>
              <a:gd name="connsiteX22" fmla="*/ 3563124 w 6881206"/>
              <a:gd name="connsiteY22" fmla="*/ 0 h 857047"/>
              <a:gd name="connsiteX23" fmla="*/ 3568615 w 6881206"/>
              <a:gd name="connsiteY23" fmla="*/ 0 h 857047"/>
              <a:gd name="connsiteX24" fmla="*/ 3582711 w 6881206"/>
              <a:gd name="connsiteY24" fmla="*/ 0 h 857047"/>
              <a:gd name="connsiteX25" fmla="*/ 3607047 w 6881206"/>
              <a:gd name="connsiteY25" fmla="*/ 0 h 857047"/>
              <a:gd name="connsiteX26" fmla="*/ 3711363 w 6881206"/>
              <a:gd name="connsiteY26" fmla="*/ 0 h 857047"/>
              <a:gd name="connsiteX27" fmla="*/ 3757936 w 6881206"/>
              <a:gd name="connsiteY27" fmla="*/ 0 h 857047"/>
              <a:gd name="connsiteX28" fmla="*/ 3914505 w 6881206"/>
              <a:gd name="connsiteY28" fmla="*/ 0 h 857047"/>
              <a:gd name="connsiteX29" fmla="*/ 4099165 w 6881206"/>
              <a:gd name="connsiteY29" fmla="*/ 0 h 857047"/>
              <a:gd name="connsiteX30" fmla="*/ 4176573 w 6881206"/>
              <a:gd name="connsiteY30" fmla="*/ 0 h 857047"/>
              <a:gd name="connsiteX31" fmla="*/ 4211043 w 6881206"/>
              <a:gd name="connsiteY31" fmla="*/ 0 h 857047"/>
              <a:gd name="connsiteX32" fmla="*/ 4249415 w 6881206"/>
              <a:gd name="connsiteY32" fmla="*/ 0 h 857047"/>
              <a:gd name="connsiteX33" fmla="*/ 4292911 w 6881206"/>
              <a:gd name="connsiteY33" fmla="*/ 0 h 857047"/>
              <a:gd name="connsiteX34" fmla="*/ 4715176 w 6881206"/>
              <a:gd name="connsiteY34" fmla="*/ 0 h 857047"/>
              <a:gd name="connsiteX35" fmla="*/ 4749035 w 6881206"/>
              <a:gd name="connsiteY35" fmla="*/ 0 h 857047"/>
              <a:gd name="connsiteX36" fmla="*/ 5107279 w 6881206"/>
              <a:gd name="connsiteY36" fmla="*/ 0 h 857047"/>
              <a:gd name="connsiteX37" fmla="*/ 5446306 w 6881206"/>
              <a:gd name="connsiteY37" fmla="*/ 0 h 857047"/>
              <a:gd name="connsiteX38" fmla="*/ 5654500 w 6881206"/>
              <a:gd name="connsiteY38" fmla="*/ 0 h 857047"/>
              <a:gd name="connsiteX39" fmla="*/ 5879355 w 6881206"/>
              <a:gd name="connsiteY39" fmla="*/ 0 h 857047"/>
              <a:gd name="connsiteX40" fmla="*/ 6374171 w 6881206"/>
              <a:gd name="connsiteY40" fmla="*/ 0 h 857047"/>
              <a:gd name="connsiteX41" fmla="*/ 6382691 w 6881206"/>
              <a:gd name="connsiteY41" fmla="*/ 0 h 857047"/>
              <a:gd name="connsiteX42" fmla="*/ 6406881 w 6881206"/>
              <a:gd name="connsiteY42" fmla="*/ 10516 h 857047"/>
              <a:gd name="connsiteX43" fmla="*/ 6411719 w 6881206"/>
              <a:gd name="connsiteY43" fmla="*/ 15774 h 857047"/>
              <a:gd name="connsiteX44" fmla="*/ 6412418 w 6881206"/>
              <a:gd name="connsiteY44" fmla="*/ 16534 h 857047"/>
              <a:gd name="connsiteX45" fmla="*/ 6413765 w 6881206"/>
              <a:gd name="connsiteY45" fmla="*/ 17998 h 857047"/>
              <a:gd name="connsiteX46" fmla="*/ 6418286 w 6881206"/>
              <a:gd name="connsiteY46" fmla="*/ 21854 h 857047"/>
              <a:gd name="connsiteX47" fmla="*/ 6867337 w 6881206"/>
              <a:gd name="connsiteY47" fmla="*/ 404863 h 857047"/>
              <a:gd name="connsiteX48" fmla="*/ 6867337 w 6881206"/>
              <a:gd name="connsiteY48" fmla="*/ 452185 h 857047"/>
              <a:gd name="connsiteX49" fmla="*/ 6491457 w 6881206"/>
              <a:gd name="connsiteY49" fmla="*/ 772784 h 857047"/>
              <a:gd name="connsiteX50" fmla="*/ 6413765 w 6881206"/>
              <a:gd name="connsiteY50" fmla="*/ 839050 h 857047"/>
              <a:gd name="connsiteX51" fmla="*/ 6411719 w 6881206"/>
              <a:gd name="connsiteY51" fmla="*/ 841273 h 857047"/>
              <a:gd name="connsiteX52" fmla="*/ 6406881 w 6881206"/>
              <a:gd name="connsiteY52" fmla="*/ 846531 h 857047"/>
              <a:gd name="connsiteX53" fmla="*/ 6382691 w 6881206"/>
              <a:gd name="connsiteY53" fmla="*/ 857047 h 857047"/>
              <a:gd name="connsiteX54" fmla="*/ 6374171 w 6881206"/>
              <a:gd name="connsiteY54" fmla="*/ 857047 h 857047"/>
              <a:gd name="connsiteX55" fmla="*/ 6368680 w 6881206"/>
              <a:gd name="connsiteY55" fmla="*/ 857047 h 857047"/>
              <a:gd name="connsiteX56" fmla="*/ 6348221 w 6881206"/>
              <a:gd name="connsiteY56" fmla="*/ 857047 h 857047"/>
              <a:gd name="connsiteX57" fmla="*/ 6330248 w 6881206"/>
              <a:gd name="connsiteY57" fmla="*/ 857047 h 857047"/>
              <a:gd name="connsiteX58" fmla="*/ 6266353 w 6881206"/>
              <a:gd name="connsiteY58" fmla="*/ 857047 h 857047"/>
              <a:gd name="connsiteX59" fmla="*/ 6225932 w 6881206"/>
              <a:gd name="connsiteY59" fmla="*/ 857047 h 857047"/>
              <a:gd name="connsiteX60" fmla="*/ 6106926 w 6881206"/>
              <a:gd name="connsiteY60" fmla="*/ 857047 h 857047"/>
              <a:gd name="connsiteX61" fmla="*/ 6022790 w 6881206"/>
              <a:gd name="connsiteY61" fmla="*/ 857047 h 857047"/>
              <a:gd name="connsiteX62" fmla="*/ 5844088 w 6881206"/>
              <a:gd name="connsiteY62" fmla="*/ 857047 h 857047"/>
              <a:gd name="connsiteX63" fmla="*/ 5687880 w 6881206"/>
              <a:gd name="connsiteY63" fmla="*/ 857047 h 857047"/>
              <a:gd name="connsiteX64" fmla="*/ 5451985 w 6881206"/>
              <a:gd name="connsiteY64" fmla="*/ 857047 h 857047"/>
              <a:gd name="connsiteX65" fmla="*/ 5188261 w 6881206"/>
              <a:gd name="connsiteY65" fmla="*/ 857047 h 857047"/>
              <a:gd name="connsiteX66" fmla="*/ 4904764 w 6881206"/>
              <a:gd name="connsiteY66" fmla="*/ 857047 h 857047"/>
              <a:gd name="connsiteX67" fmla="*/ 4490989 w 6881206"/>
              <a:gd name="connsiteY67" fmla="*/ 857047 h 857047"/>
              <a:gd name="connsiteX68" fmla="*/ 4176573 w 6881206"/>
              <a:gd name="connsiteY68" fmla="*/ 857047 h 857047"/>
              <a:gd name="connsiteX69" fmla="*/ 4099165 w 6881206"/>
              <a:gd name="connsiteY69" fmla="*/ 857047 h 857047"/>
              <a:gd name="connsiteX70" fmla="*/ 4089943 w 6881206"/>
              <a:gd name="connsiteY70" fmla="*/ 857047 h 857047"/>
              <a:gd name="connsiteX71" fmla="*/ 4057940 w 6881206"/>
              <a:gd name="connsiteY71" fmla="*/ 857047 h 857047"/>
              <a:gd name="connsiteX72" fmla="*/ 4025386 w 6881206"/>
              <a:gd name="connsiteY72" fmla="*/ 857047 h 857047"/>
              <a:gd name="connsiteX73" fmla="*/ 3850160 w 6881206"/>
              <a:gd name="connsiteY73" fmla="*/ 857047 h 857047"/>
              <a:gd name="connsiteX74" fmla="*/ 3563124 w 6881206"/>
              <a:gd name="connsiteY74" fmla="*/ 857047 h 857047"/>
              <a:gd name="connsiteX75" fmla="*/ 3550795 w 6881206"/>
              <a:gd name="connsiteY75" fmla="*/ 857047 h 857047"/>
              <a:gd name="connsiteX76" fmla="*/ 3508932 w 6881206"/>
              <a:gd name="connsiteY76" fmla="*/ 857047 h 857047"/>
              <a:gd name="connsiteX77" fmla="*/ 3483683 w 6881206"/>
              <a:gd name="connsiteY77" fmla="*/ 857047 h 857047"/>
              <a:gd name="connsiteX78" fmla="*/ 3464491 w 6881206"/>
              <a:gd name="connsiteY78" fmla="*/ 857047 h 857047"/>
              <a:gd name="connsiteX79" fmla="*/ 3452740 w 6881206"/>
              <a:gd name="connsiteY79" fmla="*/ 857047 h 857047"/>
              <a:gd name="connsiteX80" fmla="*/ 3423719 w 6881206"/>
              <a:gd name="connsiteY80" fmla="*/ 857047 h 857047"/>
              <a:gd name="connsiteX81" fmla="*/ 3370481 w 6881206"/>
              <a:gd name="connsiteY81" fmla="*/ 857047 h 857047"/>
              <a:gd name="connsiteX82" fmla="*/ 3306946 w 6881206"/>
              <a:gd name="connsiteY82" fmla="*/ 857047 h 857047"/>
              <a:gd name="connsiteX83" fmla="*/ 3147208 w 6881206"/>
              <a:gd name="connsiteY83" fmla="*/ 857047 h 857047"/>
              <a:gd name="connsiteX84" fmla="*/ 3114429 w 6881206"/>
              <a:gd name="connsiteY84" fmla="*/ 857047 h 857047"/>
              <a:gd name="connsiteX85" fmla="*/ 2960658 w 6881206"/>
              <a:gd name="connsiteY85" fmla="*/ 857047 h 857047"/>
              <a:gd name="connsiteX86" fmla="*/ 2827230 w 6881206"/>
              <a:gd name="connsiteY86" fmla="*/ 857047 h 857047"/>
              <a:gd name="connsiteX87" fmla="*/ 2712413 w 6881206"/>
              <a:gd name="connsiteY87" fmla="*/ 857047 h 857047"/>
              <a:gd name="connsiteX88" fmla="*/ 2680242 w 6881206"/>
              <a:gd name="connsiteY88" fmla="*/ 857047 h 857047"/>
              <a:gd name="connsiteX89" fmla="*/ 2603835 w 6881206"/>
              <a:gd name="connsiteY89" fmla="*/ 857047 h 857047"/>
              <a:gd name="connsiteX90" fmla="*/ 2455042 w 6881206"/>
              <a:gd name="connsiteY90" fmla="*/ 857047 h 857047"/>
              <a:gd name="connsiteX91" fmla="*/ 2426415 w 6881206"/>
              <a:gd name="connsiteY91" fmla="*/ 857047 h 857047"/>
              <a:gd name="connsiteX92" fmla="*/ 2209736 w 6881206"/>
              <a:gd name="connsiteY92" fmla="*/ 857047 h 857047"/>
              <a:gd name="connsiteX93" fmla="*/ 1893047 w 6881206"/>
              <a:gd name="connsiteY93" fmla="*/ 857047 h 857047"/>
              <a:gd name="connsiteX94" fmla="*/ 1885034 w 6881206"/>
              <a:gd name="connsiteY94" fmla="*/ 857047 h 857047"/>
              <a:gd name="connsiteX95" fmla="*/ 1843786 w 6881206"/>
              <a:gd name="connsiteY95" fmla="*/ 857047 h 857047"/>
              <a:gd name="connsiteX96" fmla="*/ 1828944 w 6881206"/>
              <a:gd name="connsiteY96" fmla="*/ 857047 h 857047"/>
              <a:gd name="connsiteX97" fmla="*/ 1380221 w 6881206"/>
              <a:gd name="connsiteY97" fmla="*/ 857047 h 857047"/>
              <a:gd name="connsiteX98" fmla="*/ 1333065 w 6881206"/>
              <a:gd name="connsiteY98" fmla="*/ 857047 h 857047"/>
              <a:gd name="connsiteX99" fmla="*/ 653445 w 6881206"/>
              <a:gd name="connsiteY99" fmla="*/ 857047 h 857047"/>
              <a:gd name="connsiteX100" fmla="*/ 0 w 6881206"/>
              <a:gd name="connsiteY100" fmla="*/ 857047 h 857047"/>
              <a:gd name="connsiteX101" fmla="*/ 0 w 6881206"/>
              <a:gd name="connsiteY101" fmla="*/ 0 h 857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6881206" h="857047">
                <a:moveTo>
                  <a:pt x="0" y="0"/>
                </a:moveTo>
                <a:cubicBezTo>
                  <a:pt x="0" y="0"/>
                  <a:pt x="0" y="0"/>
                  <a:pt x="653445" y="0"/>
                </a:cubicBezTo>
                <a:cubicBezTo>
                  <a:pt x="653445" y="0"/>
                  <a:pt x="653445" y="0"/>
                  <a:pt x="1156123" y="0"/>
                </a:cubicBezTo>
                <a:lnTo>
                  <a:pt x="1380221" y="0"/>
                </a:lnTo>
                <a:cubicBezTo>
                  <a:pt x="1380221" y="0"/>
                  <a:pt x="1380221" y="0"/>
                  <a:pt x="1444324" y="0"/>
                </a:cubicBezTo>
                <a:lnTo>
                  <a:pt x="1522072" y="0"/>
                </a:lnTo>
                <a:lnTo>
                  <a:pt x="1596570" y="0"/>
                </a:lnTo>
                <a:cubicBezTo>
                  <a:pt x="1668686" y="0"/>
                  <a:pt x="1764840" y="0"/>
                  <a:pt x="1893047" y="0"/>
                </a:cubicBezTo>
                <a:cubicBezTo>
                  <a:pt x="1893047" y="0"/>
                  <a:pt x="1893047" y="0"/>
                  <a:pt x="1978260" y="0"/>
                </a:cubicBezTo>
                <a:lnTo>
                  <a:pt x="2032793" y="0"/>
                </a:lnTo>
                <a:lnTo>
                  <a:pt x="2095032" y="0"/>
                </a:lnTo>
                <a:cubicBezTo>
                  <a:pt x="2196025" y="0"/>
                  <a:pt x="2347515" y="0"/>
                  <a:pt x="2574748" y="0"/>
                </a:cubicBezTo>
                <a:lnTo>
                  <a:pt x="2712413" y="0"/>
                </a:lnTo>
                <a:lnTo>
                  <a:pt x="2724164" y="0"/>
                </a:lnTo>
                <a:lnTo>
                  <a:pt x="2806423" y="0"/>
                </a:lnTo>
                <a:lnTo>
                  <a:pt x="2975563" y="0"/>
                </a:lnTo>
                <a:lnTo>
                  <a:pt x="3029696" y="0"/>
                </a:lnTo>
                <a:lnTo>
                  <a:pt x="3216247" y="0"/>
                </a:lnTo>
                <a:lnTo>
                  <a:pt x="3464491" y="0"/>
                </a:lnTo>
                <a:lnTo>
                  <a:pt x="3476820" y="0"/>
                </a:lnTo>
                <a:lnTo>
                  <a:pt x="3508932" y="0"/>
                </a:lnTo>
                <a:cubicBezTo>
                  <a:pt x="3508932" y="0"/>
                  <a:pt x="3508932" y="0"/>
                  <a:pt x="3518154" y="0"/>
                </a:cubicBezTo>
                <a:lnTo>
                  <a:pt x="3563124" y="0"/>
                </a:lnTo>
                <a:lnTo>
                  <a:pt x="3568615" y="0"/>
                </a:lnTo>
                <a:lnTo>
                  <a:pt x="3582711" y="0"/>
                </a:lnTo>
                <a:lnTo>
                  <a:pt x="3607047" y="0"/>
                </a:lnTo>
                <a:lnTo>
                  <a:pt x="3711363" y="0"/>
                </a:lnTo>
                <a:lnTo>
                  <a:pt x="3757936" y="0"/>
                </a:lnTo>
                <a:lnTo>
                  <a:pt x="3914505" y="0"/>
                </a:lnTo>
                <a:lnTo>
                  <a:pt x="4099165" y="0"/>
                </a:lnTo>
                <a:cubicBezTo>
                  <a:pt x="4099165" y="0"/>
                  <a:pt x="4099165" y="0"/>
                  <a:pt x="4176573" y="0"/>
                </a:cubicBezTo>
                <a:cubicBezTo>
                  <a:pt x="4176573" y="0"/>
                  <a:pt x="4176573" y="0"/>
                  <a:pt x="4211043" y="0"/>
                </a:cubicBezTo>
                <a:lnTo>
                  <a:pt x="4249415" y="0"/>
                </a:lnTo>
                <a:lnTo>
                  <a:pt x="4292911" y="0"/>
                </a:lnTo>
                <a:cubicBezTo>
                  <a:pt x="4370470" y="0"/>
                  <a:pt x="4499735" y="0"/>
                  <a:pt x="4715176" y="0"/>
                </a:cubicBezTo>
                <a:lnTo>
                  <a:pt x="4749035" y="0"/>
                </a:lnTo>
                <a:lnTo>
                  <a:pt x="5107279" y="0"/>
                </a:lnTo>
                <a:lnTo>
                  <a:pt x="5446306" y="0"/>
                </a:lnTo>
                <a:lnTo>
                  <a:pt x="5654500" y="0"/>
                </a:lnTo>
                <a:lnTo>
                  <a:pt x="5879355" y="0"/>
                </a:lnTo>
                <a:lnTo>
                  <a:pt x="6374171" y="0"/>
                </a:lnTo>
                <a:lnTo>
                  <a:pt x="6382691" y="0"/>
                </a:lnTo>
                <a:cubicBezTo>
                  <a:pt x="6392367" y="0"/>
                  <a:pt x="6402043" y="5258"/>
                  <a:pt x="6406881" y="10516"/>
                </a:cubicBezTo>
                <a:cubicBezTo>
                  <a:pt x="6406881" y="10516"/>
                  <a:pt x="6411719" y="10516"/>
                  <a:pt x="6411719" y="15774"/>
                </a:cubicBezTo>
                <a:cubicBezTo>
                  <a:pt x="6411719" y="15774"/>
                  <a:pt x="6411719" y="15774"/>
                  <a:pt x="6412418" y="16534"/>
                </a:cubicBezTo>
                <a:lnTo>
                  <a:pt x="6413765" y="17998"/>
                </a:lnTo>
                <a:lnTo>
                  <a:pt x="6418286" y="21854"/>
                </a:lnTo>
                <a:cubicBezTo>
                  <a:pt x="6439669" y="40092"/>
                  <a:pt x="6525203" y="113046"/>
                  <a:pt x="6867337" y="404863"/>
                </a:cubicBezTo>
                <a:cubicBezTo>
                  <a:pt x="6885830" y="415379"/>
                  <a:pt x="6885830" y="436411"/>
                  <a:pt x="6867337" y="452185"/>
                </a:cubicBezTo>
                <a:cubicBezTo>
                  <a:pt x="6867337" y="452185"/>
                  <a:pt x="6867337" y="452185"/>
                  <a:pt x="6491457" y="772784"/>
                </a:cubicBezTo>
                <a:lnTo>
                  <a:pt x="6413765" y="839050"/>
                </a:lnTo>
                <a:lnTo>
                  <a:pt x="6411719" y="841273"/>
                </a:lnTo>
                <a:cubicBezTo>
                  <a:pt x="6411719" y="841273"/>
                  <a:pt x="6406881" y="841273"/>
                  <a:pt x="6406881" y="846531"/>
                </a:cubicBezTo>
                <a:cubicBezTo>
                  <a:pt x="6402043" y="851789"/>
                  <a:pt x="6392367" y="857047"/>
                  <a:pt x="6382691" y="857047"/>
                </a:cubicBezTo>
                <a:lnTo>
                  <a:pt x="6374171" y="857047"/>
                </a:lnTo>
                <a:lnTo>
                  <a:pt x="6368680" y="857047"/>
                </a:lnTo>
                <a:lnTo>
                  <a:pt x="6348221" y="857047"/>
                </a:lnTo>
                <a:lnTo>
                  <a:pt x="6330248" y="857047"/>
                </a:lnTo>
                <a:lnTo>
                  <a:pt x="6266353" y="857047"/>
                </a:lnTo>
                <a:lnTo>
                  <a:pt x="6225932" y="857047"/>
                </a:lnTo>
                <a:lnTo>
                  <a:pt x="6106926" y="857047"/>
                </a:lnTo>
                <a:lnTo>
                  <a:pt x="6022790" y="857047"/>
                </a:lnTo>
                <a:lnTo>
                  <a:pt x="5844088" y="857047"/>
                </a:lnTo>
                <a:lnTo>
                  <a:pt x="5687880" y="857047"/>
                </a:lnTo>
                <a:lnTo>
                  <a:pt x="5451985" y="857047"/>
                </a:lnTo>
                <a:lnTo>
                  <a:pt x="5188261" y="857047"/>
                </a:lnTo>
                <a:lnTo>
                  <a:pt x="4904764" y="857047"/>
                </a:lnTo>
                <a:lnTo>
                  <a:pt x="4490989" y="857047"/>
                </a:lnTo>
                <a:lnTo>
                  <a:pt x="4176573" y="857047"/>
                </a:lnTo>
                <a:cubicBezTo>
                  <a:pt x="4176573" y="857047"/>
                  <a:pt x="4176573" y="857047"/>
                  <a:pt x="4099165" y="857047"/>
                </a:cubicBezTo>
                <a:cubicBezTo>
                  <a:pt x="4099165" y="857047"/>
                  <a:pt x="4099165" y="857047"/>
                  <a:pt x="4089943" y="857047"/>
                </a:cubicBezTo>
                <a:lnTo>
                  <a:pt x="4057940" y="857047"/>
                </a:lnTo>
                <a:lnTo>
                  <a:pt x="4025386" y="857047"/>
                </a:lnTo>
                <a:cubicBezTo>
                  <a:pt x="3988496" y="857047"/>
                  <a:pt x="3933162" y="857047"/>
                  <a:pt x="3850160" y="857047"/>
                </a:cubicBezTo>
                <a:lnTo>
                  <a:pt x="3563124" y="857047"/>
                </a:lnTo>
                <a:lnTo>
                  <a:pt x="3550795" y="857047"/>
                </a:lnTo>
                <a:lnTo>
                  <a:pt x="3508932" y="857047"/>
                </a:lnTo>
                <a:cubicBezTo>
                  <a:pt x="3508932" y="857047"/>
                  <a:pt x="3508932" y="857047"/>
                  <a:pt x="3483683" y="857047"/>
                </a:cubicBezTo>
                <a:lnTo>
                  <a:pt x="3464491" y="857047"/>
                </a:lnTo>
                <a:lnTo>
                  <a:pt x="3452740" y="857047"/>
                </a:lnTo>
                <a:lnTo>
                  <a:pt x="3423719" y="857047"/>
                </a:lnTo>
                <a:lnTo>
                  <a:pt x="3370481" y="857047"/>
                </a:lnTo>
                <a:lnTo>
                  <a:pt x="3306946" y="857047"/>
                </a:lnTo>
                <a:lnTo>
                  <a:pt x="3147208" y="857047"/>
                </a:lnTo>
                <a:lnTo>
                  <a:pt x="3114429" y="857047"/>
                </a:lnTo>
                <a:lnTo>
                  <a:pt x="2960658" y="857047"/>
                </a:lnTo>
                <a:lnTo>
                  <a:pt x="2827230" y="857047"/>
                </a:lnTo>
                <a:lnTo>
                  <a:pt x="2712413" y="857047"/>
                </a:lnTo>
                <a:lnTo>
                  <a:pt x="2680242" y="857047"/>
                </a:lnTo>
                <a:lnTo>
                  <a:pt x="2603835" y="857047"/>
                </a:lnTo>
                <a:lnTo>
                  <a:pt x="2455042" y="857047"/>
                </a:lnTo>
                <a:lnTo>
                  <a:pt x="2426415" y="857047"/>
                </a:lnTo>
                <a:lnTo>
                  <a:pt x="2209736" y="857047"/>
                </a:lnTo>
                <a:lnTo>
                  <a:pt x="1893047" y="857047"/>
                </a:lnTo>
                <a:cubicBezTo>
                  <a:pt x="1893047" y="857047"/>
                  <a:pt x="1893047" y="857047"/>
                  <a:pt x="1885034" y="857047"/>
                </a:cubicBezTo>
                <a:lnTo>
                  <a:pt x="1843786" y="857047"/>
                </a:lnTo>
                <a:lnTo>
                  <a:pt x="1828944" y="857047"/>
                </a:lnTo>
                <a:cubicBezTo>
                  <a:pt x="1764840" y="857047"/>
                  <a:pt x="1636634" y="857047"/>
                  <a:pt x="1380221" y="857047"/>
                </a:cubicBezTo>
                <a:lnTo>
                  <a:pt x="1333065" y="857047"/>
                </a:lnTo>
                <a:cubicBezTo>
                  <a:pt x="1136016" y="857047"/>
                  <a:pt x="910816" y="857047"/>
                  <a:pt x="653445" y="857047"/>
                </a:cubicBezTo>
                <a:cubicBezTo>
                  <a:pt x="653445" y="857047"/>
                  <a:pt x="653445" y="857047"/>
                  <a:pt x="0" y="857047"/>
                </a:cubicBezTo>
                <a:cubicBezTo>
                  <a:pt x="0" y="857047"/>
                  <a:pt x="0" y="857047"/>
                  <a:pt x="0" y="0"/>
                </a:cubicBez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a:p>
        </p:txBody>
      </p:sp>
      <p:sp>
        <p:nvSpPr>
          <p:cNvPr id="3" name="Slide Number Placeholder 2">
            <a:extLst>
              <a:ext uri="{FF2B5EF4-FFF2-40B4-BE49-F238E27FC236}">
                <a16:creationId xmlns:a16="http://schemas.microsoft.com/office/drawing/2014/main" id="{0AAB132F-D52E-E628-5E23-C1FAA203A689}"/>
              </a:ext>
            </a:extLst>
          </p:cNvPr>
          <p:cNvSpPr>
            <a:spLocks noGrp="1"/>
          </p:cNvSpPr>
          <p:nvPr>
            <p:ph type="sldNum" sz="quarter" idx="12"/>
          </p:nvPr>
        </p:nvSpPr>
        <p:spPr>
          <a:xfrm>
            <a:off x="574407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8</a:t>
            </a:fld>
            <a:endParaRPr lang="en-US"/>
          </a:p>
        </p:txBody>
      </p:sp>
      <p:pic>
        <p:nvPicPr>
          <p:cNvPr id="2" name="Picture 1">
            <a:extLst>
              <a:ext uri="{FF2B5EF4-FFF2-40B4-BE49-F238E27FC236}">
                <a16:creationId xmlns:a16="http://schemas.microsoft.com/office/drawing/2014/main" id="{2CD4AEDC-3E65-9906-A795-3026C33BD57B}"/>
              </a:ext>
            </a:extLst>
          </p:cNvPr>
          <p:cNvPicPr>
            <a:picLocks noChangeAspect="1"/>
          </p:cNvPicPr>
          <p:nvPr/>
        </p:nvPicPr>
        <p:blipFill>
          <a:blip r:embed="rId4"/>
          <a:stretch>
            <a:fillRect/>
          </a:stretch>
        </p:blipFill>
        <p:spPr>
          <a:xfrm>
            <a:off x="6532762" y="1289198"/>
            <a:ext cx="5306311" cy="3263500"/>
          </a:xfrm>
          <a:prstGeom prst="rect">
            <a:avLst/>
          </a:prstGeom>
        </p:spPr>
      </p:pic>
    </p:spTree>
    <p:extLst>
      <p:ext uri="{BB962C8B-B14F-4D97-AF65-F5344CB8AC3E}">
        <p14:creationId xmlns:p14="http://schemas.microsoft.com/office/powerpoint/2010/main" val="2399552650"/>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a:extLst>
            <a:ext uri="{FF2B5EF4-FFF2-40B4-BE49-F238E27FC236}">
              <a16:creationId xmlns:a16="http://schemas.microsoft.com/office/drawing/2014/main" id="{CE83C802-0965-B15E-90D2-47148E13A532}"/>
            </a:ext>
          </a:extLst>
        </p:cNvPr>
        <p:cNvGrpSpPr/>
        <p:nvPr/>
      </p:nvGrpSpPr>
      <p:grpSpPr>
        <a:xfrm>
          <a:off x="0" y="0"/>
          <a:ext cx="0" cy="0"/>
          <a:chOff x="0" y="0"/>
          <a:chExt cx="0" cy="0"/>
        </a:xfrm>
      </p:grpSpPr>
      <p:grpSp>
        <p:nvGrpSpPr>
          <p:cNvPr id="272" name="Group 271">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273"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74"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75"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6"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77"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78"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279"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280"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281"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282"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283"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284"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286" name="Group 285">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287"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288"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289"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290"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291"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292"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293"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294"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295"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96"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97"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98"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300" name="Rectangle 299">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2"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304" name="Rectangle 303">
            <a:extLst>
              <a:ext uri="{FF2B5EF4-FFF2-40B4-BE49-F238E27FC236}">
                <a16:creationId xmlns:a16="http://schemas.microsoft.com/office/drawing/2014/main" id="{A692209D-B607-46C3-8560-07AF722916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6" name="Rectangle 305">
            <a:extLst>
              <a:ext uri="{FF2B5EF4-FFF2-40B4-BE49-F238E27FC236}">
                <a16:creationId xmlns:a16="http://schemas.microsoft.com/office/drawing/2014/main" id="{94874638-CF15-4908-BC4B-4908744D0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4639734"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2B99E6C7-3665-EF68-0AB6-46A9FFF0ED4C}"/>
              </a:ext>
            </a:extLst>
          </p:cNvPr>
          <p:cNvSpPr>
            <a:spLocks noGrp="1" noChangeArrowheads="1"/>
          </p:cNvSpPr>
          <p:nvPr>
            <p:ph type="title"/>
          </p:nvPr>
        </p:nvSpPr>
        <p:spPr bwMode="auto">
          <a:xfrm>
            <a:off x="540279" y="967417"/>
            <a:ext cx="3778870" cy="3943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b" anchorCtr="0" compatLnSpc="1">
            <a:prstTxWarp prst="textNoShape">
              <a:avLst/>
            </a:prstTxWarp>
            <a:normAutofit/>
          </a:bodyPr>
          <a:lstStyle/>
          <a:p>
            <a:pPr fontAlgn="base">
              <a:spcAft>
                <a:spcPct val="0"/>
              </a:spcAft>
            </a:pPr>
            <a:r>
              <a:rPr lang="en-US" sz="4000" b="1">
                <a:solidFill>
                  <a:srgbClr val="FEFFFF"/>
                </a:solidFill>
              </a:rPr>
              <a:t>Approval Rates by Category — Summary</a:t>
            </a:r>
            <a:br>
              <a:rPr lang="en-US" sz="4000">
                <a:solidFill>
                  <a:srgbClr val="FEFFFF"/>
                </a:solidFill>
              </a:rPr>
            </a:br>
            <a:endParaRPr kumimoji="0" lang="en-US" altLang="en-US" sz="4000" b="0" i="0" u="none" strike="noStrike" cap="none" normalizeH="0" baseline="0">
              <a:ln>
                <a:noFill/>
              </a:ln>
              <a:solidFill>
                <a:srgbClr val="FEFFFF"/>
              </a:solidFill>
              <a:effectLst/>
            </a:endParaRPr>
          </a:p>
        </p:txBody>
      </p:sp>
      <p:sp>
        <p:nvSpPr>
          <p:cNvPr id="308" name="Freeform 5">
            <a:extLst>
              <a:ext uri="{FF2B5EF4-FFF2-40B4-BE49-F238E27FC236}">
                <a16:creationId xmlns:a16="http://schemas.microsoft.com/office/drawing/2014/main" id="{5F1B8348-CD6E-4561-A704-C232D9A2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5404022" cy="857047"/>
          </a:xfrm>
          <a:custGeom>
            <a:avLst/>
            <a:gdLst>
              <a:gd name="T0" fmla="*/ 1114 w 1117"/>
              <a:gd name="T1" fmla="*/ 77 h 163"/>
              <a:gd name="T2" fmla="*/ 1040 w 1117"/>
              <a:gd name="T3" fmla="*/ 3 h 163"/>
              <a:gd name="T4" fmla="*/ 1039 w 1117"/>
              <a:gd name="T5" fmla="*/ 2 h 163"/>
              <a:gd name="T6" fmla="*/ 1034 w 1117"/>
              <a:gd name="T7" fmla="*/ 0 h 163"/>
              <a:gd name="T8" fmla="*/ 578 w 1117"/>
              <a:gd name="T9" fmla="*/ 0 h 163"/>
              <a:gd name="T10" fmla="*/ 562 w 1117"/>
              <a:gd name="T11" fmla="*/ 0 h 163"/>
              <a:gd name="T12" fmla="*/ 440 w 1117"/>
              <a:gd name="T13" fmla="*/ 0 h 163"/>
              <a:gd name="T14" fmla="*/ 106 w 1117"/>
              <a:gd name="T15" fmla="*/ 0 h 163"/>
              <a:gd name="T16" fmla="*/ 0 w 1117"/>
              <a:gd name="T17" fmla="*/ 0 h 163"/>
              <a:gd name="T18" fmla="*/ 0 w 1117"/>
              <a:gd name="T19" fmla="*/ 163 h 163"/>
              <a:gd name="T20" fmla="*/ 106 w 1117"/>
              <a:gd name="T21" fmla="*/ 163 h 163"/>
              <a:gd name="T22" fmla="*/ 440 w 1117"/>
              <a:gd name="T23" fmla="*/ 163 h 163"/>
              <a:gd name="T24" fmla="*/ 562 w 1117"/>
              <a:gd name="T25" fmla="*/ 163 h 163"/>
              <a:gd name="T26" fmla="*/ 578 w 1117"/>
              <a:gd name="T27" fmla="*/ 163 h 163"/>
              <a:gd name="T28" fmla="*/ 1034 w 1117"/>
              <a:gd name="T29" fmla="*/ 163 h 163"/>
              <a:gd name="T30" fmla="*/ 1039 w 1117"/>
              <a:gd name="T31" fmla="*/ 161 h 163"/>
              <a:gd name="T32" fmla="*/ 1040 w 1117"/>
              <a:gd name="T33" fmla="*/ 160 h 163"/>
              <a:gd name="T34" fmla="*/ 1114 w 1117"/>
              <a:gd name="T35" fmla="*/ 86 h 163"/>
              <a:gd name="T36" fmla="*/ 1114 w 1117"/>
              <a:gd name="T37" fmla="*/ 77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17" h="163">
                <a:moveTo>
                  <a:pt x="1114" y="77"/>
                </a:moveTo>
                <a:cubicBezTo>
                  <a:pt x="1040" y="3"/>
                  <a:pt x="1040" y="3"/>
                  <a:pt x="1040" y="3"/>
                </a:cubicBezTo>
                <a:cubicBezTo>
                  <a:pt x="1040" y="2"/>
                  <a:pt x="1039" y="2"/>
                  <a:pt x="1039" y="2"/>
                </a:cubicBezTo>
                <a:cubicBezTo>
                  <a:pt x="1038" y="1"/>
                  <a:pt x="1036" y="0"/>
                  <a:pt x="1034" y="0"/>
                </a:cubicBezTo>
                <a:cubicBezTo>
                  <a:pt x="578" y="0"/>
                  <a:pt x="578" y="0"/>
                  <a:pt x="578" y="0"/>
                </a:cubicBezTo>
                <a:cubicBezTo>
                  <a:pt x="562" y="0"/>
                  <a:pt x="562" y="0"/>
                  <a:pt x="562" y="0"/>
                </a:cubicBezTo>
                <a:cubicBezTo>
                  <a:pt x="440" y="0"/>
                  <a:pt x="440" y="0"/>
                  <a:pt x="440" y="0"/>
                </a:cubicBezTo>
                <a:cubicBezTo>
                  <a:pt x="106" y="0"/>
                  <a:pt x="106" y="0"/>
                  <a:pt x="106" y="0"/>
                </a:cubicBezTo>
                <a:cubicBezTo>
                  <a:pt x="0" y="0"/>
                  <a:pt x="0" y="0"/>
                  <a:pt x="0" y="0"/>
                </a:cubicBezTo>
                <a:cubicBezTo>
                  <a:pt x="0" y="163"/>
                  <a:pt x="0" y="163"/>
                  <a:pt x="0" y="163"/>
                </a:cubicBezTo>
                <a:cubicBezTo>
                  <a:pt x="106" y="163"/>
                  <a:pt x="106" y="163"/>
                  <a:pt x="106" y="163"/>
                </a:cubicBezTo>
                <a:cubicBezTo>
                  <a:pt x="440" y="163"/>
                  <a:pt x="440" y="163"/>
                  <a:pt x="440" y="163"/>
                </a:cubicBezTo>
                <a:cubicBezTo>
                  <a:pt x="562" y="163"/>
                  <a:pt x="562" y="163"/>
                  <a:pt x="562" y="163"/>
                </a:cubicBezTo>
                <a:cubicBezTo>
                  <a:pt x="578" y="163"/>
                  <a:pt x="578" y="163"/>
                  <a:pt x="578" y="163"/>
                </a:cubicBezTo>
                <a:cubicBezTo>
                  <a:pt x="1034" y="163"/>
                  <a:pt x="1034" y="163"/>
                  <a:pt x="1034" y="163"/>
                </a:cubicBezTo>
                <a:cubicBezTo>
                  <a:pt x="1036" y="163"/>
                  <a:pt x="1038" y="162"/>
                  <a:pt x="1039" y="161"/>
                </a:cubicBezTo>
                <a:cubicBezTo>
                  <a:pt x="1039" y="160"/>
                  <a:pt x="1040" y="160"/>
                  <a:pt x="1040" y="160"/>
                </a:cubicBezTo>
                <a:cubicBezTo>
                  <a:pt x="1114" y="86"/>
                  <a:pt x="1114" y="86"/>
                  <a:pt x="1114" y="86"/>
                </a:cubicBezTo>
                <a:cubicBezTo>
                  <a:pt x="1117" y="83"/>
                  <a:pt x="1117" y="79"/>
                  <a:pt x="1114" y="7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2" name="Slide Number Placeholder 1">
            <a:extLst>
              <a:ext uri="{FF2B5EF4-FFF2-40B4-BE49-F238E27FC236}">
                <a16:creationId xmlns:a16="http://schemas.microsoft.com/office/drawing/2014/main" id="{06E42DD1-CB17-A8C5-1743-0F99201C4F79}"/>
              </a:ext>
            </a:extLst>
          </p:cNvPr>
          <p:cNvSpPr>
            <a:spLocks noGrp="1"/>
          </p:cNvSpPr>
          <p:nvPr>
            <p:ph type="sldNum" sz="quarter" idx="12"/>
          </p:nvPr>
        </p:nvSpPr>
        <p:spPr>
          <a:xfrm>
            <a:off x="424248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9</a:t>
            </a:fld>
            <a:endParaRPr lang="en-US"/>
          </a:p>
        </p:txBody>
      </p:sp>
      <p:pic>
        <p:nvPicPr>
          <p:cNvPr id="6" name="Picture 5">
            <a:extLst>
              <a:ext uri="{FF2B5EF4-FFF2-40B4-BE49-F238E27FC236}">
                <a16:creationId xmlns:a16="http://schemas.microsoft.com/office/drawing/2014/main" id="{2C1F034B-6B77-7C52-458C-836EAD71AFB1}"/>
              </a:ext>
            </a:extLst>
          </p:cNvPr>
          <p:cNvPicPr>
            <a:picLocks noChangeAspect="1"/>
          </p:cNvPicPr>
          <p:nvPr/>
        </p:nvPicPr>
        <p:blipFill>
          <a:blip r:embed="rId4"/>
          <a:stretch>
            <a:fillRect/>
          </a:stretch>
        </p:blipFill>
        <p:spPr>
          <a:xfrm>
            <a:off x="4978404" y="719206"/>
            <a:ext cx="6711205" cy="4045300"/>
          </a:xfrm>
          <a:prstGeom prst="rect">
            <a:avLst/>
          </a:prstGeom>
        </p:spPr>
      </p:pic>
    </p:spTree>
    <p:extLst>
      <p:ext uri="{BB962C8B-B14F-4D97-AF65-F5344CB8AC3E}">
        <p14:creationId xmlns:p14="http://schemas.microsoft.com/office/powerpoint/2010/main" val="2394768425"/>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20"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1"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2"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3"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4"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5"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26"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27"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28"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29"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0"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1"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33" name="Group 32">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34"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35"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36"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37"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38"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39"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40"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41"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42"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43"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44"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45"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47" name="Rectangle 46">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51" name="Rectangle 50">
            <a:extLst>
              <a:ext uri="{FF2B5EF4-FFF2-40B4-BE49-F238E27FC236}">
                <a16:creationId xmlns:a16="http://schemas.microsoft.com/office/drawing/2014/main" id="{22589B50-D615-4630-B6F7-29E99FF2C4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B87A83DF-4E7A-4A81-867E-10E29C4BD3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 y="0"/>
            <a:ext cx="6111243"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45D8BFDF-E89D-7694-BF61-99039089615F}"/>
              </a:ext>
            </a:extLst>
          </p:cNvPr>
          <p:cNvSpPr>
            <a:spLocks noGrp="1"/>
          </p:cNvSpPr>
          <p:nvPr>
            <p:ph type="title"/>
          </p:nvPr>
        </p:nvSpPr>
        <p:spPr>
          <a:xfrm>
            <a:off x="540279" y="967417"/>
            <a:ext cx="5280460" cy="3943250"/>
          </a:xfrm>
        </p:spPr>
        <p:txBody>
          <a:bodyPr vert="horz" lIns="91440" tIns="45720" rIns="91440" bIns="45720" rtlCol="0" anchor="b">
            <a:normAutofit/>
          </a:bodyPr>
          <a:lstStyle/>
          <a:p>
            <a:r>
              <a:rPr lang="en-US" sz="4000" b="1">
                <a:solidFill>
                  <a:srgbClr val="FEFFFF"/>
                </a:solidFill>
              </a:rPr>
              <a:t>Credit History — Dominant Predictor</a:t>
            </a:r>
            <a:br>
              <a:rPr lang="en-US" sz="4000">
                <a:solidFill>
                  <a:srgbClr val="FEFFFF"/>
                </a:solidFill>
              </a:rPr>
            </a:br>
            <a:endParaRPr lang="en-US" sz="4000">
              <a:solidFill>
                <a:srgbClr val="FEFFFF"/>
              </a:solidFill>
            </a:endParaRPr>
          </a:p>
        </p:txBody>
      </p:sp>
      <p:sp>
        <p:nvSpPr>
          <p:cNvPr id="55" name="Freeform 27">
            <a:extLst>
              <a:ext uri="{FF2B5EF4-FFF2-40B4-BE49-F238E27FC236}">
                <a16:creationId xmlns:a16="http://schemas.microsoft.com/office/drawing/2014/main" id="{435515D7-4CE9-4558-BA93-E245EFB64C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6881206" cy="857047"/>
          </a:xfrm>
          <a:custGeom>
            <a:avLst/>
            <a:gdLst>
              <a:gd name="connsiteX0" fmla="*/ 0 w 6881206"/>
              <a:gd name="connsiteY0" fmla="*/ 0 h 857047"/>
              <a:gd name="connsiteX1" fmla="*/ 653445 w 6881206"/>
              <a:gd name="connsiteY1" fmla="*/ 0 h 857047"/>
              <a:gd name="connsiteX2" fmla="*/ 1156123 w 6881206"/>
              <a:gd name="connsiteY2" fmla="*/ 0 h 857047"/>
              <a:gd name="connsiteX3" fmla="*/ 1380221 w 6881206"/>
              <a:gd name="connsiteY3" fmla="*/ 0 h 857047"/>
              <a:gd name="connsiteX4" fmla="*/ 1444324 w 6881206"/>
              <a:gd name="connsiteY4" fmla="*/ 0 h 857047"/>
              <a:gd name="connsiteX5" fmla="*/ 1522072 w 6881206"/>
              <a:gd name="connsiteY5" fmla="*/ 0 h 857047"/>
              <a:gd name="connsiteX6" fmla="*/ 1596570 w 6881206"/>
              <a:gd name="connsiteY6" fmla="*/ 0 h 857047"/>
              <a:gd name="connsiteX7" fmla="*/ 1893047 w 6881206"/>
              <a:gd name="connsiteY7" fmla="*/ 0 h 857047"/>
              <a:gd name="connsiteX8" fmla="*/ 1978260 w 6881206"/>
              <a:gd name="connsiteY8" fmla="*/ 0 h 857047"/>
              <a:gd name="connsiteX9" fmla="*/ 2032793 w 6881206"/>
              <a:gd name="connsiteY9" fmla="*/ 0 h 857047"/>
              <a:gd name="connsiteX10" fmla="*/ 2095032 w 6881206"/>
              <a:gd name="connsiteY10" fmla="*/ 0 h 857047"/>
              <a:gd name="connsiteX11" fmla="*/ 2574748 w 6881206"/>
              <a:gd name="connsiteY11" fmla="*/ 0 h 857047"/>
              <a:gd name="connsiteX12" fmla="*/ 2712413 w 6881206"/>
              <a:gd name="connsiteY12" fmla="*/ 0 h 857047"/>
              <a:gd name="connsiteX13" fmla="*/ 2724164 w 6881206"/>
              <a:gd name="connsiteY13" fmla="*/ 0 h 857047"/>
              <a:gd name="connsiteX14" fmla="*/ 2806423 w 6881206"/>
              <a:gd name="connsiteY14" fmla="*/ 0 h 857047"/>
              <a:gd name="connsiteX15" fmla="*/ 2975563 w 6881206"/>
              <a:gd name="connsiteY15" fmla="*/ 0 h 857047"/>
              <a:gd name="connsiteX16" fmla="*/ 3029696 w 6881206"/>
              <a:gd name="connsiteY16" fmla="*/ 0 h 857047"/>
              <a:gd name="connsiteX17" fmla="*/ 3216247 w 6881206"/>
              <a:gd name="connsiteY17" fmla="*/ 0 h 857047"/>
              <a:gd name="connsiteX18" fmla="*/ 3464491 w 6881206"/>
              <a:gd name="connsiteY18" fmla="*/ 0 h 857047"/>
              <a:gd name="connsiteX19" fmla="*/ 3476820 w 6881206"/>
              <a:gd name="connsiteY19" fmla="*/ 0 h 857047"/>
              <a:gd name="connsiteX20" fmla="*/ 3508932 w 6881206"/>
              <a:gd name="connsiteY20" fmla="*/ 0 h 857047"/>
              <a:gd name="connsiteX21" fmla="*/ 3518154 w 6881206"/>
              <a:gd name="connsiteY21" fmla="*/ 0 h 857047"/>
              <a:gd name="connsiteX22" fmla="*/ 3563124 w 6881206"/>
              <a:gd name="connsiteY22" fmla="*/ 0 h 857047"/>
              <a:gd name="connsiteX23" fmla="*/ 3568615 w 6881206"/>
              <a:gd name="connsiteY23" fmla="*/ 0 h 857047"/>
              <a:gd name="connsiteX24" fmla="*/ 3582711 w 6881206"/>
              <a:gd name="connsiteY24" fmla="*/ 0 h 857047"/>
              <a:gd name="connsiteX25" fmla="*/ 3607047 w 6881206"/>
              <a:gd name="connsiteY25" fmla="*/ 0 h 857047"/>
              <a:gd name="connsiteX26" fmla="*/ 3711363 w 6881206"/>
              <a:gd name="connsiteY26" fmla="*/ 0 h 857047"/>
              <a:gd name="connsiteX27" fmla="*/ 3757936 w 6881206"/>
              <a:gd name="connsiteY27" fmla="*/ 0 h 857047"/>
              <a:gd name="connsiteX28" fmla="*/ 3914505 w 6881206"/>
              <a:gd name="connsiteY28" fmla="*/ 0 h 857047"/>
              <a:gd name="connsiteX29" fmla="*/ 4099165 w 6881206"/>
              <a:gd name="connsiteY29" fmla="*/ 0 h 857047"/>
              <a:gd name="connsiteX30" fmla="*/ 4176573 w 6881206"/>
              <a:gd name="connsiteY30" fmla="*/ 0 h 857047"/>
              <a:gd name="connsiteX31" fmla="*/ 4211043 w 6881206"/>
              <a:gd name="connsiteY31" fmla="*/ 0 h 857047"/>
              <a:gd name="connsiteX32" fmla="*/ 4249415 w 6881206"/>
              <a:gd name="connsiteY32" fmla="*/ 0 h 857047"/>
              <a:gd name="connsiteX33" fmla="*/ 4292911 w 6881206"/>
              <a:gd name="connsiteY33" fmla="*/ 0 h 857047"/>
              <a:gd name="connsiteX34" fmla="*/ 4715176 w 6881206"/>
              <a:gd name="connsiteY34" fmla="*/ 0 h 857047"/>
              <a:gd name="connsiteX35" fmla="*/ 4749035 w 6881206"/>
              <a:gd name="connsiteY35" fmla="*/ 0 h 857047"/>
              <a:gd name="connsiteX36" fmla="*/ 5107279 w 6881206"/>
              <a:gd name="connsiteY36" fmla="*/ 0 h 857047"/>
              <a:gd name="connsiteX37" fmla="*/ 5446306 w 6881206"/>
              <a:gd name="connsiteY37" fmla="*/ 0 h 857047"/>
              <a:gd name="connsiteX38" fmla="*/ 5654500 w 6881206"/>
              <a:gd name="connsiteY38" fmla="*/ 0 h 857047"/>
              <a:gd name="connsiteX39" fmla="*/ 5879355 w 6881206"/>
              <a:gd name="connsiteY39" fmla="*/ 0 h 857047"/>
              <a:gd name="connsiteX40" fmla="*/ 6374171 w 6881206"/>
              <a:gd name="connsiteY40" fmla="*/ 0 h 857047"/>
              <a:gd name="connsiteX41" fmla="*/ 6382691 w 6881206"/>
              <a:gd name="connsiteY41" fmla="*/ 0 h 857047"/>
              <a:gd name="connsiteX42" fmla="*/ 6406881 w 6881206"/>
              <a:gd name="connsiteY42" fmla="*/ 10516 h 857047"/>
              <a:gd name="connsiteX43" fmla="*/ 6411719 w 6881206"/>
              <a:gd name="connsiteY43" fmla="*/ 15774 h 857047"/>
              <a:gd name="connsiteX44" fmla="*/ 6412418 w 6881206"/>
              <a:gd name="connsiteY44" fmla="*/ 16534 h 857047"/>
              <a:gd name="connsiteX45" fmla="*/ 6413765 w 6881206"/>
              <a:gd name="connsiteY45" fmla="*/ 17998 h 857047"/>
              <a:gd name="connsiteX46" fmla="*/ 6418286 w 6881206"/>
              <a:gd name="connsiteY46" fmla="*/ 21854 h 857047"/>
              <a:gd name="connsiteX47" fmla="*/ 6867337 w 6881206"/>
              <a:gd name="connsiteY47" fmla="*/ 404863 h 857047"/>
              <a:gd name="connsiteX48" fmla="*/ 6867337 w 6881206"/>
              <a:gd name="connsiteY48" fmla="*/ 452185 h 857047"/>
              <a:gd name="connsiteX49" fmla="*/ 6491457 w 6881206"/>
              <a:gd name="connsiteY49" fmla="*/ 772784 h 857047"/>
              <a:gd name="connsiteX50" fmla="*/ 6413765 w 6881206"/>
              <a:gd name="connsiteY50" fmla="*/ 839050 h 857047"/>
              <a:gd name="connsiteX51" fmla="*/ 6411719 w 6881206"/>
              <a:gd name="connsiteY51" fmla="*/ 841273 h 857047"/>
              <a:gd name="connsiteX52" fmla="*/ 6406881 w 6881206"/>
              <a:gd name="connsiteY52" fmla="*/ 846531 h 857047"/>
              <a:gd name="connsiteX53" fmla="*/ 6382691 w 6881206"/>
              <a:gd name="connsiteY53" fmla="*/ 857047 h 857047"/>
              <a:gd name="connsiteX54" fmla="*/ 6374171 w 6881206"/>
              <a:gd name="connsiteY54" fmla="*/ 857047 h 857047"/>
              <a:gd name="connsiteX55" fmla="*/ 6368680 w 6881206"/>
              <a:gd name="connsiteY55" fmla="*/ 857047 h 857047"/>
              <a:gd name="connsiteX56" fmla="*/ 6348221 w 6881206"/>
              <a:gd name="connsiteY56" fmla="*/ 857047 h 857047"/>
              <a:gd name="connsiteX57" fmla="*/ 6330248 w 6881206"/>
              <a:gd name="connsiteY57" fmla="*/ 857047 h 857047"/>
              <a:gd name="connsiteX58" fmla="*/ 6266353 w 6881206"/>
              <a:gd name="connsiteY58" fmla="*/ 857047 h 857047"/>
              <a:gd name="connsiteX59" fmla="*/ 6225932 w 6881206"/>
              <a:gd name="connsiteY59" fmla="*/ 857047 h 857047"/>
              <a:gd name="connsiteX60" fmla="*/ 6106926 w 6881206"/>
              <a:gd name="connsiteY60" fmla="*/ 857047 h 857047"/>
              <a:gd name="connsiteX61" fmla="*/ 6022790 w 6881206"/>
              <a:gd name="connsiteY61" fmla="*/ 857047 h 857047"/>
              <a:gd name="connsiteX62" fmla="*/ 5844088 w 6881206"/>
              <a:gd name="connsiteY62" fmla="*/ 857047 h 857047"/>
              <a:gd name="connsiteX63" fmla="*/ 5687880 w 6881206"/>
              <a:gd name="connsiteY63" fmla="*/ 857047 h 857047"/>
              <a:gd name="connsiteX64" fmla="*/ 5451985 w 6881206"/>
              <a:gd name="connsiteY64" fmla="*/ 857047 h 857047"/>
              <a:gd name="connsiteX65" fmla="*/ 5188261 w 6881206"/>
              <a:gd name="connsiteY65" fmla="*/ 857047 h 857047"/>
              <a:gd name="connsiteX66" fmla="*/ 4904764 w 6881206"/>
              <a:gd name="connsiteY66" fmla="*/ 857047 h 857047"/>
              <a:gd name="connsiteX67" fmla="*/ 4490989 w 6881206"/>
              <a:gd name="connsiteY67" fmla="*/ 857047 h 857047"/>
              <a:gd name="connsiteX68" fmla="*/ 4176573 w 6881206"/>
              <a:gd name="connsiteY68" fmla="*/ 857047 h 857047"/>
              <a:gd name="connsiteX69" fmla="*/ 4099165 w 6881206"/>
              <a:gd name="connsiteY69" fmla="*/ 857047 h 857047"/>
              <a:gd name="connsiteX70" fmla="*/ 4089943 w 6881206"/>
              <a:gd name="connsiteY70" fmla="*/ 857047 h 857047"/>
              <a:gd name="connsiteX71" fmla="*/ 4057940 w 6881206"/>
              <a:gd name="connsiteY71" fmla="*/ 857047 h 857047"/>
              <a:gd name="connsiteX72" fmla="*/ 4025386 w 6881206"/>
              <a:gd name="connsiteY72" fmla="*/ 857047 h 857047"/>
              <a:gd name="connsiteX73" fmla="*/ 3850160 w 6881206"/>
              <a:gd name="connsiteY73" fmla="*/ 857047 h 857047"/>
              <a:gd name="connsiteX74" fmla="*/ 3563124 w 6881206"/>
              <a:gd name="connsiteY74" fmla="*/ 857047 h 857047"/>
              <a:gd name="connsiteX75" fmla="*/ 3550795 w 6881206"/>
              <a:gd name="connsiteY75" fmla="*/ 857047 h 857047"/>
              <a:gd name="connsiteX76" fmla="*/ 3508932 w 6881206"/>
              <a:gd name="connsiteY76" fmla="*/ 857047 h 857047"/>
              <a:gd name="connsiteX77" fmla="*/ 3483683 w 6881206"/>
              <a:gd name="connsiteY77" fmla="*/ 857047 h 857047"/>
              <a:gd name="connsiteX78" fmla="*/ 3464491 w 6881206"/>
              <a:gd name="connsiteY78" fmla="*/ 857047 h 857047"/>
              <a:gd name="connsiteX79" fmla="*/ 3452740 w 6881206"/>
              <a:gd name="connsiteY79" fmla="*/ 857047 h 857047"/>
              <a:gd name="connsiteX80" fmla="*/ 3423719 w 6881206"/>
              <a:gd name="connsiteY80" fmla="*/ 857047 h 857047"/>
              <a:gd name="connsiteX81" fmla="*/ 3370481 w 6881206"/>
              <a:gd name="connsiteY81" fmla="*/ 857047 h 857047"/>
              <a:gd name="connsiteX82" fmla="*/ 3306946 w 6881206"/>
              <a:gd name="connsiteY82" fmla="*/ 857047 h 857047"/>
              <a:gd name="connsiteX83" fmla="*/ 3147208 w 6881206"/>
              <a:gd name="connsiteY83" fmla="*/ 857047 h 857047"/>
              <a:gd name="connsiteX84" fmla="*/ 3114429 w 6881206"/>
              <a:gd name="connsiteY84" fmla="*/ 857047 h 857047"/>
              <a:gd name="connsiteX85" fmla="*/ 2960658 w 6881206"/>
              <a:gd name="connsiteY85" fmla="*/ 857047 h 857047"/>
              <a:gd name="connsiteX86" fmla="*/ 2827230 w 6881206"/>
              <a:gd name="connsiteY86" fmla="*/ 857047 h 857047"/>
              <a:gd name="connsiteX87" fmla="*/ 2712413 w 6881206"/>
              <a:gd name="connsiteY87" fmla="*/ 857047 h 857047"/>
              <a:gd name="connsiteX88" fmla="*/ 2680242 w 6881206"/>
              <a:gd name="connsiteY88" fmla="*/ 857047 h 857047"/>
              <a:gd name="connsiteX89" fmla="*/ 2603835 w 6881206"/>
              <a:gd name="connsiteY89" fmla="*/ 857047 h 857047"/>
              <a:gd name="connsiteX90" fmla="*/ 2455042 w 6881206"/>
              <a:gd name="connsiteY90" fmla="*/ 857047 h 857047"/>
              <a:gd name="connsiteX91" fmla="*/ 2426415 w 6881206"/>
              <a:gd name="connsiteY91" fmla="*/ 857047 h 857047"/>
              <a:gd name="connsiteX92" fmla="*/ 2209736 w 6881206"/>
              <a:gd name="connsiteY92" fmla="*/ 857047 h 857047"/>
              <a:gd name="connsiteX93" fmla="*/ 1893047 w 6881206"/>
              <a:gd name="connsiteY93" fmla="*/ 857047 h 857047"/>
              <a:gd name="connsiteX94" fmla="*/ 1885034 w 6881206"/>
              <a:gd name="connsiteY94" fmla="*/ 857047 h 857047"/>
              <a:gd name="connsiteX95" fmla="*/ 1843786 w 6881206"/>
              <a:gd name="connsiteY95" fmla="*/ 857047 h 857047"/>
              <a:gd name="connsiteX96" fmla="*/ 1828944 w 6881206"/>
              <a:gd name="connsiteY96" fmla="*/ 857047 h 857047"/>
              <a:gd name="connsiteX97" fmla="*/ 1380221 w 6881206"/>
              <a:gd name="connsiteY97" fmla="*/ 857047 h 857047"/>
              <a:gd name="connsiteX98" fmla="*/ 1333065 w 6881206"/>
              <a:gd name="connsiteY98" fmla="*/ 857047 h 857047"/>
              <a:gd name="connsiteX99" fmla="*/ 653445 w 6881206"/>
              <a:gd name="connsiteY99" fmla="*/ 857047 h 857047"/>
              <a:gd name="connsiteX100" fmla="*/ 0 w 6881206"/>
              <a:gd name="connsiteY100" fmla="*/ 857047 h 857047"/>
              <a:gd name="connsiteX101" fmla="*/ 0 w 6881206"/>
              <a:gd name="connsiteY101" fmla="*/ 0 h 857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6881206" h="857047">
                <a:moveTo>
                  <a:pt x="0" y="0"/>
                </a:moveTo>
                <a:cubicBezTo>
                  <a:pt x="0" y="0"/>
                  <a:pt x="0" y="0"/>
                  <a:pt x="653445" y="0"/>
                </a:cubicBezTo>
                <a:cubicBezTo>
                  <a:pt x="653445" y="0"/>
                  <a:pt x="653445" y="0"/>
                  <a:pt x="1156123" y="0"/>
                </a:cubicBezTo>
                <a:lnTo>
                  <a:pt x="1380221" y="0"/>
                </a:lnTo>
                <a:cubicBezTo>
                  <a:pt x="1380221" y="0"/>
                  <a:pt x="1380221" y="0"/>
                  <a:pt x="1444324" y="0"/>
                </a:cubicBezTo>
                <a:lnTo>
                  <a:pt x="1522072" y="0"/>
                </a:lnTo>
                <a:lnTo>
                  <a:pt x="1596570" y="0"/>
                </a:lnTo>
                <a:cubicBezTo>
                  <a:pt x="1668686" y="0"/>
                  <a:pt x="1764840" y="0"/>
                  <a:pt x="1893047" y="0"/>
                </a:cubicBezTo>
                <a:cubicBezTo>
                  <a:pt x="1893047" y="0"/>
                  <a:pt x="1893047" y="0"/>
                  <a:pt x="1978260" y="0"/>
                </a:cubicBezTo>
                <a:lnTo>
                  <a:pt x="2032793" y="0"/>
                </a:lnTo>
                <a:lnTo>
                  <a:pt x="2095032" y="0"/>
                </a:lnTo>
                <a:cubicBezTo>
                  <a:pt x="2196025" y="0"/>
                  <a:pt x="2347515" y="0"/>
                  <a:pt x="2574748" y="0"/>
                </a:cubicBezTo>
                <a:lnTo>
                  <a:pt x="2712413" y="0"/>
                </a:lnTo>
                <a:lnTo>
                  <a:pt x="2724164" y="0"/>
                </a:lnTo>
                <a:lnTo>
                  <a:pt x="2806423" y="0"/>
                </a:lnTo>
                <a:lnTo>
                  <a:pt x="2975563" y="0"/>
                </a:lnTo>
                <a:lnTo>
                  <a:pt x="3029696" y="0"/>
                </a:lnTo>
                <a:lnTo>
                  <a:pt x="3216247" y="0"/>
                </a:lnTo>
                <a:lnTo>
                  <a:pt x="3464491" y="0"/>
                </a:lnTo>
                <a:lnTo>
                  <a:pt x="3476820" y="0"/>
                </a:lnTo>
                <a:lnTo>
                  <a:pt x="3508932" y="0"/>
                </a:lnTo>
                <a:cubicBezTo>
                  <a:pt x="3508932" y="0"/>
                  <a:pt x="3508932" y="0"/>
                  <a:pt x="3518154" y="0"/>
                </a:cubicBezTo>
                <a:lnTo>
                  <a:pt x="3563124" y="0"/>
                </a:lnTo>
                <a:lnTo>
                  <a:pt x="3568615" y="0"/>
                </a:lnTo>
                <a:lnTo>
                  <a:pt x="3582711" y="0"/>
                </a:lnTo>
                <a:lnTo>
                  <a:pt x="3607047" y="0"/>
                </a:lnTo>
                <a:lnTo>
                  <a:pt x="3711363" y="0"/>
                </a:lnTo>
                <a:lnTo>
                  <a:pt x="3757936" y="0"/>
                </a:lnTo>
                <a:lnTo>
                  <a:pt x="3914505" y="0"/>
                </a:lnTo>
                <a:lnTo>
                  <a:pt x="4099165" y="0"/>
                </a:lnTo>
                <a:cubicBezTo>
                  <a:pt x="4099165" y="0"/>
                  <a:pt x="4099165" y="0"/>
                  <a:pt x="4176573" y="0"/>
                </a:cubicBezTo>
                <a:cubicBezTo>
                  <a:pt x="4176573" y="0"/>
                  <a:pt x="4176573" y="0"/>
                  <a:pt x="4211043" y="0"/>
                </a:cubicBezTo>
                <a:lnTo>
                  <a:pt x="4249415" y="0"/>
                </a:lnTo>
                <a:lnTo>
                  <a:pt x="4292911" y="0"/>
                </a:lnTo>
                <a:cubicBezTo>
                  <a:pt x="4370470" y="0"/>
                  <a:pt x="4499735" y="0"/>
                  <a:pt x="4715176" y="0"/>
                </a:cubicBezTo>
                <a:lnTo>
                  <a:pt x="4749035" y="0"/>
                </a:lnTo>
                <a:lnTo>
                  <a:pt x="5107279" y="0"/>
                </a:lnTo>
                <a:lnTo>
                  <a:pt x="5446306" y="0"/>
                </a:lnTo>
                <a:lnTo>
                  <a:pt x="5654500" y="0"/>
                </a:lnTo>
                <a:lnTo>
                  <a:pt x="5879355" y="0"/>
                </a:lnTo>
                <a:lnTo>
                  <a:pt x="6374171" y="0"/>
                </a:lnTo>
                <a:lnTo>
                  <a:pt x="6382691" y="0"/>
                </a:lnTo>
                <a:cubicBezTo>
                  <a:pt x="6392367" y="0"/>
                  <a:pt x="6402043" y="5258"/>
                  <a:pt x="6406881" y="10516"/>
                </a:cubicBezTo>
                <a:cubicBezTo>
                  <a:pt x="6406881" y="10516"/>
                  <a:pt x="6411719" y="10516"/>
                  <a:pt x="6411719" y="15774"/>
                </a:cubicBezTo>
                <a:cubicBezTo>
                  <a:pt x="6411719" y="15774"/>
                  <a:pt x="6411719" y="15774"/>
                  <a:pt x="6412418" y="16534"/>
                </a:cubicBezTo>
                <a:lnTo>
                  <a:pt x="6413765" y="17998"/>
                </a:lnTo>
                <a:lnTo>
                  <a:pt x="6418286" y="21854"/>
                </a:lnTo>
                <a:cubicBezTo>
                  <a:pt x="6439669" y="40092"/>
                  <a:pt x="6525203" y="113046"/>
                  <a:pt x="6867337" y="404863"/>
                </a:cubicBezTo>
                <a:cubicBezTo>
                  <a:pt x="6885830" y="415379"/>
                  <a:pt x="6885830" y="436411"/>
                  <a:pt x="6867337" y="452185"/>
                </a:cubicBezTo>
                <a:cubicBezTo>
                  <a:pt x="6867337" y="452185"/>
                  <a:pt x="6867337" y="452185"/>
                  <a:pt x="6491457" y="772784"/>
                </a:cubicBezTo>
                <a:lnTo>
                  <a:pt x="6413765" y="839050"/>
                </a:lnTo>
                <a:lnTo>
                  <a:pt x="6411719" y="841273"/>
                </a:lnTo>
                <a:cubicBezTo>
                  <a:pt x="6411719" y="841273"/>
                  <a:pt x="6406881" y="841273"/>
                  <a:pt x="6406881" y="846531"/>
                </a:cubicBezTo>
                <a:cubicBezTo>
                  <a:pt x="6402043" y="851789"/>
                  <a:pt x="6392367" y="857047"/>
                  <a:pt x="6382691" y="857047"/>
                </a:cubicBezTo>
                <a:lnTo>
                  <a:pt x="6374171" y="857047"/>
                </a:lnTo>
                <a:lnTo>
                  <a:pt x="6368680" y="857047"/>
                </a:lnTo>
                <a:lnTo>
                  <a:pt x="6348221" y="857047"/>
                </a:lnTo>
                <a:lnTo>
                  <a:pt x="6330248" y="857047"/>
                </a:lnTo>
                <a:lnTo>
                  <a:pt x="6266353" y="857047"/>
                </a:lnTo>
                <a:lnTo>
                  <a:pt x="6225932" y="857047"/>
                </a:lnTo>
                <a:lnTo>
                  <a:pt x="6106926" y="857047"/>
                </a:lnTo>
                <a:lnTo>
                  <a:pt x="6022790" y="857047"/>
                </a:lnTo>
                <a:lnTo>
                  <a:pt x="5844088" y="857047"/>
                </a:lnTo>
                <a:lnTo>
                  <a:pt x="5687880" y="857047"/>
                </a:lnTo>
                <a:lnTo>
                  <a:pt x="5451985" y="857047"/>
                </a:lnTo>
                <a:lnTo>
                  <a:pt x="5188261" y="857047"/>
                </a:lnTo>
                <a:lnTo>
                  <a:pt x="4904764" y="857047"/>
                </a:lnTo>
                <a:lnTo>
                  <a:pt x="4490989" y="857047"/>
                </a:lnTo>
                <a:lnTo>
                  <a:pt x="4176573" y="857047"/>
                </a:lnTo>
                <a:cubicBezTo>
                  <a:pt x="4176573" y="857047"/>
                  <a:pt x="4176573" y="857047"/>
                  <a:pt x="4099165" y="857047"/>
                </a:cubicBezTo>
                <a:cubicBezTo>
                  <a:pt x="4099165" y="857047"/>
                  <a:pt x="4099165" y="857047"/>
                  <a:pt x="4089943" y="857047"/>
                </a:cubicBezTo>
                <a:lnTo>
                  <a:pt x="4057940" y="857047"/>
                </a:lnTo>
                <a:lnTo>
                  <a:pt x="4025386" y="857047"/>
                </a:lnTo>
                <a:cubicBezTo>
                  <a:pt x="3988496" y="857047"/>
                  <a:pt x="3933162" y="857047"/>
                  <a:pt x="3850160" y="857047"/>
                </a:cubicBezTo>
                <a:lnTo>
                  <a:pt x="3563124" y="857047"/>
                </a:lnTo>
                <a:lnTo>
                  <a:pt x="3550795" y="857047"/>
                </a:lnTo>
                <a:lnTo>
                  <a:pt x="3508932" y="857047"/>
                </a:lnTo>
                <a:cubicBezTo>
                  <a:pt x="3508932" y="857047"/>
                  <a:pt x="3508932" y="857047"/>
                  <a:pt x="3483683" y="857047"/>
                </a:cubicBezTo>
                <a:lnTo>
                  <a:pt x="3464491" y="857047"/>
                </a:lnTo>
                <a:lnTo>
                  <a:pt x="3452740" y="857047"/>
                </a:lnTo>
                <a:lnTo>
                  <a:pt x="3423719" y="857047"/>
                </a:lnTo>
                <a:lnTo>
                  <a:pt x="3370481" y="857047"/>
                </a:lnTo>
                <a:lnTo>
                  <a:pt x="3306946" y="857047"/>
                </a:lnTo>
                <a:lnTo>
                  <a:pt x="3147208" y="857047"/>
                </a:lnTo>
                <a:lnTo>
                  <a:pt x="3114429" y="857047"/>
                </a:lnTo>
                <a:lnTo>
                  <a:pt x="2960658" y="857047"/>
                </a:lnTo>
                <a:lnTo>
                  <a:pt x="2827230" y="857047"/>
                </a:lnTo>
                <a:lnTo>
                  <a:pt x="2712413" y="857047"/>
                </a:lnTo>
                <a:lnTo>
                  <a:pt x="2680242" y="857047"/>
                </a:lnTo>
                <a:lnTo>
                  <a:pt x="2603835" y="857047"/>
                </a:lnTo>
                <a:lnTo>
                  <a:pt x="2455042" y="857047"/>
                </a:lnTo>
                <a:lnTo>
                  <a:pt x="2426415" y="857047"/>
                </a:lnTo>
                <a:lnTo>
                  <a:pt x="2209736" y="857047"/>
                </a:lnTo>
                <a:lnTo>
                  <a:pt x="1893047" y="857047"/>
                </a:lnTo>
                <a:cubicBezTo>
                  <a:pt x="1893047" y="857047"/>
                  <a:pt x="1893047" y="857047"/>
                  <a:pt x="1885034" y="857047"/>
                </a:cubicBezTo>
                <a:lnTo>
                  <a:pt x="1843786" y="857047"/>
                </a:lnTo>
                <a:lnTo>
                  <a:pt x="1828944" y="857047"/>
                </a:lnTo>
                <a:cubicBezTo>
                  <a:pt x="1764840" y="857047"/>
                  <a:pt x="1636634" y="857047"/>
                  <a:pt x="1380221" y="857047"/>
                </a:cubicBezTo>
                <a:lnTo>
                  <a:pt x="1333065" y="857047"/>
                </a:lnTo>
                <a:cubicBezTo>
                  <a:pt x="1136016" y="857047"/>
                  <a:pt x="910816" y="857047"/>
                  <a:pt x="653445" y="857047"/>
                </a:cubicBezTo>
                <a:cubicBezTo>
                  <a:pt x="653445" y="857047"/>
                  <a:pt x="653445" y="857047"/>
                  <a:pt x="0" y="857047"/>
                </a:cubicBezTo>
                <a:cubicBezTo>
                  <a:pt x="0" y="857047"/>
                  <a:pt x="0" y="857047"/>
                  <a:pt x="0" y="0"/>
                </a:cubicBezTo>
                <a:close/>
              </a:path>
            </a:pathLst>
          </a:custGeom>
          <a:solidFill>
            <a:schemeClr val="accent1"/>
          </a:solidFill>
          <a:ln>
            <a:noFill/>
          </a:ln>
        </p:spPr>
        <p:txBody>
          <a:bodyPr vert="horz" wrap="square" lIns="91440" tIns="45720" rIns="91440" bIns="45720" numCol="1" anchor="t" anchorCtr="0" compatLnSpc="1">
            <a:prstTxWarp prst="textNoShape">
              <a:avLst/>
            </a:prstTxWarp>
            <a:noAutofit/>
          </a:bodyPr>
          <a:lstStyle/>
          <a:p>
            <a:endParaRPr lang="en-US"/>
          </a:p>
        </p:txBody>
      </p:sp>
      <p:sp>
        <p:nvSpPr>
          <p:cNvPr id="4" name="Slide Number Placeholder 3">
            <a:extLst>
              <a:ext uri="{FF2B5EF4-FFF2-40B4-BE49-F238E27FC236}">
                <a16:creationId xmlns:a16="http://schemas.microsoft.com/office/drawing/2014/main" id="{75B82F74-70CE-7CCA-B920-A179B596E363}"/>
              </a:ext>
            </a:extLst>
          </p:cNvPr>
          <p:cNvSpPr>
            <a:spLocks noGrp="1"/>
          </p:cNvSpPr>
          <p:nvPr>
            <p:ph type="sldNum" sz="quarter" idx="12"/>
          </p:nvPr>
        </p:nvSpPr>
        <p:spPr>
          <a:xfrm>
            <a:off x="574407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10</a:t>
            </a:fld>
            <a:endParaRPr lang="en-US"/>
          </a:p>
        </p:txBody>
      </p:sp>
      <p:pic>
        <p:nvPicPr>
          <p:cNvPr id="5" name="Picture 4">
            <a:extLst>
              <a:ext uri="{FF2B5EF4-FFF2-40B4-BE49-F238E27FC236}">
                <a16:creationId xmlns:a16="http://schemas.microsoft.com/office/drawing/2014/main" id="{D7ADD0AA-BB32-3FE9-722D-B826E5E205E9}"/>
              </a:ext>
            </a:extLst>
          </p:cNvPr>
          <p:cNvPicPr>
            <a:picLocks noChangeAspect="1"/>
          </p:cNvPicPr>
          <p:nvPr/>
        </p:nvPicPr>
        <p:blipFill>
          <a:blip r:embed="rId4"/>
          <a:stretch>
            <a:fillRect/>
          </a:stretch>
        </p:blipFill>
        <p:spPr>
          <a:xfrm>
            <a:off x="6394586" y="1399026"/>
            <a:ext cx="5492614" cy="3018673"/>
          </a:xfrm>
          <a:prstGeom prst="rect">
            <a:avLst/>
          </a:prstGeom>
        </p:spPr>
      </p:pic>
    </p:spTree>
    <p:extLst>
      <p:ext uri="{BB962C8B-B14F-4D97-AF65-F5344CB8AC3E}">
        <p14:creationId xmlns:p14="http://schemas.microsoft.com/office/powerpoint/2010/main" val="943557008"/>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grpSp>
        <p:nvGrpSpPr>
          <p:cNvPr id="51" name="Group 50">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52"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53"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54"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55"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56"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57"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58"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59"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60"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61"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62"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63"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65" name="Group 64">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66"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67"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68"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69"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70"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71"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72"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73"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74"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75"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76"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77"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9" name="Rectangle 78">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81"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83" name="Rectangle 82">
            <a:extLst>
              <a:ext uri="{FF2B5EF4-FFF2-40B4-BE49-F238E27FC236}">
                <a16:creationId xmlns:a16="http://schemas.microsoft.com/office/drawing/2014/main" id="{A692209D-B607-46C3-8560-07AF722916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Rectangle 84">
            <a:extLst>
              <a:ext uri="{FF2B5EF4-FFF2-40B4-BE49-F238E27FC236}">
                <a16:creationId xmlns:a16="http://schemas.microsoft.com/office/drawing/2014/main" id="{94874638-CF15-4908-BC4B-4908744D0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4639734"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22857831-BFC2-CDF1-A5CE-B217DCC789C9}"/>
              </a:ext>
            </a:extLst>
          </p:cNvPr>
          <p:cNvSpPr>
            <a:spLocks noGrp="1"/>
          </p:cNvSpPr>
          <p:nvPr>
            <p:ph type="title"/>
          </p:nvPr>
        </p:nvSpPr>
        <p:spPr>
          <a:xfrm>
            <a:off x="540279" y="967417"/>
            <a:ext cx="3778870" cy="3943250"/>
          </a:xfrm>
        </p:spPr>
        <p:txBody>
          <a:bodyPr vert="horz" lIns="91440" tIns="45720" rIns="91440" bIns="45720" rtlCol="0" anchor="b">
            <a:normAutofit/>
          </a:bodyPr>
          <a:lstStyle/>
          <a:p>
            <a:r>
              <a:rPr lang="en-US" sz="4000" b="1" dirty="0">
                <a:solidFill>
                  <a:srgbClr val="FEFFFF"/>
                </a:solidFill>
              </a:rPr>
              <a:t>Income, Loan Amount &amp; Loan Term Patterns</a:t>
            </a:r>
            <a:br>
              <a:rPr lang="en-US" sz="4000" dirty="0">
                <a:solidFill>
                  <a:srgbClr val="FEFFFF"/>
                </a:solidFill>
              </a:rPr>
            </a:br>
            <a:endParaRPr lang="en-US" sz="4000" dirty="0">
              <a:solidFill>
                <a:srgbClr val="FEFFFF"/>
              </a:solidFill>
            </a:endParaRPr>
          </a:p>
        </p:txBody>
      </p:sp>
      <p:sp>
        <p:nvSpPr>
          <p:cNvPr id="87" name="Freeform 5">
            <a:extLst>
              <a:ext uri="{FF2B5EF4-FFF2-40B4-BE49-F238E27FC236}">
                <a16:creationId xmlns:a16="http://schemas.microsoft.com/office/drawing/2014/main" id="{5F1B8348-CD6E-4561-A704-C232D9A2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5404022" cy="857047"/>
          </a:xfrm>
          <a:custGeom>
            <a:avLst/>
            <a:gdLst>
              <a:gd name="T0" fmla="*/ 1114 w 1117"/>
              <a:gd name="T1" fmla="*/ 77 h 163"/>
              <a:gd name="T2" fmla="*/ 1040 w 1117"/>
              <a:gd name="T3" fmla="*/ 3 h 163"/>
              <a:gd name="T4" fmla="*/ 1039 w 1117"/>
              <a:gd name="T5" fmla="*/ 2 h 163"/>
              <a:gd name="T6" fmla="*/ 1034 w 1117"/>
              <a:gd name="T7" fmla="*/ 0 h 163"/>
              <a:gd name="T8" fmla="*/ 578 w 1117"/>
              <a:gd name="T9" fmla="*/ 0 h 163"/>
              <a:gd name="T10" fmla="*/ 562 w 1117"/>
              <a:gd name="T11" fmla="*/ 0 h 163"/>
              <a:gd name="T12" fmla="*/ 440 w 1117"/>
              <a:gd name="T13" fmla="*/ 0 h 163"/>
              <a:gd name="T14" fmla="*/ 106 w 1117"/>
              <a:gd name="T15" fmla="*/ 0 h 163"/>
              <a:gd name="T16" fmla="*/ 0 w 1117"/>
              <a:gd name="T17" fmla="*/ 0 h 163"/>
              <a:gd name="T18" fmla="*/ 0 w 1117"/>
              <a:gd name="T19" fmla="*/ 163 h 163"/>
              <a:gd name="T20" fmla="*/ 106 w 1117"/>
              <a:gd name="T21" fmla="*/ 163 h 163"/>
              <a:gd name="T22" fmla="*/ 440 w 1117"/>
              <a:gd name="T23" fmla="*/ 163 h 163"/>
              <a:gd name="T24" fmla="*/ 562 w 1117"/>
              <a:gd name="T25" fmla="*/ 163 h 163"/>
              <a:gd name="T26" fmla="*/ 578 w 1117"/>
              <a:gd name="T27" fmla="*/ 163 h 163"/>
              <a:gd name="T28" fmla="*/ 1034 w 1117"/>
              <a:gd name="T29" fmla="*/ 163 h 163"/>
              <a:gd name="T30" fmla="*/ 1039 w 1117"/>
              <a:gd name="T31" fmla="*/ 161 h 163"/>
              <a:gd name="T32" fmla="*/ 1040 w 1117"/>
              <a:gd name="T33" fmla="*/ 160 h 163"/>
              <a:gd name="T34" fmla="*/ 1114 w 1117"/>
              <a:gd name="T35" fmla="*/ 86 h 163"/>
              <a:gd name="T36" fmla="*/ 1114 w 1117"/>
              <a:gd name="T37" fmla="*/ 77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17" h="163">
                <a:moveTo>
                  <a:pt x="1114" y="77"/>
                </a:moveTo>
                <a:cubicBezTo>
                  <a:pt x="1040" y="3"/>
                  <a:pt x="1040" y="3"/>
                  <a:pt x="1040" y="3"/>
                </a:cubicBezTo>
                <a:cubicBezTo>
                  <a:pt x="1040" y="2"/>
                  <a:pt x="1039" y="2"/>
                  <a:pt x="1039" y="2"/>
                </a:cubicBezTo>
                <a:cubicBezTo>
                  <a:pt x="1038" y="1"/>
                  <a:pt x="1036" y="0"/>
                  <a:pt x="1034" y="0"/>
                </a:cubicBezTo>
                <a:cubicBezTo>
                  <a:pt x="578" y="0"/>
                  <a:pt x="578" y="0"/>
                  <a:pt x="578" y="0"/>
                </a:cubicBezTo>
                <a:cubicBezTo>
                  <a:pt x="562" y="0"/>
                  <a:pt x="562" y="0"/>
                  <a:pt x="562" y="0"/>
                </a:cubicBezTo>
                <a:cubicBezTo>
                  <a:pt x="440" y="0"/>
                  <a:pt x="440" y="0"/>
                  <a:pt x="440" y="0"/>
                </a:cubicBezTo>
                <a:cubicBezTo>
                  <a:pt x="106" y="0"/>
                  <a:pt x="106" y="0"/>
                  <a:pt x="106" y="0"/>
                </a:cubicBezTo>
                <a:cubicBezTo>
                  <a:pt x="0" y="0"/>
                  <a:pt x="0" y="0"/>
                  <a:pt x="0" y="0"/>
                </a:cubicBezTo>
                <a:cubicBezTo>
                  <a:pt x="0" y="163"/>
                  <a:pt x="0" y="163"/>
                  <a:pt x="0" y="163"/>
                </a:cubicBezTo>
                <a:cubicBezTo>
                  <a:pt x="106" y="163"/>
                  <a:pt x="106" y="163"/>
                  <a:pt x="106" y="163"/>
                </a:cubicBezTo>
                <a:cubicBezTo>
                  <a:pt x="440" y="163"/>
                  <a:pt x="440" y="163"/>
                  <a:pt x="440" y="163"/>
                </a:cubicBezTo>
                <a:cubicBezTo>
                  <a:pt x="562" y="163"/>
                  <a:pt x="562" y="163"/>
                  <a:pt x="562" y="163"/>
                </a:cubicBezTo>
                <a:cubicBezTo>
                  <a:pt x="578" y="163"/>
                  <a:pt x="578" y="163"/>
                  <a:pt x="578" y="163"/>
                </a:cubicBezTo>
                <a:cubicBezTo>
                  <a:pt x="1034" y="163"/>
                  <a:pt x="1034" y="163"/>
                  <a:pt x="1034" y="163"/>
                </a:cubicBezTo>
                <a:cubicBezTo>
                  <a:pt x="1036" y="163"/>
                  <a:pt x="1038" y="162"/>
                  <a:pt x="1039" y="161"/>
                </a:cubicBezTo>
                <a:cubicBezTo>
                  <a:pt x="1039" y="160"/>
                  <a:pt x="1040" y="160"/>
                  <a:pt x="1040" y="160"/>
                </a:cubicBezTo>
                <a:cubicBezTo>
                  <a:pt x="1114" y="86"/>
                  <a:pt x="1114" y="86"/>
                  <a:pt x="1114" y="86"/>
                </a:cubicBezTo>
                <a:cubicBezTo>
                  <a:pt x="1117" y="83"/>
                  <a:pt x="1117" y="79"/>
                  <a:pt x="1114" y="7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Slide Number Placeholder 3">
            <a:extLst>
              <a:ext uri="{FF2B5EF4-FFF2-40B4-BE49-F238E27FC236}">
                <a16:creationId xmlns:a16="http://schemas.microsoft.com/office/drawing/2014/main" id="{330FE382-3D86-903F-6453-3F34E7F94BFD}"/>
              </a:ext>
            </a:extLst>
          </p:cNvPr>
          <p:cNvSpPr>
            <a:spLocks noGrp="1"/>
          </p:cNvSpPr>
          <p:nvPr>
            <p:ph type="sldNum" sz="quarter" idx="12"/>
          </p:nvPr>
        </p:nvSpPr>
        <p:spPr>
          <a:xfrm>
            <a:off x="424248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11</a:t>
            </a:fld>
            <a:endParaRPr lang="en-US"/>
          </a:p>
        </p:txBody>
      </p:sp>
      <p:pic>
        <p:nvPicPr>
          <p:cNvPr id="5" name="Picture 4">
            <a:extLst>
              <a:ext uri="{FF2B5EF4-FFF2-40B4-BE49-F238E27FC236}">
                <a16:creationId xmlns:a16="http://schemas.microsoft.com/office/drawing/2014/main" id="{82DB5B29-8721-DECD-338E-62733FCDCB0B}"/>
              </a:ext>
            </a:extLst>
          </p:cNvPr>
          <p:cNvPicPr>
            <a:picLocks noChangeAspect="1"/>
          </p:cNvPicPr>
          <p:nvPr/>
        </p:nvPicPr>
        <p:blipFill>
          <a:blip r:embed="rId4"/>
          <a:stretch>
            <a:fillRect/>
          </a:stretch>
        </p:blipFill>
        <p:spPr>
          <a:xfrm>
            <a:off x="4838132" y="721895"/>
            <a:ext cx="7225260" cy="4188772"/>
          </a:xfrm>
          <a:prstGeom prst="rect">
            <a:avLst/>
          </a:prstGeom>
        </p:spPr>
      </p:pic>
    </p:spTree>
    <p:extLst>
      <p:ext uri="{BB962C8B-B14F-4D97-AF65-F5344CB8AC3E}">
        <p14:creationId xmlns:p14="http://schemas.microsoft.com/office/powerpoint/2010/main" val="3303241810"/>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22"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3"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4"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5"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6"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7"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28"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29"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0"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1"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2"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3"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35" name="Group 34">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36"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37"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38"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39"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40"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41"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42"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43"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44"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45"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46"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47"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49" name="Rectangle 48">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53" name="Rectangle 52">
            <a:extLst>
              <a:ext uri="{FF2B5EF4-FFF2-40B4-BE49-F238E27FC236}">
                <a16:creationId xmlns:a16="http://schemas.microsoft.com/office/drawing/2014/main" id="{A692209D-B607-46C3-8560-07AF722916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4874638-CF15-4908-BC4B-4908744D0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4639734"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2ABAEA4E-D510-B6E7-628B-5F867B63C3EA}"/>
              </a:ext>
            </a:extLst>
          </p:cNvPr>
          <p:cNvSpPr>
            <a:spLocks noGrp="1"/>
          </p:cNvSpPr>
          <p:nvPr>
            <p:ph type="title"/>
          </p:nvPr>
        </p:nvSpPr>
        <p:spPr>
          <a:xfrm>
            <a:off x="540279" y="967417"/>
            <a:ext cx="3778870" cy="3943250"/>
          </a:xfrm>
        </p:spPr>
        <p:txBody>
          <a:bodyPr vert="horz" lIns="91440" tIns="45720" rIns="91440" bIns="45720" rtlCol="0" anchor="b">
            <a:normAutofit/>
          </a:bodyPr>
          <a:lstStyle/>
          <a:p>
            <a:r>
              <a:rPr lang="en-US" sz="4000" b="1">
                <a:solidFill>
                  <a:srgbClr val="FEFFFF"/>
                </a:solidFill>
              </a:rPr>
              <a:t>Feature Correlations with Loan Approval</a:t>
            </a:r>
            <a:br>
              <a:rPr lang="en-US" sz="4000">
                <a:solidFill>
                  <a:srgbClr val="FEFFFF"/>
                </a:solidFill>
              </a:rPr>
            </a:br>
            <a:endParaRPr lang="en-US" sz="4000">
              <a:solidFill>
                <a:srgbClr val="FEFFFF"/>
              </a:solidFill>
            </a:endParaRPr>
          </a:p>
        </p:txBody>
      </p:sp>
      <p:sp>
        <p:nvSpPr>
          <p:cNvPr id="57" name="Freeform 5">
            <a:extLst>
              <a:ext uri="{FF2B5EF4-FFF2-40B4-BE49-F238E27FC236}">
                <a16:creationId xmlns:a16="http://schemas.microsoft.com/office/drawing/2014/main" id="{5F1B8348-CD6E-4561-A704-C232D9A2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5404022" cy="857047"/>
          </a:xfrm>
          <a:custGeom>
            <a:avLst/>
            <a:gdLst>
              <a:gd name="T0" fmla="*/ 1114 w 1117"/>
              <a:gd name="T1" fmla="*/ 77 h 163"/>
              <a:gd name="T2" fmla="*/ 1040 w 1117"/>
              <a:gd name="T3" fmla="*/ 3 h 163"/>
              <a:gd name="T4" fmla="*/ 1039 w 1117"/>
              <a:gd name="T5" fmla="*/ 2 h 163"/>
              <a:gd name="T6" fmla="*/ 1034 w 1117"/>
              <a:gd name="T7" fmla="*/ 0 h 163"/>
              <a:gd name="T8" fmla="*/ 578 w 1117"/>
              <a:gd name="T9" fmla="*/ 0 h 163"/>
              <a:gd name="T10" fmla="*/ 562 w 1117"/>
              <a:gd name="T11" fmla="*/ 0 h 163"/>
              <a:gd name="T12" fmla="*/ 440 w 1117"/>
              <a:gd name="T13" fmla="*/ 0 h 163"/>
              <a:gd name="T14" fmla="*/ 106 w 1117"/>
              <a:gd name="T15" fmla="*/ 0 h 163"/>
              <a:gd name="T16" fmla="*/ 0 w 1117"/>
              <a:gd name="T17" fmla="*/ 0 h 163"/>
              <a:gd name="T18" fmla="*/ 0 w 1117"/>
              <a:gd name="T19" fmla="*/ 163 h 163"/>
              <a:gd name="T20" fmla="*/ 106 w 1117"/>
              <a:gd name="T21" fmla="*/ 163 h 163"/>
              <a:gd name="T22" fmla="*/ 440 w 1117"/>
              <a:gd name="T23" fmla="*/ 163 h 163"/>
              <a:gd name="T24" fmla="*/ 562 w 1117"/>
              <a:gd name="T25" fmla="*/ 163 h 163"/>
              <a:gd name="T26" fmla="*/ 578 w 1117"/>
              <a:gd name="T27" fmla="*/ 163 h 163"/>
              <a:gd name="T28" fmla="*/ 1034 w 1117"/>
              <a:gd name="T29" fmla="*/ 163 h 163"/>
              <a:gd name="T30" fmla="*/ 1039 w 1117"/>
              <a:gd name="T31" fmla="*/ 161 h 163"/>
              <a:gd name="T32" fmla="*/ 1040 w 1117"/>
              <a:gd name="T33" fmla="*/ 160 h 163"/>
              <a:gd name="T34" fmla="*/ 1114 w 1117"/>
              <a:gd name="T35" fmla="*/ 86 h 163"/>
              <a:gd name="T36" fmla="*/ 1114 w 1117"/>
              <a:gd name="T37" fmla="*/ 77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17" h="163">
                <a:moveTo>
                  <a:pt x="1114" y="77"/>
                </a:moveTo>
                <a:cubicBezTo>
                  <a:pt x="1040" y="3"/>
                  <a:pt x="1040" y="3"/>
                  <a:pt x="1040" y="3"/>
                </a:cubicBezTo>
                <a:cubicBezTo>
                  <a:pt x="1040" y="2"/>
                  <a:pt x="1039" y="2"/>
                  <a:pt x="1039" y="2"/>
                </a:cubicBezTo>
                <a:cubicBezTo>
                  <a:pt x="1038" y="1"/>
                  <a:pt x="1036" y="0"/>
                  <a:pt x="1034" y="0"/>
                </a:cubicBezTo>
                <a:cubicBezTo>
                  <a:pt x="578" y="0"/>
                  <a:pt x="578" y="0"/>
                  <a:pt x="578" y="0"/>
                </a:cubicBezTo>
                <a:cubicBezTo>
                  <a:pt x="562" y="0"/>
                  <a:pt x="562" y="0"/>
                  <a:pt x="562" y="0"/>
                </a:cubicBezTo>
                <a:cubicBezTo>
                  <a:pt x="440" y="0"/>
                  <a:pt x="440" y="0"/>
                  <a:pt x="440" y="0"/>
                </a:cubicBezTo>
                <a:cubicBezTo>
                  <a:pt x="106" y="0"/>
                  <a:pt x="106" y="0"/>
                  <a:pt x="106" y="0"/>
                </a:cubicBezTo>
                <a:cubicBezTo>
                  <a:pt x="0" y="0"/>
                  <a:pt x="0" y="0"/>
                  <a:pt x="0" y="0"/>
                </a:cubicBezTo>
                <a:cubicBezTo>
                  <a:pt x="0" y="163"/>
                  <a:pt x="0" y="163"/>
                  <a:pt x="0" y="163"/>
                </a:cubicBezTo>
                <a:cubicBezTo>
                  <a:pt x="106" y="163"/>
                  <a:pt x="106" y="163"/>
                  <a:pt x="106" y="163"/>
                </a:cubicBezTo>
                <a:cubicBezTo>
                  <a:pt x="440" y="163"/>
                  <a:pt x="440" y="163"/>
                  <a:pt x="440" y="163"/>
                </a:cubicBezTo>
                <a:cubicBezTo>
                  <a:pt x="562" y="163"/>
                  <a:pt x="562" y="163"/>
                  <a:pt x="562" y="163"/>
                </a:cubicBezTo>
                <a:cubicBezTo>
                  <a:pt x="578" y="163"/>
                  <a:pt x="578" y="163"/>
                  <a:pt x="578" y="163"/>
                </a:cubicBezTo>
                <a:cubicBezTo>
                  <a:pt x="1034" y="163"/>
                  <a:pt x="1034" y="163"/>
                  <a:pt x="1034" y="163"/>
                </a:cubicBezTo>
                <a:cubicBezTo>
                  <a:pt x="1036" y="163"/>
                  <a:pt x="1038" y="162"/>
                  <a:pt x="1039" y="161"/>
                </a:cubicBezTo>
                <a:cubicBezTo>
                  <a:pt x="1039" y="160"/>
                  <a:pt x="1040" y="160"/>
                  <a:pt x="1040" y="160"/>
                </a:cubicBezTo>
                <a:cubicBezTo>
                  <a:pt x="1114" y="86"/>
                  <a:pt x="1114" y="86"/>
                  <a:pt x="1114" y="86"/>
                </a:cubicBezTo>
                <a:cubicBezTo>
                  <a:pt x="1117" y="83"/>
                  <a:pt x="1117" y="79"/>
                  <a:pt x="1114" y="7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Slide Number Placeholder 3">
            <a:extLst>
              <a:ext uri="{FF2B5EF4-FFF2-40B4-BE49-F238E27FC236}">
                <a16:creationId xmlns:a16="http://schemas.microsoft.com/office/drawing/2014/main" id="{00420817-D46F-1667-32EF-6151A8177B19}"/>
              </a:ext>
            </a:extLst>
          </p:cNvPr>
          <p:cNvSpPr>
            <a:spLocks noGrp="1"/>
          </p:cNvSpPr>
          <p:nvPr>
            <p:ph type="sldNum" sz="quarter" idx="12"/>
          </p:nvPr>
        </p:nvSpPr>
        <p:spPr>
          <a:xfrm>
            <a:off x="424248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12</a:t>
            </a:fld>
            <a:endParaRPr lang="en-US"/>
          </a:p>
        </p:txBody>
      </p:sp>
      <p:pic>
        <p:nvPicPr>
          <p:cNvPr id="5" name="Content Placeholder 4">
            <a:extLst>
              <a:ext uri="{FF2B5EF4-FFF2-40B4-BE49-F238E27FC236}">
                <a16:creationId xmlns:a16="http://schemas.microsoft.com/office/drawing/2014/main" id="{EF663612-3957-1BB1-8CCE-90C08B9F4ACE}"/>
              </a:ext>
            </a:extLst>
          </p:cNvPr>
          <p:cNvPicPr>
            <a:picLocks noChangeAspect="1"/>
          </p:cNvPicPr>
          <p:nvPr/>
        </p:nvPicPr>
        <p:blipFill>
          <a:blip r:embed="rId4"/>
          <a:stretch>
            <a:fillRect/>
          </a:stretch>
        </p:blipFill>
        <p:spPr>
          <a:xfrm>
            <a:off x="4772799" y="467833"/>
            <a:ext cx="7391977" cy="4565174"/>
          </a:xfrm>
          <a:prstGeom prst="rect">
            <a:avLst/>
          </a:prstGeom>
        </p:spPr>
      </p:pic>
    </p:spTree>
    <p:extLst>
      <p:ext uri="{BB962C8B-B14F-4D97-AF65-F5344CB8AC3E}">
        <p14:creationId xmlns:p14="http://schemas.microsoft.com/office/powerpoint/2010/main" val="1238307796"/>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satMod val="92000"/>
                <a:lumMod val="120000"/>
              </a:schemeClr>
            </a:gs>
            <a:gs pos="100000">
              <a:schemeClr val="bg2">
                <a:shade val="98000"/>
                <a:satMod val="120000"/>
                <a:lumMod val="98000"/>
              </a:schemeClr>
            </a:gs>
          </a:gsLst>
          <a:path path="circle">
            <a:fillToRect l="50000" t="50000" r="100000" b="100000"/>
          </a:path>
        </a:gra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66BF9EE-F7AC-4FA5-AC7E-001B3A642F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 y="228600"/>
            <a:ext cx="2851523" cy="6638625"/>
            <a:chOff x="2487613" y="285750"/>
            <a:chExt cx="2428875" cy="5654676"/>
          </a:xfrm>
        </p:grpSpPr>
        <p:sp>
          <p:nvSpPr>
            <p:cNvPr id="22" name="Freeform 11">
              <a:extLst>
                <a:ext uri="{FF2B5EF4-FFF2-40B4-BE49-F238E27FC236}">
                  <a16:creationId xmlns:a16="http://schemas.microsoft.com/office/drawing/2014/main" id="{3B48D182-44E3-4D8B-ACEF-F1A900BE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3" name="Freeform 12">
              <a:extLst>
                <a:ext uri="{FF2B5EF4-FFF2-40B4-BE49-F238E27FC236}">
                  <a16:creationId xmlns:a16="http://schemas.microsoft.com/office/drawing/2014/main" id="{355A535A-A489-477F-A314-593AA8CAFB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4" name="Freeform 13">
              <a:extLst>
                <a:ext uri="{FF2B5EF4-FFF2-40B4-BE49-F238E27FC236}">
                  <a16:creationId xmlns:a16="http://schemas.microsoft.com/office/drawing/2014/main" id="{954C2D4C-FD83-4EF4-9312-04442ABD6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5" name="Freeform 14">
              <a:extLst>
                <a:ext uri="{FF2B5EF4-FFF2-40B4-BE49-F238E27FC236}">
                  <a16:creationId xmlns:a16="http://schemas.microsoft.com/office/drawing/2014/main" id="{C20701C2-CD9A-4698-BC97-E1085820C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6" name="Freeform 15">
              <a:extLst>
                <a:ext uri="{FF2B5EF4-FFF2-40B4-BE49-F238E27FC236}">
                  <a16:creationId xmlns:a16="http://schemas.microsoft.com/office/drawing/2014/main" id="{62575C35-466F-42AE-87A1-D691849AB8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7" name="Freeform 16">
              <a:extLst>
                <a:ext uri="{FF2B5EF4-FFF2-40B4-BE49-F238E27FC236}">
                  <a16:creationId xmlns:a16="http://schemas.microsoft.com/office/drawing/2014/main" id="{58236F37-6119-45AC-80A0-CD2C311B50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28" name="Freeform 17">
              <a:extLst>
                <a:ext uri="{FF2B5EF4-FFF2-40B4-BE49-F238E27FC236}">
                  <a16:creationId xmlns:a16="http://schemas.microsoft.com/office/drawing/2014/main" id="{F3FDD799-39FE-4D6F-9A64-2F472B2150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29" name="Freeform 18">
              <a:extLst>
                <a:ext uri="{FF2B5EF4-FFF2-40B4-BE49-F238E27FC236}">
                  <a16:creationId xmlns:a16="http://schemas.microsoft.com/office/drawing/2014/main" id="{9820D241-1D49-442C-A95A-00BC1BF9E2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0" name="Freeform 19">
              <a:extLst>
                <a:ext uri="{FF2B5EF4-FFF2-40B4-BE49-F238E27FC236}">
                  <a16:creationId xmlns:a16="http://schemas.microsoft.com/office/drawing/2014/main" id="{EBC2197C-B383-4866-8ABD-74222400BE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1" name="Freeform 20">
              <a:extLst>
                <a:ext uri="{FF2B5EF4-FFF2-40B4-BE49-F238E27FC236}">
                  <a16:creationId xmlns:a16="http://schemas.microsoft.com/office/drawing/2014/main" id="{404B06AA-FC93-4471-9DE4-56A401E70A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2" name="Freeform 21">
              <a:extLst>
                <a:ext uri="{FF2B5EF4-FFF2-40B4-BE49-F238E27FC236}">
                  <a16:creationId xmlns:a16="http://schemas.microsoft.com/office/drawing/2014/main" id="{E580600C-013F-4FAF-8FB7-4CC0FA80A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3" name="Freeform 22">
              <a:extLst>
                <a:ext uri="{FF2B5EF4-FFF2-40B4-BE49-F238E27FC236}">
                  <a16:creationId xmlns:a16="http://schemas.microsoft.com/office/drawing/2014/main" id="{9BFCF199-64B2-4AEE-88C4-E954ABF362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35" name="Group 34">
            <a:extLst>
              <a:ext uri="{FF2B5EF4-FFF2-40B4-BE49-F238E27FC236}">
                <a16:creationId xmlns:a16="http://schemas.microsoft.com/office/drawing/2014/main" id="{E312DBA5-56D8-42B2-BA94-28168C2A67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7224" y="-786"/>
            <a:ext cx="2356675" cy="6854040"/>
            <a:chOff x="6627813" y="194833"/>
            <a:chExt cx="1952625" cy="5678918"/>
          </a:xfrm>
        </p:grpSpPr>
        <p:sp>
          <p:nvSpPr>
            <p:cNvPr id="36" name="Freeform 27">
              <a:extLst>
                <a:ext uri="{FF2B5EF4-FFF2-40B4-BE49-F238E27FC236}">
                  <a16:creationId xmlns:a16="http://schemas.microsoft.com/office/drawing/2014/main" id="{7AD46C74-3117-46B0-B267-0F61B57CA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37" name="Freeform 28">
              <a:extLst>
                <a:ext uri="{FF2B5EF4-FFF2-40B4-BE49-F238E27FC236}">
                  <a16:creationId xmlns:a16="http://schemas.microsoft.com/office/drawing/2014/main" id="{8C13B810-9664-45D8-8510-D6ED0ADD7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38" name="Freeform 29">
              <a:extLst>
                <a:ext uri="{FF2B5EF4-FFF2-40B4-BE49-F238E27FC236}">
                  <a16:creationId xmlns:a16="http://schemas.microsoft.com/office/drawing/2014/main" id="{10306E52-A922-4458-BCCE-C3C840CC75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39" name="Freeform 30">
              <a:extLst>
                <a:ext uri="{FF2B5EF4-FFF2-40B4-BE49-F238E27FC236}">
                  <a16:creationId xmlns:a16="http://schemas.microsoft.com/office/drawing/2014/main" id="{CB578819-B7E7-4250-932F-52AE2A2A9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40" name="Freeform 31">
              <a:extLst>
                <a:ext uri="{FF2B5EF4-FFF2-40B4-BE49-F238E27FC236}">
                  <a16:creationId xmlns:a16="http://schemas.microsoft.com/office/drawing/2014/main" id="{454B9C91-B623-424A-B16E-F764F189D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41" name="Freeform 32">
              <a:extLst>
                <a:ext uri="{FF2B5EF4-FFF2-40B4-BE49-F238E27FC236}">
                  <a16:creationId xmlns:a16="http://schemas.microsoft.com/office/drawing/2014/main" id="{EFD03C4A-8484-41E6-B458-032F1DCA7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42" name="Freeform 33">
              <a:extLst>
                <a:ext uri="{FF2B5EF4-FFF2-40B4-BE49-F238E27FC236}">
                  <a16:creationId xmlns:a16="http://schemas.microsoft.com/office/drawing/2014/main" id="{DDC2F3C3-1D4E-4913-9C5C-F9A65B47E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43" name="Freeform 34">
              <a:extLst>
                <a:ext uri="{FF2B5EF4-FFF2-40B4-BE49-F238E27FC236}">
                  <a16:creationId xmlns:a16="http://schemas.microsoft.com/office/drawing/2014/main" id="{1E15BCA2-2420-4C53-ADE9-40FBAC238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44" name="Freeform 35">
              <a:extLst>
                <a:ext uri="{FF2B5EF4-FFF2-40B4-BE49-F238E27FC236}">
                  <a16:creationId xmlns:a16="http://schemas.microsoft.com/office/drawing/2014/main" id="{73D5FBF4-7129-4C51-B603-E3BC334195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45" name="Freeform 36">
              <a:extLst>
                <a:ext uri="{FF2B5EF4-FFF2-40B4-BE49-F238E27FC236}">
                  <a16:creationId xmlns:a16="http://schemas.microsoft.com/office/drawing/2014/main" id="{0165B164-CE2A-494C-88FC-507232B37C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46" name="Freeform 37">
              <a:extLst>
                <a:ext uri="{FF2B5EF4-FFF2-40B4-BE49-F238E27FC236}">
                  <a16:creationId xmlns:a16="http://schemas.microsoft.com/office/drawing/2014/main" id="{87F127E5-B10B-4D18-BCF0-E7C3C7F40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47" name="Freeform 38">
              <a:extLst>
                <a:ext uri="{FF2B5EF4-FFF2-40B4-BE49-F238E27FC236}">
                  <a16:creationId xmlns:a16="http://schemas.microsoft.com/office/drawing/2014/main" id="{FC692D59-F28D-4E42-B435-225F2C6CF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49" name="Rectangle 48">
            <a:extLst>
              <a:ext uri="{FF2B5EF4-FFF2-40B4-BE49-F238E27FC236}">
                <a16:creationId xmlns:a16="http://schemas.microsoft.com/office/drawing/2014/main" id="{1996130F-9AB5-4DE9-8574-3AF891C5C1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1" name="Freeform 6">
            <a:extLst>
              <a:ext uri="{FF2B5EF4-FFF2-40B4-BE49-F238E27FC236}">
                <a16:creationId xmlns:a16="http://schemas.microsoft.com/office/drawing/2014/main" id="{3623DEAC-F39C-45D6-86DC-1033F64295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useBgFill="1">
        <p:nvSpPr>
          <p:cNvPr id="53" name="Rectangle 52">
            <a:extLst>
              <a:ext uri="{FF2B5EF4-FFF2-40B4-BE49-F238E27FC236}">
                <a16:creationId xmlns:a16="http://schemas.microsoft.com/office/drawing/2014/main" id="{A692209D-B607-46C3-8560-07AF722916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86"/>
            <a:ext cx="12192000" cy="68540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94874638-CF15-4908-BC4B-4908744D0B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4639734" cy="6858000"/>
          </a:xfrm>
          <a:prstGeom prst="rect">
            <a:avLst/>
          </a:prstGeom>
          <a:solidFill>
            <a:schemeClr val="tx2">
              <a:lumMod val="50000"/>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15DD3C56-23DF-C9B4-C56A-028BCBB84592}"/>
              </a:ext>
            </a:extLst>
          </p:cNvPr>
          <p:cNvSpPr>
            <a:spLocks noGrp="1"/>
          </p:cNvSpPr>
          <p:nvPr>
            <p:ph type="title"/>
          </p:nvPr>
        </p:nvSpPr>
        <p:spPr>
          <a:xfrm>
            <a:off x="540279" y="967417"/>
            <a:ext cx="3778870" cy="3943250"/>
          </a:xfrm>
        </p:spPr>
        <p:txBody>
          <a:bodyPr vert="horz" lIns="91440" tIns="45720" rIns="91440" bIns="45720" rtlCol="0" anchor="b">
            <a:normAutofit/>
          </a:bodyPr>
          <a:lstStyle/>
          <a:p>
            <a:r>
              <a:rPr lang="en-US" sz="4000" b="1">
                <a:solidFill>
                  <a:srgbClr val="FEFFFF"/>
                </a:solidFill>
              </a:rPr>
              <a:t>Key Findings &amp; Conclusion</a:t>
            </a:r>
            <a:br>
              <a:rPr lang="en-US" sz="4000">
                <a:solidFill>
                  <a:srgbClr val="FEFFFF"/>
                </a:solidFill>
              </a:rPr>
            </a:br>
            <a:endParaRPr lang="en-US" sz="4000">
              <a:solidFill>
                <a:srgbClr val="FEFFFF"/>
              </a:solidFill>
            </a:endParaRPr>
          </a:p>
        </p:txBody>
      </p:sp>
      <p:sp>
        <p:nvSpPr>
          <p:cNvPr id="57" name="Freeform 5">
            <a:extLst>
              <a:ext uri="{FF2B5EF4-FFF2-40B4-BE49-F238E27FC236}">
                <a16:creationId xmlns:a16="http://schemas.microsoft.com/office/drawing/2014/main" id="{5F1B8348-CD6E-4561-A704-C232D9A267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5033007"/>
            <a:ext cx="5404022" cy="857047"/>
          </a:xfrm>
          <a:custGeom>
            <a:avLst/>
            <a:gdLst>
              <a:gd name="T0" fmla="*/ 1114 w 1117"/>
              <a:gd name="T1" fmla="*/ 77 h 163"/>
              <a:gd name="T2" fmla="*/ 1040 w 1117"/>
              <a:gd name="T3" fmla="*/ 3 h 163"/>
              <a:gd name="T4" fmla="*/ 1039 w 1117"/>
              <a:gd name="T5" fmla="*/ 2 h 163"/>
              <a:gd name="T6" fmla="*/ 1034 w 1117"/>
              <a:gd name="T7" fmla="*/ 0 h 163"/>
              <a:gd name="T8" fmla="*/ 578 w 1117"/>
              <a:gd name="T9" fmla="*/ 0 h 163"/>
              <a:gd name="T10" fmla="*/ 562 w 1117"/>
              <a:gd name="T11" fmla="*/ 0 h 163"/>
              <a:gd name="T12" fmla="*/ 440 w 1117"/>
              <a:gd name="T13" fmla="*/ 0 h 163"/>
              <a:gd name="T14" fmla="*/ 106 w 1117"/>
              <a:gd name="T15" fmla="*/ 0 h 163"/>
              <a:gd name="T16" fmla="*/ 0 w 1117"/>
              <a:gd name="T17" fmla="*/ 0 h 163"/>
              <a:gd name="T18" fmla="*/ 0 w 1117"/>
              <a:gd name="T19" fmla="*/ 163 h 163"/>
              <a:gd name="T20" fmla="*/ 106 w 1117"/>
              <a:gd name="T21" fmla="*/ 163 h 163"/>
              <a:gd name="T22" fmla="*/ 440 w 1117"/>
              <a:gd name="T23" fmla="*/ 163 h 163"/>
              <a:gd name="T24" fmla="*/ 562 w 1117"/>
              <a:gd name="T25" fmla="*/ 163 h 163"/>
              <a:gd name="T26" fmla="*/ 578 w 1117"/>
              <a:gd name="T27" fmla="*/ 163 h 163"/>
              <a:gd name="T28" fmla="*/ 1034 w 1117"/>
              <a:gd name="T29" fmla="*/ 163 h 163"/>
              <a:gd name="T30" fmla="*/ 1039 w 1117"/>
              <a:gd name="T31" fmla="*/ 161 h 163"/>
              <a:gd name="T32" fmla="*/ 1040 w 1117"/>
              <a:gd name="T33" fmla="*/ 160 h 163"/>
              <a:gd name="T34" fmla="*/ 1114 w 1117"/>
              <a:gd name="T35" fmla="*/ 86 h 163"/>
              <a:gd name="T36" fmla="*/ 1114 w 1117"/>
              <a:gd name="T37" fmla="*/ 77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17" h="163">
                <a:moveTo>
                  <a:pt x="1114" y="77"/>
                </a:moveTo>
                <a:cubicBezTo>
                  <a:pt x="1040" y="3"/>
                  <a:pt x="1040" y="3"/>
                  <a:pt x="1040" y="3"/>
                </a:cubicBezTo>
                <a:cubicBezTo>
                  <a:pt x="1040" y="2"/>
                  <a:pt x="1039" y="2"/>
                  <a:pt x="1039" y="2"/>
                </a:cubicBezTo>
                <a:cubicBezTo>
                  <a:pt x="1038" y="1"/>
                  <a:pt x="1036" y="0"/>
                  <a:pt x="1034" y="0"/>
                </a:cubicBezTo>
                <a:cubicBezTo>
                  <a:pt x="578" y="0"/>
                  <a:pt x="578" y="0"/>
                  <a:pt x="578" y="0"/>
                </a:cubicBezTo>
                <a:cubicBezTo>
                  <a:pt x="562" y="0"/>
                  <a:pt x="562" y="0"/>
                  <a:pt x="562" y="0"/>
                </a:cubicBezTo>
                <a:cubicBezTo>
                  <a:pt x="440" y="0"/>
                  <a:pt x="440" y="0"/>
                  <a:pt x="440" y="0"/>
                </a:cubicBezTo>
                <a:cubicBezTo>
                  <a:pt x="106" y="0"/>
                  <a:pt x="106" y="0"/>
                  <a:pt x="106" y="0"/>
                </a:cubicBezTo>
                <a:cubicBezTo>
                  <a:pt x="0" y="0"/>
                  <a:pt x="0" y="0"/>
                  <a:pt x="0" y="0"/>
                </a:cubicBezTo>
                <a:cubicBezTo>
                  <a:pt x="0" y="163"/>
                  <a:pt x="0" y="163"/>
                  <a:pt x="0" y="163"/>
                </a:cubicBezTo>
                <a:cubicBezTo>
                  <a:pt x="106" y="163"/>
                  <a:pt x="106" y="163"/>
                  <a:pt x="106" y="163"/>
                </a:cubicBezTo>
                <a:cubicBezTo>
                  <a:pt x="440" y="163"/>
                  <a:pt x="440" y="163"/>
                  <a:pt x="440" y="163"/>
                </a:cubicBezTo>
                <a:cubicBezTo>
                  <a:pt x="562" y="163"/>
                  <a:pt x="562" y="163"/>
                  <a:pt x="562" y="163"/>
                </a:cubicBezTo>
                <a:cubicBezTo>
                  <a:pt x="578" y="163"/>
                  <a:pt x="578" y="163"/>
                  <a:pt x="578" y="163"/>
                </a:cubicBezTo>
                <a:cubicBezTo>
                  <a:pt x="1034" y="163"/>
                  <a:pt x="1034" y="163"/>
                  <a:pt x="1034" y="163"/>
                </a:cubicBezTo>
                <a:cubicBezTo>
                  <a:pt x="1036" y="163"/>
                  <a:pt x="1038" y="162"/>
                  <a:pt x="1039" y="161"/>
                </a:cubicBezTo>
                <a:cubicBezTo>
                  <a:pt x="1039" y="160"/>
                  <a:pt x="1040" y="160"/>
                  <a:pt x="1040" y="160"/>
                </a:cubicBezTo>
                <a:cubicBezTo>
                  <a:pt x="1114" y="86"/>
                  <a:pt x="1114" y="86"/>
                  <a:pt x="1114" y="86"/>
                </a:cubicBezTo>
                <a:cubicBezTo>
                  <a:pt x="1117" y="83"/>
                  <a:pt x="1117" y="79"/>
                  <a:pt x="1114" y="77"/>
                </a:cubicBez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4" name="Slide Number Placeholder 3">
            <a:extLst>
              <a:ext uri="{FF2B5EF4-FFF2-40B4-BE49-F238E27FC236}">
                <a16:creationId xmlns:a16="http://schemas.microsoft.com/office/drawing/2014/main" id="{7ABE448E-EDAF-8ED9-B113-54D52AFC7621}"/>
              </a:ext>
            </a:extLst>
          </p:cNvPr>
          <p:cNvSpPr>
            <a:spLocks noGrp="1"/>
          </p:cNvSpPr>
          <p:nvPr>
            <p:ph type="sldNum" sz="quarter" idx="12"/>
          </p:nvPr>
        </p:nvSpPr>
        <p:spPr>
          <a:xfrm>
            <a:off x="4242486" y="5202719"/>
            <a:ext cx="650510" cy="517624"/>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13</a:t>
            </a:fld>
            <a:endParaRPr lang="en-US"/>
          </a:p>
        </p:txBody>
      </p:sp>
      <p:pic>
        <p:nvPicPr>
          <p:cNvPr id="6" name="Picture 5">
            <a:extLst>
              <a:ext uri="{FF2B5EF4-FFF2-40B4-BE49-F238E27FC236}">
                <a16:creationId xmlns:a16="http://schemas.microsoft.com/office/drawing/2014/main" id="{54CF5353-6E8A-4BE7-5572-D93767532F65}"/>
              </a:ext>
            </a:extLst>
          </p:cNvPr>
          <p:cNvPicPr>
            <a:picLocks noChangeAspect="1"/>
          </p:cNvPicPr>
          <p:nvPr/>
        </p:nvPicPr>
        <p:blipFill>
          <a:blip r:embed="rId4"/>
          <a:stretch>
            <a:fillRect/>
          </a:stretch>
        </p:blipFill>
        <p:spPr>
          <a:xfrm>
            <a:off x="4924756" y="368968"/>
            <a:ext cx="6930360" cy="4431504"/>
          </a:xfrm>
          <a:prstGeom prst="rect">
            <a:avLst/>
          </a:prstGeom>
        </p:spPr>
      </p:pic>
    </p:spTree>
    <p:extLst>
      <p:ext uri="{BB962C8B-B14F-4D97-AF65-F5344CB8AC3E}">
        <p14:creationId xmlns:p14="http://schemas.microsoft.com/office/powerpoint/2010/main" val="1350580886"/>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5" name="arrow.wav"/>
          </p:stSnd>
        </p:sndAc>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A7E76-5848-E29E-175E-055E22F1B7D9}"/>
              </a:ext>
            </a:extLst>
          </p:cNvPr>
          <p:cNvSpPr>
            <a:spLocks noGrp="1"/>
          </p:cNvSpPr>
          <p:nvPr>
            <p:ph type="title"/>
          </p:nvPr>
        </p:nvSpPr>
        <p:spPr>
          <a:xfrm>
            <a:off x="1813158" y="258985"/>
            <a:ext cx="8911687" cy="1280890"/>
          </a:xfrm>
        </p:spPr>
        <p:txBody>
          <a:bodyPr/>
          <a:lstStyle/>
          <a:p>
            <a:r>
              <a:rPr lang="en-US" dirty="0"/>
              <a:t>References</a:t>
            </a:r>
          </a:p>
        </p:txBody>
      </p:sp>
      <p:graphicFrame>
        <p:nvGraphicFramePr>
          <p:cNvPr id="6" name="Content Placeholder 2">
            <a:extLst>
              <a:ext uri="{FF2B5EF4-FFF2-40B4-BE49-F238E27FC236}">
                <a16:creationId xmlns:a16="http://schemas.microsoft.com/office/drawing/2014/main" id="{30DB7855-A2F9-436E-1465-02139F6ED311}"/>
              </a:ext>
            </a:extLst>
          </p:cNvPr>
          <p:cNvGraphicFramePr>
            <a:graphicFrameLocks noGrp="1"/>
          </p:cNvGraphicFramePr>
          <p:nvPr>
            <p:ph idx="1"/>
          </p:nvPr>
        </p:nvGraphicFramePr>
        <p:xfrm>
          <a:off x="1026695" y="1363578"/>
          <a:ext cx="10716126" cy="487031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Slide Number Placeholder 3">
            <a:extLst>
              <a:ext uri="{FF2B5EF4-FFF2-40B4-BE49-F238E27FC236}">
                <a16:creationId xmlns:a16="http://schemas.microsoft.com/office/drawing/2014/main" id="{7AA1B458-93CC-D84E-B350-292C04C3C6F2}"/>
              </a:ext>
            </a:extLst>
          </p:cNvPr>
          <p:cNvSpPr>
            <a:spLocks noGrp="1"/>
          </p:cNvSpPr>
          <p:nvPr>
            <p:ph type="sldNum" sz="quarter" idx="12"/>
          </p:nvPr>
        </p:nvSpPr>
        <p:spPr/>
        <p:txBody>
          <a:bodyPr/>
          <a:lstStyle/>
          <a:p>
            <a:fld id="{D57F1E4F-1CFF-5643-939E-217C01CDF565}" type="slidenum">
              <a:rPr lang="en-US" smtClean="0"/>
              <a:pPr/>
              <a:t>14</a:t>
            </a:fld>
            <a:endParaRPr lang="en-US" dirty="0"/>
          </a:p>
        </p:txBody>
      </p:sp>
    </p:spTree>
    <p:extLst>
      <p:ext uri="{BB962C8B-B14F-4D97-AF65-F5344CB8AC3E}">
        <p14:creationId xmlns:p14="http://schemas.microsoft.com/office/powerpoint/2010/main" val="3708557141"/>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9" name="arrow.wav"/>
          </p:stSnd>
        </p:sndAc>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BAFB5-07AC-70EA-10B0-EC946764A674}"/>
              </a:ext>
            </a:extLst>
          </p:cNvPr>
          <p:cNvSpPr>
            <a:spLocks noGrp="1"/>
          </p:cNvSpPr>
          <p:nvPr>
            <p:ph type="title"/>
          </p:nvPr>
        </p:nvSpPr>
        <p:spPr>
          <a:xfrm>
            <a:off x="1799548" y="2788555"/>
            <a:ext cx="8911687" cy="1280890"/>
          </a:xfrm>
        </p:spPr>
        <p:txBody>
          <a:bodyPr/>
          <a:lstStyle/>
          <a:p>
            <a:pPr algn="ctr"/>
            <a:r>
              <a:rPr lang="en-US" dirty="0"/>
              <a:t>Thank You</a:t>
            </a:r>
          </a:p>
        </p:txBody>
      </p:sp>
      <p:sp>
        <p:nvSpPr>
          <p:cNvPr id="3" name="Slide Number Placeholder 2">
            <a:extLst>
              <a:ext uri="{FF2B5EF4-FFF2-40B4-BE49-F238E27FC236}">
                <a16:creationId xmlns:a16="http://schemas.microsoft.com/office/drawing/2014/main" id="{1DA9FADE-D858-C07A-A04E-495B85A062B0}"/>
              </a:ext>
            </a:extLst>
          </p:cNvPr>
          <p:cNvSpPr>
            <a:spLocks noGrp="1"/>
          </p:cNvSpPr>
          <p:nvPr>
            <p:ph type="sldNum" sz="quarter" idx="12"/>
          </p:nvPr>
        </p:nvSpPr>
        <p:spPr/>
        <p:txBody>
          <a:bodyPr/>
          <a:lstStyle/>
          <a:p>
            <a:fld id="{D57F1E4F-1CFF-5643-939E-217C01CDF565}" type="slidenum">
              <a:rPr lang="en-US" smtClean="0"/>
              <a:pPr/>
              <a:t>15</a:t>
            </a:fld>
            <a:endParaRPr lang="en-US" dirty="0"/>
          </a:p>
        </p:txBody>
      </p:sp>
    </p:spTree>
    <p:extLst>
      <p:ext uri="{BB962C8B-B14F-4D97-AF65-F5344CB8AC3E}">
        <p14:creationId xmlns:p14="http://schemas.microsoft.com/office/powerpoint/2010/main" val="1883918654"/>
      </p:ext>
    </p:extLst>
  </p:cSld>
  <p:clrMapOvr>
    <a:masterClrMapping/>
  </p:clrMapOvr>
  <mc:AlternateContent xmlns:mc="http://schemas.openxmlformats.org/markup-compatibility/2006" xmlns:p14="http://schemas.microsoft.com/office/powerpoint/2010/main">
    <mc:Choice Requires="p14">
      <p:transition p14:dur="50" advClick="0" advTm="2000">
        <p:sndAc>
          <p:stSnd>
            <p:snd r:embed="rId3" name="arrow.wav"/>
          </p:stSnd>
        </p:sndAc>
      </p:transition>
    </mc:Choice>
    <mc:Fallback xmlns="">
      <p:transition advClick="0" advTm="2000">
        <p:sndAc>
          <p:stSnd>
            <p:snd r:embed="rId4" name="arrow.wav"/>
          </p:stSnd>
        </p:sndAc>
      </p:transition>
    </mc:Fallback>
  </mc:AlternateContent>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11921</TotalTime>
  <Words>2185</Words>
  <Application>Microsoft Macintosh PowerPoint</Application>
  <PresentationFormat>Widescreen</PresentationFormat>
  <Paragraphs>186</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Calibri</vt:lpstr>
      <vt:lpstr>Century Gothic</vt:lpstr>
      <vt:lpstr>Times New Roman</vt:lpstr>
      <vt:lpstr>Wingdings 3</vt:lpstr>
      <vt:lpstr>Wisp</vt:lpstr>
      <vt:lpstr>PowerPoint Presentation</vt:lpstr>
      <vt:lpstr>Notebook Structure &amp; Analysis Sections </vt:lpstr>
      <vt:lpstr>Research Questions  Core Question: Can we predict loan approval using applicant demographics and financial data? </vt:lpstr>
      <vt:lpstr>The Loan Approval Problem The Challenge</vt:lpstr>
      <vt:lpstr>Methodology &amp; Approach </vt:lpstr>
      <vt:lpstr>Basic Overview — Missing Values </vt:lpstr>
      <vt:lpstr>Basic Overview — Loan Status Distribution</vt:lpstr>
      <vt:lpstr>Approval Rate by Key  Categories</vt:lpstr>
      <vt:lpstr>Approval Rates by Category — Summary </vt:lpstr>
      <vt:lpstr>Credit History — Dominant Predictor </vt:lpstr>
      <vt:lpstr>Income, Loan Amount &amp; Loan Term Patterns </vt:lpstr>
      <vt:lpstr>Feature Correlations with Loan Approval </vt:lpstr>
      <vt:lpstr>Key Findings &amp; Conclusion </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Ghatani, Prakash</dc:creator>
  <cp:lastModifiedBy>Ghatani, Prakash</cp:lastModifiedBy>
  <cp:revision>149</cp:revision>
  <dcterms:created xsi:type="dcterms:W3CDTF">2026-01-18T03:10:55Z</dcterms:created>
  <dcterms:modified xsi:type="dcterms:W3CDTF">2026-05-14T22:48:57Z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2026-01-18T03:26:15Z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bcfb6070-7975-43a7-b4eb-452080e4cefa</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